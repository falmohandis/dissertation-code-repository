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4" r:id="rId3"/>
    <p:sldId id="258" r:id="rId4"/>
    <p:sldId id="260" r:id="rId5"/>
    <p:sldId id="259" r:id="rId6"/>
    <p:sldId id="263"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EF7F0E-6016-F2DA-2006-CC8E15CD2C42}" name="Antonio Renaldo" initials="AR" userId="RvRPJKimqRgbh1APNI0sffYxWfAHaFN0B8a6AIerq9A=" providerId="None"/>
  <p188:author id="{7E532144-E669-783E-891D-C6DC41113ACF}" name="Elaheh Rahbar" initials="ER" userId="S::erahbar@vt.edu::6523711a-4c81-4bfb-8a9d-5f34735535d4" providerId="AD"/>
  <p188:author id="{3FDCF2CE-0CB8-C5B6-B7BB-E7B937EB1E47}" name="Fahim Mobin" initials="FM" userId="+celhw5mFnWnq8l6+7U4WCVL89IHeznU0TrxDPIn8RA=" providerId="None"/>
  <p188:author id="{1C2A5CEC-AE74-510E-3FBB-925866B4006A}" name="Fahim Mobin" initials="FM" userId="7b87623db71867c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5"/>
    <p:restoredTop sz="93169" autoAdjust="0"/>
  </p:normalViewPr>
  <p:slideViewPr>
    <p:cSldViewPr snapToGrid="0">
      <p:cViewPr>
        <p:scale>
          <a:sx n="90" d="100"/>
          <a:sy n="90" d="100"/>
        </p:scale>
        <p:origin x="936" y="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4BA7D5-9E4F-44CC-A5B3-DB5C9FBBD6CA}" type="doc">
      <dgm:prSet loTypeId="urn:microsoft.com/office/officeart/2005/8/layout/chevron1" loCatId="process" qsTypeId="urn:microsoft.com/office/officeart/2005/8/quickstyle/simple1" qsCatId="simple" csTypeId="urn:microsoft.com/office/officeart/2005/8/colors/colorful5" csCatId="colorful" phldr="1"/>
      <dgm:spPr/>
      <dgm:t>
        <a:bodyPr/>
        <a:lstStyle/>
        <a:p>
          <a:endParaRPr lang="en-US"/>
        </a:p>
      </dgm:t>
    </dgm:pt>
    <dgm:pt modelId="{3B24616C-53ED-411C-BCC0-15F6C22E2A68}">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T0 </a:t>
          </a:r>
        </a:p>
        <a:p>
          <a:r>
            <a:rPr lang="en-US" sz="1400" dirty="0">
              <a:solidFill>
                <a:schemeClr val="tx1"/>
              </a:solidFill>
              <a:latin typeface="Arial" panose="020B0604020202020204" pitchFamily="34" charset="0"/>
              <a:cs typeface="Arial" panose="020B0604020202020204" pitchFamily="34" charset="0"/>
            </a:rPr>
            <a:t>Baseline</a:t>
          </a:r>
        </a:p>
      </dgm:t>
    </dgm:pt>
    <dgm:pt modelId="{D4919E8D-82D5-4413-9DB0-0071DEF7375E}" type="parTrans" cxnId="{F3230F15-741E-4BF7-BA22-EC1039D7F046}">
      <dgm:prSet/>
      <dgm:spPr/>
      <dgm:t>
        <a:bodyPr/>
        <a:lstStyle/>
        <a:p>
          <a:endParaRPr lang="en-US"/>
        </a:p>
      </dgm:t>
    </dgm:pt>
    <dgm:pt modelId="{C6F59897-F5CF-4B30-B5DA-982ADD6C3D9B}" type="sibTrans" cxnId="{F3230F15-741E-4BF7-BA22-EC1039D7F046}">
      <dgm:prSet/>
      <dgm:spPr/>
      <dgm:t>
        <a:bodyPr/>
        <a:lstStyle/>
        <a:p>
          <a:endParaRPr lang="en-US"/>
        </a:p>
      </dgm:t>
    </dgm:pt>
    <dgm:pt modelId="{3BB573F5-4B60-4ADC-A02F-96A952B356F0}">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T30 </a:t>
          </a:r>
        </a:p>
        <a:p>
          <a:r>
            <a:rPr lang="en-US" sz="1400" dirty="0">
              <a:solidFill>
                <a:schemeClr val="tx1"/>
              </a:solidFill>
              <a:latin typeface="Arial" panose="020B0604020202020204" pitchFamily="34" charset="0"/>
              <a:cs typeface="Arial" panose="020B0604020202020204" pitchFamily="34" charset="0"/>
            </a:rPr>
            <a:t>End of </a:t>
          </a:r>
        </a:p>
        <a:p>
          <a:r>
            <a:rPr lang="en-US" sz="1400" dirty="0">
              <a:solidFill>
                <a:schemeClr val="tx1"/>
              </a:solidFill>
              <a:latin typeface="Arial" panose="020B0604020202020204" pitchFamily="34" charset="0"/>
              <a:cs typeface="Arial" panose="020B0604020202020204" pitchFamily="34" charset="0"/>
            </a:rPr>
            <a:t>Hemorrhage</a:t>
          </a:r>
        </a:p>
      </dgm:t>
    </dgm:pt>
    <dgm:pt modelId="{FE29A61B-C6A5-46B4-A943-19DB2E0659F3}" type="parTrans" cxnId="{74AAF8D7-624E-4379-AAA5-65ADB6E84979}">
      <dgm:prSet/>
      <dgm:spPr/>
      <dgm:t>
        <a:bodyPr/>
        <a:lstStyle/>
        <a:p>
          <a:endParaRPr lang="en-US"/>
        </a:p>
      </dgm:t>
    </dgm:pt>
    <dgm:pt modelId="{B58EB546-739F-4758-9403-77F5001E64AB}" type="sibTrans" cxnId="{74AAF8D7-624E-4379-AAA5-65ADB6E84979}">
      <dgm:prSet/>
      <dgm:spPr/>
      <dgm:t>
        <a:bodyPr/>
        <a:lstStyle/>
        <a:p>
          <a:endParaRPr lang="en-US"/>
        </a:p>
      </dgm:t>
    </dgm:pt>
    <dgm:pt modelId="{CD0DD429-7030-480E-BCF8-82F5C9FFDCDC}">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a:t>
          </a:r>
          <a:endParaRPr lang="en-US" sz="1400" dirty="0"/>
        </a:p>
      </dgm:t>
    </dgm:pt>
    <dgm:pt modelId="{FF29DF5A-C008-4235-BBBD-8ADF46B002E8}" type="parTrans" cxnId="{85E047F4-84FB-4F22-897C-6DC91DAD9836}">
      <dgm:prSet/>
      <dgm:spPr/>
      <dgm:t>
        <a:bodyPr/>
        <a:lstStyle/>
        <a:p>
          <a:endParaRPr lang="en-US"/>
        </a:p>
      </dgm:t>
    </dgm:pt>
    <dgm:pt modelId="{E4E74C9C-CA64-4C20-8D58-1D98D6D313AC}" type="sibTrans" cxnId="{85E047F4-84FB-4F22-897C-6DC91DAD9836}">
      <dgm:prSet/>
      <dgm:spPr/>
      <dgm:t>
        <a:bodyPr/>
        <a:lstStyle/>
        <a:p>
          <a:endParaRPr lang="en-US"/>
        </a:p>
      </dgm:t>
    </dgm:pt>
    <dgm:pt modelId="{0A753185-2C91-492C-9CA6-EAE1FAFBCF44}">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T74 </a:t>
          </a:r>
        </a:p>
        <a:p>
          <a:r>
            <a:rPr lang="en-US" sz="1400" dirty="0">
              <a:solidFill>
                <a:schemeClr val="tx1"/>
              </a:solidFill>
              <a:latin typeface="Arial" panose="020B0604020202020204" pitchFamily="34" charset="0"/>
              <a:cs typeface="Arial" panose="020B0604020202020204" pitchFamily="34" charset="0"/>
            </a:rPr>
            <a:t>End of </a:t>
          </a:r>
        </a:p>
        <a:p>
          <a:r>
            <a:rPr lang="en-US" sz="1400" dirty="0">
              <a:solidFill>
                <a:schemeClr val="tx1"/>
              </a:solidFill>
              <a:latin typeface="Arial" panose="020B0604020202020204" pitchFamily="34" charset="0"/>
              <a:cs typeface="Arial" panose="020B0604020202020204" pitchFamily="34" charset="0"/>
            </a:rPr>
            <a:t>Intervention</a:t>
          </a:r>
        </a:p>
      </dgm:t>
    </dgm:pt>
    <dgm:pt modelId="{5E0DDA49-1CA7-4A67-8FBD-0298A9F2E3CA}" type="parTrans" cxnId="{16696288-CAA9-4566-B6F4-1E8A6C5CB084}">
      <dgm:prSet/>
      <dgm:spPr/>
      <dgm:t>
        <a:bodyPr/>
        <a:lstStyle/>
        <a:p>
          <a:endParaRPr lang="en-US"/>
        </a:p>
      </dgm:t>
    </dgm:pt>
    <dgm:pt modelId="{CE4A26C2-3072-4EE5-B3E6-92802BDF840A}" type="sibTrans" cxnId="{16696288-CAA9-4566-B6F4-1E8A6C5CB084}">
      <dgm:prSet/>
      <dgm:spPr/>
      <dgm:t>
        <a:bodyPr/>
        <a:lstStyle/>
        <a:p>
          <a:endParaRPr lang="en-US"/>
        </a:p>
      </dgm:t>
    </dgm:pt>
    <dgm:pt modelId="{E938AC04-4B27-41D3-960C-F0F3CE13C03C}">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a:t>
          </a:r>
          <a:endParaRPr lang="en-US" sz="1400" dirty="0"/>
        </a:p>
      </dgm:t>
    </dgm:pt>
    <dgm:pt modelId="{802DC441-F6CB-40F4-92BC-C33CDB78B149}" type="parTrans" cxnId="{CD94139D-4FAE-441B-812F-D537F420A67E}">
      <dgm:prSet/>
      <dgm:spPr/>
      <dgm:t>
        <a:bodyPr/>
        <a:lstStyle/>
        <a:p>
          <a:endParaRPr lang="en-US"/>
        </a:p>
      </dgm:t>
    </dgm:pt>
    <dgm:pt modelId="{C82299DB-2494-4554-81B2-C720737E4284}" type="sibTrans" cxnId="{CD94139D-4FAE-441B-812F-D537F420A67E}">
      <dgm:prSet/>
      <dgm:spPr/>
      <dgm:t>
        <a:bodyPr/>
        <a:lstStyle/>
        <a:p>
          <a:endParaRPr lang="en-US"/>
        </a:p>
      </dgm:t>
    </dgm:pt>
    <dgm:pt modelId="{AC24AE5B-E86B-4E4A-B9BD-27971CA5AA33}">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 </a:t>
          </a:r>
          <a:endParaRPr lang="en-US" sz="1400" dirty="0"/>
        </a:p>
      </dgm:t>
    </dgm:pt>
    <dgm:pt modelId="{6D113735-A943-4F20-A607-FFE6ED54502E}" type="parTrans" cxnId="{E11E4113-FDCB-41D9-B656-5F77984AA82B}">
      <dgm:prSet/>
      <dgm:spPr/>
      <dgm:t>
        <a:bodyPr/>
        <a:lstStyle/>
        <a:p>
          <a:endParaRPr lang="en-US"/>
        </a:p>
      </dgm:t>
    </dgm:pt>
    <dgm:pt modelId="{9926C2CF-55B7-4ABC-9D5D-80715F65DC55}" type="sibTrans" cxnId="{E11E4113-FDCB-41D9-B656-5F77984AA82B}">
      <dgm:prSet/>
      <dgm:spPr/>
      <dgm:t>
        <a:bodyPr/>
        <a:lstStyle/>
        <a:p>
          <a:endParaRPr lang="en-US"/>
        </a:p>
      </dgm:t>
    </dgm:pt>
    <dgm:pt modelId="{DAEB396D-581E-472D-9E7F-59A4656A9145}">
      <dgm:prSe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solidFill>
              <a:schemeClr val="accent2"/>
            </a:solidFill>
            <a:latin typeface="Arial" panose="020B0604020202020204" pitchFamily="34" charset="0"/>
            <a:cs typeface="Arial" panose="020B0604020202020204" pitchFamily="34" charset="0"/>
          </a:endParaRPr>
        </a:p>
      </dgm:t>
    </dgm:pt>
    <dgm:pt modelId="{107222D4-1C89-4927-86E3-1810F0829F55}" type="parTrans" cxnId="{D631AE12-1556-441A-83FD-949EC7FAD31A}">
      <dgm:prSet/>
      <dgm:spPr/>
      <dgm:t>
        <a:bodyPr/>
        <a:lstStyle/>
        <a:p>
          <a:endParaRPr lang="en-US"/>
        </a:p>
      </dgm:t>
    </dgm:pt>
    <dgm:pt modelId="{928F5844-613F-4C75-8121-065869C00C2B}" type="sibTrans" cxnId="{D631AE12-1556-441A-83FD-949EC7FAD31A}">
      <dgm:prSet/>
      <dgm:spPr/>
      <dgm:t>
        <a:bodyPr/>
        <a:lstStyle/>
        <a:p>
          <a:endParaRPr lang="en-US"/>
        </a:p>
      </dgm:t>
    </dgm:pt>
    <dgm:pt modelId="{D1810815-2DDB-418D-9BBE-D6C2A3C3EC95}">
      <dgm:prSet custT="1"/>
      <dgm:spPr/>
      <dgm:t>
        <a:bodyPr/>
        <a:lstStyle/>
        <a:p>
          <a:r>
            <a:rPr lang="en-US" sz="1400">
              <a:solidFill>
                <a:schemeClr val="accent6"/>
              </a:solidFill>
              <a:latin typeface="Arial" panose="020B0604020202020204" pitchFamily="34" charset="0"/>
              <a:cs typeface="Arial" panose="020B0604020202020204" pitchFamily="34" charset="0"/>
            </a:rPr>
            <a:t>Post-IVCO</a:t>
          </a:r>
          <a:endParaRPr lang="en-US" sz="1400" dirty="0">
            <a:solidFill>
              <a:schemeClr val="accent6"/>
            </a:solidFill>
            <a:latin typeface="Arial" panose="020B0604020202020204" pitchFamily="34" charset="0"/>
            <a:cs typeface="Arial" panose="020B0604020202020204" pitchFamily="34" charset="0"/>
          </a:endParaRPr>
        </a:p>
      </dgm:t>
    </dgm:pt>
    <dgm:pt modelId="{CEE56ABE-3070-4E9B-8D5D-4D0AA6D921BC}" type="parTrans" cxnId="{C0E278F5-3DC6-443C-BF37-2E831BC94735}">
      <dgm:prSet/>
      <dgm:spPr/>
      <dgm:t>
        <a:bodyPr/>
        <a:lstStyle/>
        <a:p>
          <a:endParaRPr lang="en-US"/>
        </a:p>
      </dgm:t>
    </dgm:pt>
    <dgm:pt modelId="{E693D056-8FFD-4010-A563-8CE1DFF4868C}" type="sibTrans" cxnId="{C0E278F5-3DC6-443C-BF37-2E831BC94735}">
      <dgm:prSet/>
      <dgm:spPr/>
      <dgm:t>
        <a:bodyPr/>
        <a:lstStyle/>
        <a:p>
          <a:endParaRPr lang="en-US"/>
        </a:p>
      </dgm:t>
    </dgm:pt>
    <dgm:pt modelId="{17FB1303-7913-5B4E-A5FE-30A9D43EC381}">
      <dgm:prSet custT="1"/>
      <dgm:spPr/>
      <dgm:t>
        <a:bodyPr/>
        <a:lstStyle/>
        <a:p>
          <a:r>
            <a:rPr lang="en-US" sz="1400">
              <a:solidFill>
                <a:schemeClr val="accent6"/>
              </a:solidFill>
              <a:latin typeface="Arial" panose="020B0604020202020204" pitchFamily="34" charset="0"/>
              <a:cs typeface="Arial" panose="020B0604020202020204" pitchFamily="34" charset="0"/>
            </a:rPr>
            <a:t>Post-IVCO</a:t>
          </a:r>
          <a:endParaRPr lang="en-US" sz="1400" dirty="0">
            <a:solidFill>
              <a:schemeClr val="accent2"/>
            </a:solidFill>
            <a:latin typeface="Arial" panose="020B0604020202020204" pitchFamily="34" charset="0"/>
            <a:cs typeface="Arial" panose="020B0604020202020204" pitchFamily="34" charset="0"/>
          </a:endParaRPr>
        </a:p>
      </dgm:t>
    </dgm:pt>
    <dgm:pt modelId="{F2F2DE81-DA87-194C-A27A-45DCA236A0B2}" type="parTrans" cxnId="{807D1ECC-B370-064C-8587-E9A8CBA3E99C}">
      <dgm:prSet/>
      <dgm:spPr/>
      <dgm:t>
        <a:bodyPr/>
        <a:lstStyle/>
        <a:p>
          <a:endParaRPr lang="en-US"/>
        </a:p>
      </dgm:t>
    </dgm:pt>
    <dgm:pt modelId="{300C74EE-057E-4941-8204-1E813168029A}" type="sibTrans" cxnId="{807D1ECC-B370-064C-8587-E9A8CBA3E99C}">
      <dgm:prSet/>
      <dgm:spPr/>
      <dgm:t>
        <a:bodyPr/>
        <a:lstStyle/>
        <a:p>
          <a:endParaRPr lang="en-US"/>
        </a:p>
      </dgm:t>
    </dgm:pt>
    <dgm:pt modelId="{7E41F9F0-C1E1-6844-9521-20081576E984}">
      <dgm:prSet phldrT="[Tex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p>
      </dgm:t>
    </dgm:pt>
    <dgm:pt modelId="{79668509-E5F5-FE49-AA90-1EC7AEA286B1}" type="parTrans" cxnId="{B89C6EF3-8DFE-C64E-A5C1-2348BFDBE3BE}">
      <dgm:prSet/>
      <dgm:spPr/>
      <dgm:t>
        <a:bodyPr/>
        <a:lstStyle/>
        <a:p>
          <a:endParaRPr lang="en-US"/>
        </a:p>
      </dgm:t>
    </dgm:pt>
    <dgm:pt modelId="{3C7799EB-3817-5446-9967-6AE625D8B580}" type="sibTrans" cxnId="{B89C6EF3-8DFE-C64E-A5C1-2348BFDBE3BE}">
      <dgm:prSet/>
      <dgm:spPr/>
      <dgm:t>
        <a:bodyPr/>
        <a:lstStyle/>
        <a:p>
          <a:endParaRPr lang="en-US"/>
        </a:p>
      </dgm:t>
    </dgm:pt>
    <dgm:pt modelId="{CA4C5571-5C0C-6A4A-A6CC-1914391BACB7}">
      <dgm:prSet phldrT="[Text]" custT="1"/>
      <dgm:spPr/>
      <dgm:t>
        <a:bodyPr/>
        <a:lstStyle/>
        <a:p>
          <a:r>
            <a:rPr lang="en-US" sz="1400">
              <a:solidFill>
                <a:schemeClr val="accent6"/>
              </a:solidFill>
              <a:latin typeface="Arial" panose="020B0604020202020204" pitchFamily="34" charset="0"/>
              <a:cs typeface="Arial" panose="020B0604020202020204" pitchFamily="34" charset="0"/>
            </a:rPr>
            <a:t>Post-IVCO </a:t>
          </a:r>
          <a:endParaRPr lang="en-US" sz="1400" dirty="0"/>
        </a:p>
      </dgm:t>
    </dgm:pt>
    <dgm:pt modelId="{CA52A922-4FF2-EC48-B6D0-64C3EBB531A2}" type="parTrans" cxnId="{4B5246E4-4187-5E46-85D9-12F67AC32477}">
      <dgm:prSet/>
      <dgm:spPr/>
      <dgm:t>
        <a:bodyPr/>
        <a:lstStyle/>
        <a:p>
          <a:endParaRPr lang="en-US"/>
        </a:p>
      </dgm:t>
    </dgm:pt>
    <dgm:pt modelId="{CA68CC4A-39F8-DF4A-BF2C-C4EF02E53D2E}" type="sibTrans" cxnId="{4B5246E4-4187-5E46-85D9-12F67AC32477}">
      <dgm:prSet/>
      <dgm:spPr/>
      <dgm:t>
        <a:bodyPr/>
        <a:lstStyle/>
        <a:p>
          <a:endParaRPr lang="en-US"/>
        </a:p>
      </dgm:t>
    </dgm:pt>
    <dgm:pt modelId="{939A45B5-D231-3C4A-B56C-401FB030DB7D}">
      <dgm:prSet phldrT="[Tex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p>
      </dgm:t>
    </dgm:pt>
    <dgm:pt modelId="{EF7DFAD3-98D9-9347-BB9F-173855E48911}" type="parTrans" cxnId="{FA30DA5F-9FD1-5F4A-8EE7-C0224E9D4681}">
      <dgm:prSet/>
      <dgm:spPr/>
      <dgm:t>
        <a:bodyPr/>
        <a:lstStyle/>
        <a:p>
          <a:endParaRPr lang="en-US"/>
        </a:p>
      </dgm:t>
    </dgm:pt>
    <dgm:pt modelId="{FECD8C5D-363A-DC42-891A-B44F67F86EF8}" type="sibTrans" cxnId="{FA30DA5F-9FD1-5F4A-8EE7-C0224E9D4681}">
      <dgm:prSet/>
      <dgm:spPr/>
      <dgm:t>
        <a:bodyPr/>
        <a:lstStyle/>
        <a:p>
          <a:endParaRPr lang="en-US"/>
        </a:p>
      </dgm:t>
    </dgm:pt>
    <dgm:pt modelId="{827792D8-BA8F-9943-8A8E-7D56347158BC}" type="pres">
      <dgm:prSet presAssocID="{374BA7D5-9E4F-44CC-A5B3-DB5C9FBBD6CA}" presName="Name0" presStyleCnt="0">
        <dgm:presLayoutVars>
          <dgm:dir/>
          <dgm:animLvl val="lvl"/>
          <dgm:resizeHandles val="exact"/>
        </dgm:presLayoutVars>
      </dgm:prSet>
      <dgm:spPr/>
    </dgm:pt>
    <dgm:pt modelId="{5E5D6AA3-B455-8343-A036-2351CCED0A18}" type="pres">
      <dgm:prSet presAssocID="{3B24616C-53ED-411C-BCC0-15F6C22E2A68}" presName="composite" presStyleCnt="0"/>
      <dgm:spPr/>
    </dgm:pt>
    <dgm:pt modelId="{89F02F1D-8C0D-2A40-893A-10642A77CB67}" type="pres">
      <dgm:prSet presAssocID="{3B24616C-53ED-411C-BCC0-15F6C22E2A68}" presName="parTx" presStyleLbl="node1" presStyleIdx="0" presStyleCnt="3">
        <dgm:presLayoutVars>
          <dgm:chMax val="0"/>
          <dgm:chPref val="0"/>
          <dgm:bulletEnabled val="1"/>
        </dgm:presLayoutVars>
      </dgm:prSet>
      <dgm:spPr/>
    </dgm:pt>
    <dgm:pt modelId="{C5ADBD47-D3DD-0741-B395-CBE7FD90877A}" type="pres">
      <dgm:prSet presAssocID="{3B24616C-53ED-411C-BCC0-15F6C22E2A68}" presName="desTx" presStyleLbl="revTx" presStyleIdx="0" presStyleCnt="3">
        <dgm:presLayoutVars>
          <dgm:bulletEnabled val="1"/>
        </dgm:presLayoutVars>
      </dgm:prSet>
      <dgm:spPr/>
    </dgm:pt>
    <dgm:pt modelId="{24DF992B-F547-A644-8FA7-6F3B562BDA5E}" type="pres">
      <dgm:prSet presAssocID="{C6F59897-F5CF-4B30-B5DA-982ADD6C3D9B}" presName="space" presStyleCnt="0"/>
      <dgm:spPr/>
    </dgm:pt>
    <dgm:pt modelId="{586708E4-3784-E44C-9289-01EB1DD37247}" type="pres">
      <dgm:prSet presAssocID="{3BB573F5-4B60-4ADC-A02F-96A952B356F0}" presName="composite" presStyleCnt="0"/>
      <dgm:spPr/>
    </dgm:pt>
    <dgm:pt modelId="{DD10D35C-DCFF-3A40-BF8B-6C53CE516B11}" type="pres">
      <dgm:prSet presAssocID="{3BB573F5-4B60-4ADC-A02F-96A952B356F0}" presName="parTx" presStyleLbl="node1" presStyleIdx="1" presStyleCnt="3">
        <dgm:presLayoutVars>
          <dgm:chMax val="0"/>
          <dgm:chPref val="0"/>
          <dgm:bulletEnabled val="1"/>
        </dgm:presLayoutVars>
      </dgm:prSet>
      <dgm:spPr/>
    </dgm:pt>
    <dgm:pt modelId="{F704F149-4863-7540-B184-15E16FFC0EA5}" type="pres">
      <dgm:prSet presAssocID="{3BB573F5-4B60-4ADC-A02F-96A952B356F0}" presName="desTx" presStyleLbl="revTx" presStyleIdx="1" presStyleCnt="3">
        <dgm:presLayoutVars>
          <dgm:bulletEnabled val="1"/>
        </dgm:presLayoutVars>
      </dgm:prSet>
      <dgm:spPr/>
    </dgm:pt>
    <dgm:pt modelId="{C42A4DCD-D206-DB4B-A1E1-68DB873A8088}" type="pres">
      <dgm:prSet presAssocID="{B58EB546-739F-4758-9403-77F5001E64AB}" presName="space" presStyleCnt="0"/>
      <dgm:spPr/>
    </dgm:pt>
    <dgm:pt modelId="{A71C1930-C71A-E340-92EF-076306424645}" type="pres">
      <dgm:prSet presAssocID="{0A753185-2C91-492C-9CA6-EAE1FAFBCF44}" presName="composite" presStyleCnt="0"/>
      <dgm:spPr/>
    </dgm:pt>
    <dgm:pt modelId="{93187B7B-0F25-464B-B546-EF1E3BD51664}" type="pres">
      <dgm:prSet presAssocID="{0A753185-2C91-492C-9CA6-EAE1FAFBCF44}" presName="parTx" presStyleLbl="node1" presStyleIdx="2" presStyleCnt="3">
        <dgm:presLayoutVars>
          <dgm:chMax val="0"/>
          <dgm:chPref val="0"/>
          <dgm:bulletEnabled val="1"/>
        </dgm:presLayoutVars>
      </dgm:prSet>
      <dgm:spPr/>
    </dgm:pt>
    <dgm:pt modelId="{5A0C64A5-6F87-B641-B6BB-D340FDA49CBB}" type="pres">
      <dgm:prSet presAssocID="{0A753185-2C91-492C-9CA6-EAE1FAFBCF44}" presName="desTx" presStyleLbl="revTx" presStyleIdx="2" presStyleCnt="3">
        <dgm:presLayoutVars>
          <dgm:bulletEnabled val="1"/>
        </dgm:presLayoutVars>
      </dgm:prSet>
      <dgm:spPr/>
    </dgm:pt>
  </dgm:ptLst>
  <dgm:cxnLst>
    <dgm:cxn modelId="{D631AE12-1556-441A-83FD-949EC7FAD31A}" srcId="{3B24616C-53ED-411C-BCC0-15F6C22E2A68}" destId="{DAEB396D-581E-472D-9E7F-59A4656A9145}" srcOrd="1" destOrd="0" parTransId="{107222D4-1C89-4927-86E3-1810F0829F55}" sibTransId="{928F5844-613F-4C75-8121-065869C00C2B}"/>
    <dgm:cxn modelId="{E11E4113-FDCB-41D9-B656-5F77984AA82B}" srcId="{3B24616C-53ED-411C-BCC0-15F6C22E2A68}" destId="{AC24AE5B-E86B-4E4A-B9BD-27971CA5AA33}" srcOrd="0" destOrd="0" parTransId="{6D113735-A943-4F20-A607-FFE6ED54502E}" sibTransId="{9926C2CF-55B7-4ABC-9D5D-80715F65DC55}"/>
    <dgm:cxn modelId="{F3230F15-741E-4BF7-BA22-EC1039D7F046}" srcId="{374BA7D5-9E4F-44CC-A5B3-DB5C9FBBD6CA}" destId="{3B24616C-53ED-411C-BCC0-15F6C22E2A68}" srcOrd="0" destOrd="0" parTransId="{D4919E8D-82D5-4413-9DB0-0071DEF7375E}" sibTransId="{C6F59897-F5CF-4B30-B5DA-982ADD6C3D9B}"/>
    <dgm:cxn modelId="{0363162C-A21B-C94C-9AA4-39E8FB20D9E3}" type="presOf" srcId="{0A753185-2C91-492C-9CA6-EAE1FAFBCF44}" destId="{93187B7B-0F25-464B-B546-EF1E3BD51664}" srcOrd="0" destOrd="0" presId="urn:microsoft.com/office/officeart/2005/8/layout/chevron1"/>
    <dgm:cxn modelId="{AB9DD15C-73B4-A94F-9B09-B00CADF8C24D}" type="presOf" srcId="{AC24AE5B-E86B-4E4A-B9BD-27971CA5AA33}" destId="{C5ADBD47-D3DD-0741-B395-CBE7FD90877A}" srcOrd="0" destOrd="0" presId="urn:microsoft.com/office/officeart/2005/8/layout/chevron1"/>
    <dgm:cxn modelId="{FA30DA5F-9FD1-5F4A-8EE7-C0224E9D4681}" srcId="{0A753185-2C91-492C-9CA6-EAE1FAFBCF44}" destId="{939A45B5-D231-3C4A-B56C-401FB030DB7D}" srcOrd="1" destOrd="0" parTransId="{EF7DFAD3-98D9-9347-BB9F-173855E48911}" sibTransId="{FECD8C5D-363A-DC42-891A-B44F67F86EF8}"/>
    <dgm:cxn modelId="{7B5CDE61-B975-EE49-97E2-2419AFBA0CB0}" type="presOf" srcId="{3BB573F5-4B60-4ADC-A02F-96A952B356F0}" destId="{DD10D35C-DCFF-3A40-BF8B-6C53CE516B11}" srcOrd="0" destOrd="0" presId="urn:microsoft.com/office/officeart/2005/8/layout/chevron1"/>
    <dgm:cxn modelId="{F8F5A478-B73A-4B44-A426-3ABD7665B4C7}" type="presOf" srcId="{CD0DD429-7030-480E-BCF8-82F5C9FFDCDC}" destId="{F704F149-4863-7540-B184-15E16FFC0EA5}" srcOrd="0" destOrd="0" presId="urn:microsoft.com/office/officeart/2005/8/layout/chevron1"/>
    <dgm:cxn modelId="{16696288-CAA9-4566-B6F4-1E8A6C5CB084}" srcId="{374BA7D5-9E4F-44CC-A5B3-DB5C9FBBD6CA}" destId="{0A753185-2C91-492C-9CA6-EAE1FAFBCF44}" srcOrd="2" destOrd="0" parTransId="{5E0DDA49-1CA7-4A67-8FBD-0298A9F2E3CA}" sibTransId="{CE4A26C2-3072-4EE5-B3E6-92802BDF840A}"/>
    <dgm:cxn modelId="{CD94139D-4FAE-441B-812F-D537F420A67E}" srcId="{0A753185-2C91-492C-9CA6-EAE1FAFBCF44}" destId="{E938AC04-4B27-41D3-960C-F0F3CE13C03C}" srcOrd="0" destOrd="0" parTransId="{802DC441-F6CB-40F4-92BC-C33CDB78B149}" sibTransId="{C82299DB-2494-4554-81B2-C720737E4284}"/>
    <dgm:cxn modelId="{CA1317A7-AAAE-2C48-8E47-15B810BCF163}" type="presOf" srcId="{17FB1303-7913-5B4E-A5FE-30A9D43EC381}" destId="{C5ADBD47-D3DD-0741-B395-CBE7FD90877A}" srcOrd="0" destOrd="2" presId="urn:microsoft.com/office/officeart/2005/8/layout/chevron1"/>
    <dgm:cxn modelId="{CD6717BF-8CAC-BB44-AD49-EC5BA98246EC}" type="presOf" srcId="{CA4C5571-5C0C-6A4A-A6CC-1914391BACB7}" destId="{F704F149-4863-7540-B184-15E16FFC0EA5}" srcOrd="0" destOrd="2" presId="urn:microsoft.com/office/officeart/2005/8/layout/chevron1"/>
    <dgm:cxn modelId="{4DDD45C1-C052-434B-A08F-C749E97C6AF4}" type="presOf" srcId="{DAEB396D-581E-472D-9E7F-59A4656A9145}" destId="{C5ADBD47-D3DD-0741-B395-CBE7FD90877A}" srcOrd="0" destOrd="1" presId="urn:microsoft.com/office/officeart/2005/8/layout/chevron1"/>
    <dgm:cxn modelId="{B7EB90C1-3F20-494B-8FC0-9FA85C9E67D5}" type="presOf" srcId="{939A45B5-D231-3C4A-B56C-401FB030DB7D}" destId="{5A0C64A5-6F87-B641-B6BB-D340FDA49CBB}" srcOrd="0" destOrd="1" presId="urn:microsoft.com/office/officeart/2005/8/layout/chevron1"/>
    <dgm:cxn modelId="{FB9A7DC9-F513-314F-8EE7-7BAAEAAB317A}" type="presOf" srcId="{7E41F9F0-C1E1-6844-9521-20081576E984}" destId="{F704F149-4863-7540-B184-15E16FFC0EA5}" srcOrd="0" destOrd="1" presId="urn:microsoft.com/office/officeart/2005/8/layout/chevron1"/>
    <dgm:cxn modelId="{807D1ECC-B370-064C-8587-E9A8CBA3E99C}" srcId="{3B24616C-53ED-411C-BCC0-15F6C22E2A68}" destId="{17FB1303-7913-5B4E-A5FE-30A9D43EC381}" srcOrd="2" destOrd="0" parTransId="{F2F2DE81-DA87-194C-A27A-45DCA236A0B2}" sibTransId="{300C74EE-057E-4941-8204-1E813168029A}"/>
    <dgm:cxn modelId="{74AAF8D7-624E-4379-AAA5-65ADB6E84979}" srcId="{374BA7D5-9E4F-44CC-A5B3-DB5C9FBBD6CA}" destId="{3BB573F5-4B60-4ADC-A02F-96A952B356F0}" srcOrd="1" destOrd="0" parTransId="{FE29A61B-C6A5-46B4-A943-19DB2E0659F3}" sibTransId="{B58EB546-739F-4758-9403-77F5001E64AB}"/>
    <dgm:cxn modelId="{B13AFED8-FCFC-7843-97AE-84D726618C73}" type="presOf" srcId="{D1810815-2DDB-418D-9BBE-D6C2A3C3EC95}" destId="{5A0C64A5-6F87-B641-B6BB-D340FDA49CBB}" srcOrd="0" destOrd="2" presId="urn:microsoft.com/office/officeart/2005/8/layout/chevron1"/>
    <dgm:cxn modelId="{8C8585E0-C540-6C4A-9054-1211BC35EA26}" type="presOf" srcId="{E938AC04-4B27-41D3-960C-F0F3CE13C03C}" destId="{5A0C64A5-6F87-B641-B6BB-D340FDA49CBB}" srcOrd="0" destOrd="0" presId="urn:microsoft.com/office/officeart/2005/8/layout/chevron1"/>
    <dgm:cxn modelId="{4B5246E4-4187-5E46-85D9-12F67AC32477}" srcId="{3BB573F5-4B60-4ADC-A02F-96A952B356F0}" destId="{CA4C5571-5C0C-6A4A-A6CC-1914391BACB7}" srcOrd="2" destOrd="0" parTransId="{CA52A922-4FF2-EC48-B6D0-64C3EBB531A2}" sibTransId="{CA68CC4A-39F8-DF4A-BF2C-C4EF02E53D2E}"/>
    <dgm:cxn modelId="{EADC76ED-936E-4F41-8AC4-373F60F09995}" type="presOf" srcId="{374BA7D5-9E4F-44CC-A5B3-DB5C9FBBD6CA}" destId="{827792D8-BA8F-9943-8A8E-7D56347158BC}" srcOrd="0" destOrd="0" presId="urn:microsoft.com/office/officeart/2005/8/layout/chevron1"/>
    <dgm:cxn modelId="{B89C6EF3-8DFE-C64E-A5C1-2348BFDBE3BE}" srcId="{3BB573F5-4B60-4ADC-A02F-96A952B356F0}" destId="{7E41F9F0-C1E1-6844-9521-20081576E984}" srcOrd="1" destOrd="0" parTransId="{79668509-E5F5-FE49-AA90-1EC7AEA286B1}" sibTransId="{3C7799EB-3817-5446-9967-6AE625D8B580}"/>
    <dgm:cxn modelId="{85E047F4-84FB-4F22-897C-6DC91DAD9836}" srcId="{3BB573F5-4B60-4ADC-A02F-96A952B356F0}" destId="{CD0DD429-7030-480E-BCF8-82F5C9FFDCDC}" srcOrd="0" destOrd="0" parTransId="{FF29DF5A-C008-4235-BBBD-8ADF46B002E8}" sibTransId="{E4E74C9C-CA64-4C20-8D58-1D98D6D313AC}"/>
    <dgm:cxn modelId="{C0E278F5-3DC6-443C-BF37-2E831BC94735}" srcId="{0A753185-2C91-492C-9CA6-EAE1FAFBCF44}" destId="{D1810815-2DDB-418D-9BBE-D6C2A3C3EC95}" srcOrd="2" destOrd="0" parTransId="{CEE56ABE-3070-4E9B-8D5D-4D0AA6D921BC}" sibTransId="{E693D056-8FFD-4010-A563-8CE1DFF4868C}"/>
    <dgm:cxn modelId="{EEDE02FA-87A2-D74B-92C2-AEBA26633DC3}" type="presOf" srcId="{3B24616C-53ED-411C-BCC0-15F6C22E2A68}" destId="{89F02F1D-8C0D-2A40-893A-10642A77CB67}" srcOrd="0" destOrd="0" presId="urn:microsoft.com/office/officeart/2005/8/layout/chevron1"/>
    <dgm:cxn modelId="{E85A11A8-9D62-B24D-9AA6-D1A56182489E}" type="presParOf" srcId="{827792D8-BA8F-9943-8A8E-7D56347158BC}" destId="{5E5D6AA3-B455-8343-A036-2351CCED0A18}" srcOrd="0" destOrd="0" presId="urn:microsoft.com/office/officeart/2005/8/layout/chevron1"/>
    <dgm:cxn modelId="{11405A99-397B-F449-9CDA-53B71468C8CB}" type="presParOf" srcId="{5E5D6AA3-B455-8343-A036-2351CCED0A18}" destId="{89F02F1D-8C0D-2A40-893A-10642A77CB67}" srcOrd="0" destOrd="0" presId="urn:microsoft.com/office/officeart/2005/8/layout/chevron1"/>
    <dgm:cxn modelId="{65DB6266-76D4-5C4C-B64F-C552B439C5B8}" type="presParOf" srcId="{5E5D6AA3-B455-8343-A036-2351CCED0A18}" destId="{C5ADBD47-D3DD-0741-B395-CBE7FD90877A}" srcOrd="1" destOrd="0" presId="urn:microsoft.com/office/officeart/2005/8/layout/chevron1"/>
    <dgm:cxn modelId="{455524BC-085C-3641-97AA-894CD1B6510A}" type="presParOf" srcId="{827792D8-BA8F-9943-8A8E-7D56347158BC}" destId="{24DF992B-F547-A644-8FA7-6F3B562BDA5E}" srcOrd="1" destOrd="0" presId="urn:microsoft.com/office/officeart/2005/8/layout/chevron1"/>
    <dgm:cxn modelId="{35CCB6A1-BF8A-DA46-83DD-64E38C789C10}" type="presParOf" srcId="{827792D8-BA8F-9943-8A8E-7D56347158BC}" destId="{586708E4-3784-E44C-9289-01EB1DD37247}" srcOrd="2" destOrd="0" presId="urn:microsoft.com/office/officeart/2005/8/layout/chevron1"/>
    <dgm:cxn modelId="{C2CB0F7A-52E8-B145-9AB3-557FF10AD559}" type="presParOf" srcId="{586708E4-3784-E44C-9289-01EB1DD37247}" destId="{DD10D35C-DCFF-3A40-BF8B-6C53CE516B11}" srcOrd="0" destOrd="0" presId="urn:microsoft.com/office/officeart/2005/8/layout/chevron1"/>
    <dgm:cxn modelId="{1D291AA6-C2B6-9540-8204-7E9EDC496A97}" type="presParOf" srcId="{586708E4-3784-E44C-9289-01EB1DD37247}" destId="{F704F149-4863-7540-B184-15E16FFC0EA5}" srcOrd="1" destOrd="0" presId="urn:microsoft.com/office/officeart/2005/8/layout/chevron1"/>
    <dgm:cxn modelId="{0D860A32-C7A7-7C4E-83C7-8E45DA5CDFD1}" type="presParOf" srcId="{827792D8-BA8F-9943-8A8E-7D56347158BC}" destId="{C42A4DCD-D206-DB4B-A1E1-68DB873A8088}" srcOrd="3" destOrd="0" presId="urn:microsoft.com/office/officeart/2005/8/layout/chevron1"/>
    <dgm:cxn modelId="{81D789C9-47EC-E449-8829-62A23C076170}" type="presParOf" srcId="{827792D8-BA8F-9943-8A8E-7D56347158BC}" destId="{A71C1930-C71A-E340-92EF-076306424645}" srcOrd="4" destOrd="0" presId="urn:microsoft.com/office/officeart/2005/8/layout/chevron1"/>
    <dgm:cxn modelId="{3B93891E-CDE4-3642-BFA4-939AF7125369}" type="presParOf" srcId="{A71C1930-C71A-E340-92EF-076306424645}" destId="{93187B7B-0F25-464B-B546-EF1E3BD51664}" srcOrd="0" destOrd="0" presId="urn:microsoft.com/office/officeart/2005/8/layout/chevron1"/>
    <dgm:cxn modelId="{9D9F9647-62F1-7841-B6D5-6AC5679CBEEE}" type="presParOf" srcId="{A71C1930-C71A-E340-92EF-076306424645}" destId="{5A0C64A5-6F87-B641-B6BB-D340FDA49CBB}" srcOrd="1"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02F1D-8C0D-2A40-893A-10642A77CB67}">
      <dsp:nvSpPr>
        <dsp:cNvPr id="0" name=""/>
        <dsp:cNvSpPr/>
      </dsp:nvSpPr>
      <dsp:spPr>
        <a:xfrm>
          <a:off x="3599" y="1439791"/>
          <a:ext cx="1798731" cy="719492"/>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T0 </a:t>
          </a:r>
        </a:p>
        <a:p>
          <a:pPr marL="0" lvl="0" indent="0" algn="ctr" defTabSz="6223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Baseline</a:t>
          </a:r>
        </a:p>
      </dsp:txBody>
      <dsp:txXfrm>
        <a:off x="363345" y="1439791"/>
        <a:ext cx="1079239" cy="719492"/>
      </dsp:txXfrm>
    </dsp:sp>
    <dsp:sp modelId="{C5ADBD47-D3DD-0741-B395-CBE7FD90877A}">
      <dsp:nvSpPr>
        <dsp:cNvPr id="0" name=""/>
        <dsp:cNvSpPr/>
      </dsp:nvSpPr>
      <dsp:spPr>
        <a:xfrm>
          <a:off x="3599"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 </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solidFill>
              <a:schemeClr val="accent2"/>
            </a:solidFill>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a:t>
          </a:r>
          <a:endParaRPr lang="en-US" sz="1400" kern="1200" dirty="0">
            <a:solidFill>
              <a:schemeClr val="accent2"/>
            </a:solidFill>
            <a:latin typeface="Arial" panose="020B0604020202020204" pitchFamily="34" charset="0"/>
            <a:cs typeface="Arial" panose="020B0604020202020204" pitchFamily="34" charset="0"/>
          </a:endParaRPr>
        </a:p>
      </dsp:txBody>
      <dsp:txXfrm>
        <a:off x="3599" y="2249221"/>
        <a:ext cx="1438985" cy="1152000"/>
      </dsp:txXfrm>
    </dsp:sp>
    <dsp:sp modelId="{DD10D35C-DCFF-3A40-BF8B-6C53CE516B11}">
      <dsp:nvSpPr>
        <dsp:cNvPr id="0" name=""/>
        <dsp:cNvSpPr/>
      </dsp:nvSpPr>
      <dsp:spPr>
        <a:xfrm>
          <a:off x="1586330" y="1439791"/>
          <a:ext cx="1798731" cy="719492"/>
        </a:xfrm>
        <a:prstGeom prst="chevron">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T30 </a:t>
          </a:r>
        </a:p>
        <a:p>
          <a:pPr marL="0" lvl="0" indent="0" algn="ctr" defTabSz="6223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End of </a:t>
          </a:r>
        </a:p>
        <a:p>
          <a:pPr marL="0" lvl="0" indent="0" algn="ctr" defTabSz="6223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Hemorrhage</a:t>
          </a:r>
        </a:p>
      </dsp:txBody>
      <dsp:txXfrm>
        <a:off x="1946076" y="1439791"/>
        <a:ext cx="1079239" cy="719492"/>
      </dsp:txXfrm>
    </dsp:sp>
    <dsp:sp modelId="{F704F149-4863-7540-B184-15E16FFC0EA5}">
      <dsp:nvSpPr>
        <dsp:cNvPr id="0" name=""/>
        <dsp:cNvSpPr/>
      </dsp:nvSpPr>
      <dsp:spPr>
        <a:xfrm>
          <a:off x="1586330"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 </a:t>
          </a:r>
          <a:endParaRPr lang="en-US" sz="1400" kern="1200" dirty="0"/>
        </a:p>
      </dsp:txBody>
      <dsp:txXfrm>
        <a:off x="1586330" y="2249221"/>
        <a:ext cx="1438985" cy="1152000"/>
      </dsp:txXfrm>
    </dsp:sp>
    <dsp:sp modelId="{93187B7B-0F25-464B-B546-EF1E3BD51664}">
      <dsp:nvSpPr>
        <dsp:cNvPr id="0" name=""/>
        <dsp:cNvSpPr/>
      </dsp:nvSpPr>
      <dsp:spPr>
        <a:xfrm>
          <a:off x="3169062" y="1439791"/>
          <a:ext cx="1798731" cy="719492"/>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T74 </a:t>
          </a:r>
        </a:p>
        <a:p>
          <a:pPr marL="0" lvl="0" indent="0" algn="ctr" defTabSz="6223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End of </a:t>
          </a:r>
        </a:p>
        <a:p>
          <a:pPr marL="0" lvl="0" indent="0" algn="ctr" defTabSz="6223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Intervention</a:t>
          </a:r>
        </a:p>
      </dsp:txBody>
      <dsp:txXfrm>
        <a:off x="3528808" y="1439791"/>
        <a:ext cx="1079239" cy="719492"/>
      </dsp:txXfrm>
    </dsp:sp>
    <dsp:sp modelId="{5A0C64A5-6F87-B641-B6BB-D340FDA49CBB}">
      <dsp:nvSpPr>
        <dsp:cNvPr id="0" name=""/>
        <dsp:cNvSpPr/>
      </dsp:nvSpPr>
      <dsp:spPr>
        <a:xfrm>
          <a:off x="3169062"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a:t>
          </a:r>
          <a:endParaRPr lang="en-US" sz="1400" kern="1200" dirty="0">
            <a:solidFill>
              <a:schemeClr val="accent6"/>
            </a:solidFill>
            <a:latin typeface="Arial" panose="020B0604020202020204" pitchFamily="34" charset="0"/>
            <a:cs typeface="Arial" panose="020B0604020202020204" pitchFamily="34" charset="0"/>
          </a:endParaRPr>
        </a:p>
      </dsp:txBody>
      <dsp:txXfrm>
        <a:off x="3169062" y="2249221"/>
        <a:ext cx="1438985" cy="11520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173324-ABA7-4D50-9D9C-E40C4D66B645}" type="datetimeFigureOut">
              <a:rPr lang="en-US" smtClean="0"/>
              <a:t>7/27/23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18AAD-1954-40B7-B90A-836C4AAE0D89}" type="slidenum">
              <a:rPr lang="en-US" smtClean="0"/>
              <a:t>‹#›</a:t>
            </a:fld>
            <a:endParaRPr lang="en-US"/>
          </a:p>
        </p:txBody>
      </p:sp>
    </p:spTree>
    <p:extLst>
      <p:ext uri="{BB962C8B-B14F-4D97-AF65-F5344CB8AC3E}">
        <p14:creationId xmlns:p14="http://schemas.microsoft.com/office/powerpoint/2010/main" val="2177126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 ESV CO</a:t>
            </a:r>
          </a:p>
        </p:txBody>
      </p:sp>
      <p:sp>
        <p:nvSpPr>
          <p:cNvPr id="4" name="Slide Number Placeholder 3"/>
          <p:cNvSpPr>
            <a:spLocks noGrp="1"/>
          </p:cNvSpPr>
          <p:nvPr>
            <p:ph type="sldNum" sz="quarter" idx="10"/>
          </p:nvPr>
        </p:nvSpPr>
        <p:spPr/>
        <p:txBody>
          <a:bodyPr/>
          <a:lstStyle/>
          <a:p>
            <a:fld id="{5EF18AAD-1954-40B7-B90A-836C4AAE0D89}" type="slidenum">
              <a:rPr lang="en-US" smtClean="0"/>
              <a:t>6</a:t>
            </a:fld>
            <a:endParaRPr lang="en-US"/>
          </a:p>
        </p:txBody>
      </p:sp>
    </p:spTree>
    <p:extLst>
      <p:ext uri="{BB962C8B-B14F-4D97-AF65-F5344CB8AC3E}">
        <p14:creationId xmlns:p14="http://schemas.microsoft.com/office/powerpoint/2010/main" val="1588310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6C09B-A1BB-2C3D-408B-263274B462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CAC3B1-5414-A8BE-FD67-E9546701CA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975F0B-F088-7782-5DA3-2A7BE1E41A2C}"/>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5" name="Footer Placeholder 4">
            <a:extLst>
              <a:ext uri="{FF2B5EF4-FFF2-40B4-BE49-F238E27FC236}">
                <a16:creationId xmlns:a16="http://schemas.microsoft.com/office/drawing/2014/main" id="{379C4912-C6C0-F3A6-8896-97E4F1FE26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58783-865F-D40A-C6DC-27DEE1C4C72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277715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5154-B2D5-14E4-DA34-77F57A0F89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1131E-A339-D6F4-C7B8-380B339019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0EDD14-FD69-09F5-C392-CF8B93B49F59}"/>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5" name="Footer Placeholder 4">
            <a:extLst>
              <a:ext uri="{FF2B5EF4-FFF2-40B4-BE49-F238E27FC236}">
                <a16:creationId xmlns:a16="http://schemas.microsoft.com/office/drawing/2014/main" id="{75C20910-3820-7B89-8428-4B5CC454C9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CD9EB0-3D4E-411B-4D90-9216B04A3C5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397659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7A4A1-46A3-9368-CA41-65EC9B000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EF541A-9975-8057-64E9-854A1A1CC7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25858B-28FE-8C72-CF92-CC2DA50F76CE}"/>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5" name="Footer Placeholder 4">
            <a:extLst>
              <a:ext uri="{FF2B5EF4-FFF2-40B4-BE49-F238E27FC236}">
                <a16:creationId xmlns:a16="http://schemas.microsoft.com/office/drawing/2014/main" id="{EA4CCF86-95D8-B984-E002-7AC556EE4A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B93B27-AE8D-B489-19B8-42D3AE0FBB4C}"/>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099636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54062-9184-24F5-3859-C8CD17190D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B9290E-D399-DD38-A0B2-9E99DD5627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50F39A-75B3-9D86-FABD-48833BD824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A95B0B-3926-4458-D7E0-A016E2D19ECF}"/>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6" name="Footer Placeholder 5">
            <a:extLst>
              <a:ext uri="{FF2B5EF4-FFF2-40B4-BE49-F238E27FC236}">
                <a16:creationId xmlns:a16="http://schemas.microsoft.com/office/drawing/2014/main" id="{E1F274CC-B781-F448-408F-8F4784768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F126AA-611E-7758-2C07-19CE027562EC}"/>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3218325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A96AC-AA48-8A3A-0DC3-94426654C4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02944-BA90-A034-F1DC-655108A6B1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0F69DD-41E2-58CF-ABE2-839695A4D7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16CF85-D6AB-FD89-576A-05A4ACD91D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E11334-A96B-DCB5-B409-7C85BB289E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76147B-8C5E-ECB5-3E52-BA60AD739D62}"/>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8" name="Footer Placeholder 7">
            <a:extLst>
              <a:ext uri="{FF2B5EF4-FFF2-40B4-BE49-F238E27FC236}">
                <a16:creationId xmlns:a16="http://schemas.microsoft.com/office/drawing/2014/main" id="{B243CB02-DF04-9BB0-ACE2-1C23E9A5EE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AD1C9B-57DC-A40C-7FC7-108A79571AD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175584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F94E-6FC6-C8C8-2A66-7770A7E7D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964254-B6A6-D6EB-79AD-7B2320D7C10F}"/>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4" name="Footer Placeholder 3">
            <a:extLst>
              <a:ext uri="{FF2B5EF4-FFF2-40B4-BE49-F238E27FC236}">
                <a16:creationId xmlns:a16="http://schemas.microsoft.com/office/drawing/2014/main" id="{FA2BC0FE-EA42-DC01-4F7B-9A883E798A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E8A7A7-B5BF-0BF1-D666-5E3EDD16A14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1528679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120E3-1449-0CC6-7B53-D8E83F5F4A78}"/>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3" name="Footer Placeholder 2">
            <a:extLst>
              <a:ext uri="{FF2B5EF4-FFF2-40B4-BE49-F238E27FC236}">
                <a16:creationId xmlns:a16="http://schemas.microsoft.com/office/drawing/2014/main" id="{280F94D0-5355-78D0-AD9C-C9E2BBFCA3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6F103C-4E05-FB2B-29C8-A3B8830994F0}"/>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1892962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1CA5-1A69-2237-79E9-0D5996E0D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3E3B9C-0828-FA6D-B106-495D086F01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BB323D-78CE-74D8-71FF-E97647AB0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D8B3B-05F0-0B45-6C0A-5EE42B31C87A}"/>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6" name="Footer Placeholder 5">
            <a:extLst>
              <a:ext uri="{FF2B5EF4-FFF2-40B4-BE49-F238E27FC236}">
                <a16:creationId xmlns:a16="http://schemas.microsoft.com/office/drawing/2014/main" id="{61B41000-BB60-A508-834F-3961F3654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1546B9-F7E4-A8FA-8EFF-DE594C39BE7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2865437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E0E98-1A08-7D9E-2E71-7A425DE33A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8B5D25-A9FC-58BD-1992-CA2AE0361B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E882DD-BA41-55F5-5817-422EFCFC6B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3D686-B095-6417-E278-CBFDB3221021}"/>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6" name="Footer Placeholder 5">
            <a:extLst>
              <a:ext uri="{FF2B5EF4-FFF2-40B4-BE49-F238E27FC236}">
                <a16:creationId xmlns:a16="http://schemas.microsoft.com/office/drawing/2014/main" id="{75C64767-1E0B-14EA-E1A5-8F51A943FB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151A6-0E05-90E8-D266-F53AE1D3A37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229639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4CB7D-3AEA-5B16-F16A-2C967EF3B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158B66-1F22-A77D-CD9B-98FAE10A9F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8DC03-E249-A306-C97A-D48C6413BD20}"/>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5" name="Footer Placeholder 4">
            <a:extLst>
              <a:ext uri="{FF2B5EF4-FFF2-40B4-BE49-F238E27FC236}">
                <a16:creationId xmlns:a16="http://schemas.microsoft.com/office/drawing/2014/main" id="{15243A65-2993-25C3-DAE5-A4375BD679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6A31A-BB08-C177-E9BA-A2AFCAC06EA6}"/>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675857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CA5472-5C00-E25A-F991-A7A0B10CE4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BF3A74-CD59-9212-B854-F87CCA19EB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8C534-6B95-F563-9B8C-4D4F70F18AF8}"/>
              </a:ext>
            </a:extLst>
          </p:cNvPr>
          <p:cNvSpPr>
            <a:spLocks noGrp="1"/>
          </p:cNvSpPr>
          <p:nvPr>
            <p:ph type="dt" sz="half" idx="10"/>
          </p:nvPr>
        </p:nvSpPr>
        <p:spPr/>
        <p:txBody>
          <a:bodyPr/>
          <a:lstStyle/>
          <a:p>
            <a:fld id="{B6017DB1-095A-3048-955D-3F93E1115C69}" type="datetimeFigureOut">
              <a:rPr lang="en-US" smtClean="0"/>
              <a:t>7/27/23</a:t>
            </a:fld>
            <a:endParaRPr lang="en-US"/>
          </a:p>
        </p:txBody>
      </p:sp>
      <p:sp>
        <p:nvSpPr>
          <p:cNvPr id="5" name="Footer Placeholder 4">
            <a:extLst>
              <a:ext uri="{FF2B5EF4-FFF2-40B4-BE49-F238E27FC236}">
                <a16:creationId xmlns:a16="http://schemas.microsoft.com/office/drawing/2014/main" id="{D0D7F93D-4BA3-9C78-5979-21D1BF974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5C57E1-00D1-86D0-453D-F38988E9D0A0}"/>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753258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55563D-20DE-F641-E207-E6AF7668C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E87AFC-C472-A85F-4EE0-D8FBBF23F0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98237-037B-5105-98BC-69C246EE2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17DB1-095A-3048-955D-3F93E1115C69}" type="datetimeFigureOut">
              <a:rPr lang="en-US" smtClean="0"/>
              <a:t>7/27/23</a:t>
            </a:fld>
            <a:endParaRPr lang="en-US"/>
          </a:p>
        </p:txBody>
      </p:sp>
      <p:sp>
        <p:nvSpPr>
          <p:cNvPr id="5" name="Footer Placeholder 4">
            <a:extLst>
              <a:ext uri="{FF2B5EF4-FFF2-40B4-BE49-F238E27FC236}">
                <a16:creationId xmlns:a16="http://schemas.microsoft.com/office/drawing/2014/main" id="{79315F23-E9C4-F653-64AD-3A9C8B807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4FFDABF-605F-C701-F2D3-70C61B1411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90407-6505-4D4E-81E9-DA7247B31479}" type="slidenum">
              <a:rPr lang="en-US" smtClean="0"/>
              <a:t>‹#›</a:t>
            </a:fld>
            <a:endParaRPr lang="en-US"/>
          </a:p>
        </p:txBody>
      </p:sp>
    </p:spTree>
    <p:extLst>
      <p:ext uri="{BB962C8B-B14F-4D97-AF65-F5344CB8AC3E}">
        <p14:creationId xmlns:p14="http://schemas.microsoft.com/office/powerpoint/2010/main" val="3552210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333752" y="157829"/>
            <a:ext cx="6327937" cy="1600438"/>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1. Experimental timeline and raw P-V loop data extraction timepoints. </a:t>
            </a:r>
            <a:r>
              <a:rPr lang="en-US" sz="1400" dirty="0">
                <a:latin typeface="Arial" panose="020B0604020202020204" pitchFamily="34" charset="0"/>
                <a:cs typeface="Arial" panose="020B0604020202020204" pitchFamily="34" charset="0"/>
              </a:rPr>
              <a:t>P-V data was extracted from baseline (T0), at the end of 25% hemorrhage (i.e., 30 minutes after baseline, T30) and after 44 minutes of intervention with REBOA or EVAC (i.e., T74). During each experimental timepoint, data was extracted from the pre-inferior vena cava occlusion (IVCO), during IVCO and post-IVCO. Average time of IVCO was 15 seconds. For pre- and post-IVCO segments, data was sampled over 1 minute.</a:t>
            </a:r>
            <a:endParaRPr lang="en-US" sz="1400" b="1" dirty="0">
              <a:latin typeface="Arial" panose="020B0604020202020204" pitchFamily="34" charset="0"/>
              <a:cs typeface="Arial" panose="020B0604020202020204" pitchFamily="34" charset="0"/>
            </a:endParaRPr>
          </a:p>
        </p:txBody>
      </p:sp>
      <p:grpSp>
        <p:nvGrpSpPr>
          <p:cNvPr id="10" name="Group 9"/>
          <p:cNvGrpSpPr/>
          <p:nvPr/>
        </p:nvGrpSpPr>
        <p:grpSpPr>
          <a:xfrm>
            <a:off x="7380514" y="1578428"/>
            <a:ext cx="3001813" cy="5128185"/>
            <a:chOff x="8507291" y="1198589"/>
            <a:chExt cx="2952750" cy="5222920"/>
          </a:xfrm>
        </p:grpSpPr>
        <p:pic>
          <p:nvPicPr>
            <p:cNvPr id="2" name="Picture 1">
              <a:extLst>
                <a:ext uri="{FF2B5EF4-FFF2-40B4-BE49-F238E27FC236}">
                  <a16:creationId xmlns:a16="http://schemas.microsoft.com/office/drawing/2014/main" id="{EC1A1F4B-D98F-B0FB-5454-F4AE456FC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7291" y="1198589"/>
              <a:ext cx="2952750" cy="2152650"/>
            </a:xfrm>
            <a:prstGeom prst="rect">
              <a:avLst/>
            </a:prstGeom>
          </p:spPr>
        </p:pic>
        <p:pic>
          <p:nvPicPr>
            <p:cNvPr id="3" name="Picture 2">
              <a:extLst>
                <a:ext uri="{FF2B5EF4-FFF2-40B4-BE49-F238E27FC236}">
                  <a16:creationId xmlns:a16="http://schemas.microsoft.com/office/drawing/2014/main" id="{8D97272A-DDA6-5F90-71E8-B61533B5C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7291" y="4268859"/>
              <a:ext cx="2952750" cy="2152650"/>
            </a:xfrm>
            <a:prstGeom prst="rect">
              <a:avLst/>
            </a:prstGeom>
          </p:spPr>
        </p:pic>
        <p:grpSp>
          <p:nvGrpSpPr>
            <p:cNvPr id="9" name="Group 8">
              <a:extLst>
                <a:ext uri="{FF2B5EF4-FFF2-40B4-BE49-F238E27FC236}">
                  <a16:creationId xmlns:a16="http://schemas.microsoft.com/office/drawing/2014/main" id="{1D08576B-2A80-84AC-FE23-7F229D5C04E8}"/>
                </a:ext>
              </a:extLst>
            </p:cNvPr>
            <p:cNvGrpSpPr/>
            <p:nvPr/>
          </p:nvGrpSpPr>
          <p:grpSpPr>
            <a:xfrm>
              <a:off x="8829463" y="1381750"/>
              <a:ext cx="2587385" cy="4749556"/>
              <a:chOff x="8986262" y="1201788"/>
              <a:chExt cx="2587385" cy="5098428"/>
            </a:xfrm>
          </p:grpSpPr>
          <p:sp>
            <p:nvSpPr>
              <p:cNvPr id="6" name="Rectangle 5">
                <a:extLst>
                  <a:ext uri="{FF2B5EF4-FFF2-40B4-BE49-F238E27FC236}">
                    <a16:creationId xmlns:a16="http://schemas.microsoft.com/office/drawing/2014/main" id="{6458F3EB-78A3-1368-70C7-D05AF058E1CD}"/>
                  </a:ext>
                </a:extLst>
              </p:cNvPr>
              <p:cNvSpPr/>
              <p:nvPr/>
            </p:nvSpPr>
            <p:spPr>
              <a:xfrm>
                <a:off x="8986262" y="1201788"/>
                <a:ext cx="969264" cy="5098428"/>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sp>
            <p:nvSpPr>
              <p:cNvPr id="7" name="Rectangle 6">
                <a:extLst>
                  <a:ext uri="{FF2B5EF4-FFF2-40B4-BE49-F238E27FC236}">
                    <a16:creationId xmlns:a16="http://schemas.microsoft.com/office/drawing/2014/main" id="{5408DDAF-BF7A-6944-60D1-3278438922E5}"/>
                  </a:ext>
                </a:extLst>
              </p:cNvPr>
              <p:cNvSpPr/>
              <p:nvPr/>
            </p:nvSpPr>
            <p:spPr>
              <a:xfrm>
                <a:off x="10277698" y="1201788"/>
                <a:ext cx="1295949" cy="5098428"/>
              </a:xfrm>
              <a:prstGeom prst="rect">
                <a:avLst/>
              </a:prstGeom>
              <a:noFill/>
              <a:ln w="2857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grpSp>
        <p:cxnSp>
          <p:nvCxnSpPr>
            <p:cNvPr id="12" name="Straight Arrow Connector 11">
              <a:extLst>
                <a:ext uri="{FF2B5EF4-FFF2-40B4-BE49-F238E27FC236}">
                  <a16:creationId xmlns:a16="http://schemas.microsoft.com/office/drawing/2014/main" id="{7BF974F5-3C0A-A339-5684-C9C069140BC7}"/>
                </a:ext>
              </a:extLst>
            </p:cNvPr>
            <p:cNvCxnSpPr>
              <a:cxnSpLocks/>
            </p:cNvCxnSpPr>
            <p:nvPr/>
          </p:nvCxnSpPr>
          <p:spPr>
            <a:xfrm flipH="1" flipV="1">
              <a:off x="8838353" y="3790186"/>
              <a:ext cx="941832" cy="1"/>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A4C6101-CD2C-B304-E7FB-6396D82445DA}"/>
                </a:ext>
              </a:extLst>
            </p:cNvPr>
            <p:cNvCxnSpPr>
              <a:cxnSpLocks/>
            </p:cNvCxnSpPr>
            <p:nvPr/>
          </p:nvCxnSpPr>
          <p:spPr>
            <a:xfrm flipH="1">
              <a:off x="10138879" y="3790185"/>
              <a:ext cx="1259236" cy="1"/>
            </a:xfrm>
            <a:prstGeom prst="straightConnector1">
              <a:avLst/>
            </a:prstGeom>
            <a:ln w="28575">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44035CB-81FA-2CBC-85FF-42F7CC846FA6}"/>
                </a:ext>
              </a:extLst>
            </p:cNvPr>
            <p:cNvCxnSpPr>
              <a:cxnSpLocks/>
            </p:cNvCxnSpPr>
            <p:nvPr/>
          </p:nvCxnSpPr>
          <p:spPr>
            <a:xfrm flipH="1" flipV="1">
              <a:off x="9813427" y="3790187"/>
              <a:ext cx="314809" cy="2"/>
            </a:xfrm>
            <a:prstGeom prst="straightConnector1">
              <a:avLst/>
            </a:prstGeom>
            <a:ln w="2857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DBA3AF7-183C-54BD-10A2-BEA27189E8E4}"/>
                </a:ext>
              </a:extLst>
            </p:cNvPr>
            <p:cNvSpPr txBox="1"/>
            <p:nvPr/>
          </p:nvSpPr>
          <p:spPr>
            <a:xfrm>
              <a:off x="8838353" y="3556304"/>
              <a:ext cx="941832" cy="461665"/>
            </a:xfrm>
            <a:prstGeom prst="rect">
              <a:avLst/>
            </a:prstGeom>
            <a:noFill/>
          </p:spPr>
          <p:txBody>
            <a:bodyPr wrap="square" rtlCol="0">
              <a:spAutoFit/>
            </a:bodyPr>
            <a:lstStyle/>
            <a:p>
              <a:pPr algn="ctr"/>
              <a:r>
                <a:rPr lang="en-US" sz="1200" dirty="0">
                  <a:solidFill>
                    <a:schemeClr val="accent1"/>
                  </a:solidFill>
                </a:rPr>
                <a:t>Pre-</a:t>
              </a:r>
            </a:p>
            <a:p>
              <a:pPr algn="ctr"/>
              <a:r>
                <a:rPr lang="en-US" sz="1200" dirty="0">
                  <a:solidFill>
                    <a:schemeClr val="accent1"/>
                  </a:solidFill>
                </a:rPr>
                <a:t>IVCO</a:t>
              </a:r>
            </a:p>
          </p:txBody>
        </p:sp>
        <p:sp>
          <p:nvSpPr>
            <p:cNvPr id="25" name="TextBox 24">
              <a:extLst>
                <a:ext uri="{FF2B5EF4-FFF2-40B4-BE49-F238E27FC236}">
                  <a16:creationId xmlns:a16="http://schemas.microsoft.com/office/drawing/2014/main" id="{65722907-345A-46C1-D5F1-75F40EBB383E}"/>
                </a:ext>
              </a:extLst>
            </p:cNvPr>
            <p:cNvSpPr txBox="1"/>
            <p:nvPr/>
          </p:nvSpPr>
          <p:spPr>
            <a:xfrm rot="16200000">
              <a:off x="9440663" y="3713784"/>
              <a:ext cx="1019184" cy="272472"/>
            </a:xfrm>
            <a:prstGeom prst="rect">
              <a:avLst/>
            </a:prstGeom>
            <a:noFill/>
          </p:spPr>
          <p:txBody>
            <a:bodyPr wrap="square" rtlCol="0">
              <a:spAutoFit/>
            </a:bodyPr>
            <a:lstStyle/>
            <a:p>
              <a:pPr algn="ctr"/>
              <a:r>
                <a:rPr lang="en-US" sz="1200" dirty="0">
                  <a:solidFill>
                    <a:schemeClr val="accent2"/>
                  </a:solidFill>
                </a:rPr>
                <a:t>During  IVCO</a:t>
              </a:r>
            </a:p>
          </p:txBody>
        </p:sp>
        <p:sp>
          <p:nvSpPr>
            <p:cNvPr id="26" name="TextBox 25">
              <a:extLst>
                <a:ext uri="{FF2B5EF4-FFF2-40B4-BE49-F238E27FC236}">
                  <a16:creationId xmlns:a16="http://schemas.microsoft.com/office/drawing/2014/main" id="{4FEEA11F-BBDD-BAA5-14DD-51095A94DCAE}"/>
                </a:ext>
              </a:extLst>
            </p:cNvPr>
            <p:cNvSpPr txBox="1"/>
            <p:nvPr/>
          </p:nvSpPr>
          <p:spPr>
            <a:xfrm>
              <a:off x="10450640" y="3556303"/>
              <a:ext cx="629126" cy="461665"/>
            </a:xfrm>
            <a:prstGeom prst="rect">
              <a:avLst/>
            </a:prstGeom>
            <a:noFill/>
          </p:spPr>
          <p:txBody>
            <a:bodyPr wrap="square" rtlCol="0">
              <a:spAutoFit/>
            </a:bodyPr>
            <a:lstStyle/>
            <a:p>
              <a:pPr algn="ctr"/>
              <a:r>
                <a:rPr lang="en-US" sz="1200" dirty="0">
                  <a:solidFill>
                    <a:schemeClr val="accent6"/>
                  </a:solidFill>
                </a:rPr>
                <a:t>Post-</a:t>
              </a:r>
            </a:p>
            <a:p>
              <a:pPr algn="ctr"/>
              <a:r>
                <a:rPr lang="en-US" sz="1200" dirty="0">
                  <a:solidFill>
                    <a:schemeClr val="accent6"/>
                  </a:solidFill>
                </a:rPr>
                <a:t>IVCO</a:t>
              </a:r>
            </a:p>
          </p:txBody>
        </p:sp>
        <p:sp>
          <p:nvSpPr>
            <p:cNvPr id="27" name="Rectangle 26">
              <a:extLst>
                <a:ext uri="{FF2B5EF4-FFF2-40B4-BE49-F238E27FC236}">
                  <a16:creationId xmlns:a16="http://schemas.microsoft.com/office/drawing/2014/main" id="{21FB875F-E113-BA6F-B107-B308A0DE1654}"/>
                </a:ext>
              </a:extLst>
            </p:cNvPr>
            <p:cNvSpPr/>
            <p:nvPr/>
          </p:nvSpPr>
          <p:spPr>
            <a:xfrm>
              <a:off x="9798503" y="1381750"/>
              <a:ext cx="322395" cy="4749556"/>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grpSp>
      <p:graphicFrame>
        <p:nvGraphicFramePr>
          <p:cNvPr id="8" name="Diagram 7"/>
          <p:cNvGraphicFramePr/>
          <p:nvPr>
            <p:extLst>
              <p:ext uri="{D42A27DB-BD31-4B8C-83A1-F6EECF244321}">
                <p14:modId xmlns:p14="http://schemas.microsoft.com/office/powerpoint/2010/main" val="2937262168"/>
              </p:ext>
            </p:extLst>
          </p:nvPr>
        </p:nvGraphicFramePr>
        <p:xfrm>
          <a:off x="6705600" y="-1382215"/>
          <a:ext cx="4971393" cy="48410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78453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5F0A0EC-A179-3187-A05B-400FDE5C0898}"/>
              </a:ext>
            </a:extLst>
          </p:cNvPr>
          <p:cNvPicPr>
            <a:picLocks noChangeAspect="1" noChangeArrowheads="1"/>
          </p:cNvPicPr>
          <p:nvPr/>
        </p:nvPicPr>
        <p:blipFill>
          <a:blip r:embed="rId2"/>
          <a:stretch>
            <a:fillRect/>
          </a:stretch>
        </p:blipFill>
        <p:spPr bwMode="auto">
          <a:xfrm>
            <a:off x="7193249" y="18090"/>
            <a:ext cx="4429154" cy="22756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A8A8D31-1B00-3F4C-B543-5C9C738958CA}"/>
              </a:ext>
            </a:extLst>
          </p:cNvPr>
          <p:cNvSpPr txBox="1"/>
          <p:nvPr/>
        </p:nvSpPr>
        <p:spPr>
          <a:xfrm>
            <a:off x="447040" y="111314"/>
            <a:ext cx="6066755" cy="2462213"/>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2. Ensemble average P-V loops. </a:t>
            </a:r>
            <a:r>
              <a:rPr lang="en-US" sz="1400" dirty="0">
                <a:latin typeface="Arial" panose="020B0604020202020204" pitchFamily="34" charset="0"/>
                <a:cs typeface="Arial" panose="020B0604020202020204" pitchFamily="34" charset="0"/>
              </a:rPr>
              <a:t>Pressure-volume loops were averaged for all pigs in the three intervention groups: Control (blue), REBOA (red) and EVAC (purple) (n=6/group). These figures illustrate the ensemble averaged P-V loops at </a:t>
            </a:r>
            <a:r>
              <a:rPr lang="en-US" sz="1400" b="1" dirty="0">
                <a:latin typeface="Arial" panose="020B0604020202020204" pitchFamily="34" charset="0"/>
                <a:cs typeface="Arial" panose="020B0604020202020204" pitchFamily="34" charset="0"/>
              </a:rPr>
              <a:t>A) baseline (T0)</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B) end of hemorrhage (T30), </a:t>
            </a:r>
            <a:r>
              <a:rPr lang="en-US" sz="1400" dirty="0">
                <a:latin typeface="Arial" panose="020B0604020202020204" pitchFamily="34" charset="0"/>
                <a:cs typeface="Arial" panose="020B0604020202020204" pitchFamily="34" charset="0"/>
              </a:rPr>
              <a:t>and </a:t>
            </a:r>
            <a:r>
              <a:rPr lang="en-US" sz="1400" b="1" dirty="0">
                <a:latin typeface="Arial" panose="020B0604020202020204" pitchFamily="34" charset="0"/>
                <a:cs typeface="Arial" panose="020B0604020202020204" pitchFamily="34" charset="0"/>
              </a:rPr>
              <a:t>C) end of intervention (T74)</a:t>
            </a:r>
            <a:r>
              <a:rPr lang="en-US" sz="1400" dirty="0">
                <a:latin typeface="Arial" panose="020B0604020202020204" pitchFamily="34" charset="0"/>
                <a:cs typeface="Arial" panose="020B0604020202020204" pitchFamily="34" charset="0"/>
              </a:rPr>
              <a:t> for each group. As expected, P-V loops get smaller at the end of hemorrhage, reflective of lower pressures and volumes, followed by a significant increase in pressure and volume with the REBOA intervention. Panel C illustrates the averaged P-V loops each group as well as one of the REBOA pigs (red-dotted line), which illustrates a major deviation from the “averaged” P-V response. A significant amount of subject variability was observed in the REBOA group.</a:t>
            </a:r>
          </a:p>
        </p:txBody>
      </p:sp>
      <p:sp>
        <p:nvSpPr>
          <p:cNvPr id="4" name="TextBox 3">
            <a:extLst>
              <a:ext uri="{FF2B5EF4-FFF2-40B4-BE49-F238E27FC236}">
                <a16:creationId xmlns:a16="http://schemas.microsoft.com/office/drawing/2014/main" id="{DA359974-E3A8-2F72-0034-E98F76E396F2}"/>
              </a:ext>
            </a:extLst>
          </p:cNvPr>
          <p:cNvSpPr txBox="1"/>
          <p:nvPr/>
        </p:nvSpPr>
        <p:spPr>
          <a:xfrm>
            <a:off x="6738530" y="111314"/>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1" name="TextBox 10">
            <a:extLst>
              <a:ext uri="{FF2B5EF4-FFF2-40B4-BE49-F238E27FC236}">
                <a16:creationId xmlns:a16="http://schemas.microsoft.com/office/drawing/2014/main" id="{0C6527C3-C415-D503-F5D4-8AF7212EAC7C}"/>
              </a:ext>
            </a:extLst>
          </p:cNvPr>
          <p:cNvSpPr txBox="1"/>
          <p:nvPr/>
        </p:nvSpPr>
        <p:spPr>
          <a:xfrm>
            <a:off x="6738530" y="2561893"/>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pic>
        <p:nvPicPr>
          <p:cNvPr id="1028" name="Picture 4">
            <a:extLst>
              <a:ext uri="{FF2B5EF4-FFF2-40B4-BE49-F238E27FC236}">
                <a16:creationId xmlns:a16="http://schemas.microsoft.com/office/drawing/2014/main" id="{F3561105-690E-F0B9-F010-127B1B4E4F2C}"/>
              </a:ext>
            </a:extLst>
          </p:cNvPr>
          <p:cNvPicPr>
            <a:picLocks noChangeAspect="1" noChangeArrowheads="1"/>
          </p:cNvPicPr>
          <p:nvPr/>
        </p:nvPicPr>
        <p:blipFill>
          <a:blip r:embed="rId3"/>
          <a:stretch>
            <a:fillRect/>
          </a:stretch>
        </p:blipFill>
        <p:spPr bwMode="auto">
          <a:xfrm>
            <a:off x="7188000" y="2293353"/>
            <a:ext cx="4439652" cy="22810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iagram&#10;&#10;Description automatically generated">
            <a:extLst>
              <a:ext uri="{FF2B5EF4-FFF2-40B4-BE49-F238E27FC236}">
                <a16:creationId xmlns:a16="http://schemas.microsoft.com/office/drawing/2014/main" id="{8335DC1B-C0A0-90FB-E407-0523A6316BE0}"/>
              </a:ext>
            </a:extLst>
          </p:cNvPr>
          <p:cNvPicPr>
            <a:picLocks noChangeAspect="1" noChangeArrowheads="1"/>
          </p:cNvPicPr>
          <p:nvPr/>
        </p:nvPicPr>
        <p:blipFill>
          <a:blip r:embed="rId4"/>
          <a:stretch>
            <a:fillRect/>
          </a:stretch>
        </p:blipFill>
        <p:spPr bwMode="auto">
          <a:xfrm>
            <a:off x="7188000" y="4567780"/>
            <a:ext cx="4439652" cy="228108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94ECFC1-C867-4884-E81F-51CC9E013CE1}"/>
              </a:ext>
            </a:extLst>
          </p:cNvPr>
          <p:cNvSpPr txBox="1"/>
          <p:nvPr/>
        </p:nvSpPr>
        <p:spPr>
          <a:xfrm>
            <a:off x="6738530" y="4673918"/>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
        <p:nvSpPr>
          <p:cNvPr id="2" name="TextBox 1">
            <a:extLst>
              <a:ext uri="{FF2B5EF4-FFF2-40B4-BE49-F238E27FC236}">
                <a16:creationId xmlns:a16="http://schemas.microsoft.com/office/drawing/2014/main" id="{A7913F05-89D0-0924-E400-0B8D28D6E8B8}"/>
              </a:ext>
            </a:extLst>
          </p:cNvPr>
          <p:cNvSpPr txBox="1"/>
          <p:nvPr/>
        </p:nvSpPr>
        <p:spPr>
          <a:xfrm>
            <a:off x="7699809" y="124817"/>
            <a:ext cx="1614488"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T0</a:t>
            </a:r>
          </a:p>
        </p:txBody>
      </p:sp>
      <p:sp>
        <p:nvSpPr>
          <p:cNvPr id="3" name="TextBox 2">
            <a:extLst>
              <a:ext uri="{FF2B5EF4-FFF2-40B4-BE49-F238E27FC236}">
                <a16:creationId xmlns:a16="http://schemas.microsoft.com/office/drawing/2014/main" id="{B20C20AC-DDBC-AE0C-EA55-1304E3941064}"/>
              </a:ext>
            </a:extLst>
          </p:cNvPr>
          <p:cNvSpPr txBox="1"/>
          <p:nvPr/>
        </p:nvSpPr>
        <p:spPr>
          <a:xfrm>
            <a:off x="7694559" y="2419638"/>
            <a:ext cx="2578153"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T30</a:t>
            </a:r>
          </a:p>
        </p:txBody>
      </p:sp>
      <p:sp>
        <p:nvSpPr>
          <p:cNvPr id="6" name="TextBox 5">
            <a:extLst>
              <a:ext uri="{FF2B5EF4-FFF2-40B4-BE49-F238E27FC236}">
                <a16:creationId xmlns:a16="http://schemas.microsoft.com/office/drawing/2014/main" id="{5358E729-09F5-DD42-2435-D0DD905A3EA5}"/>
              </a:ext>
            </a:extLst>
          </p:cNvPr>
          <p:cNvSpPr txBox="1"/>
          <p:nvPr/>
        </p:nvSpPr>
        <p:spPr>
          <a:xfrm>
            <a:off x="7694558" y="4673918"/>
            <a:ext cx="2578153"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T74</a:t>
            </a:r>
          </a:p>
        </p:txBody>
      </p:sp>
    </p:spTree>
    <p:extLst>
      <p:ext uri="{BB962C8B-B14F-4D97-AF65-F5344CB8AC3E}">
        <p14:creationId xmlns:p14="http://schemas.microsoft.com/office/powerpoint/2010/main" val="3267645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1" y="-30032"/>
            <a:ext cx="6561538" cy="6771084"/>
          </a:xfrm>
          <a:prstGeom prst="rect">
            <a:avLst/>
          </a:prstGeom>
          <a:noFill/>
        </p:spPr>
        <p:txBody>
          <a:bodyPr wrap="square" lIns="91440" tIns="45720" rIns="91440" bIns="45720" rtlCol="0" anchor="t">
            <a:spAutoFit/>
          </a:bodyPr>
          <a:lstStyle/>
          <a:p>
            <a:r>
              <a:rPr lang="en-US" sz="1400" b="1" dirty="0">
                <a:latin typeface="Arial"/>
                <a:cs typeface="Arial"/>
              </a:rPr>
              <a:t>Figure 3. Comparison of end-systolic and end-diastolic pressures and volumes by intervention group. </a:t>
            </a:r>
            <a:r>
              <a:rPr lang="en-US" sz="1400" dirty="0">
                <a:latin typeface="Arial"/>
                <a:cs typeface="Arial"/>
              </a:rPr>
              <a:t>Average End-Systolic A) Pressure (ESP) and B) Volume (ESV) as well as End-Diastolic C) Pressure (EDP) and D) Volume (EDV) are plotted over time by group (n=6/group). Red asterisks (</a:t>
            </a:r>
            <a:r>
              <a:rPr lang="en-US" sz="1400" dirty="0">
                <a:solidFill>
                  <a:srgbClr val="FF0000"/>
                </a:solidFill>
                <a:latin typeface="Arial"/>
                <a:cs typeface="Arial"/>
              </a:rPr>
              <a:t>*</a:t>
            </a:r>
            <a:r>
              <a:rPr lang="en-US" sz="1400" dirty="0">
                <a:latin typeface="Arial"/>
                <a:cs typeface="Arial"/>
              </a:rPr>
              <a:t>) represent statistically significant differences between time, where T0 (baseline) is the referent time. Significant effects between groups are illustrated with a green psi (</a:t>
            </a:r>
            <a:r>
              <a:rPr lang="el-GR" sz="1400" dirty="0">
                <a:solidFill>
                  <a:srgbClr val="00B050"/>
                </a:solidFill>
                <a:latin typeface="Arial"/>
                <a:cs typeface="Arial"/>
              </a:rPr>
              <a:t>ψ</a:t>
            </a:r>
            <a:r>
              <a:rPr lang="en-US" sz="1400" dirty="0">
                <a:latin typeface="Arial"/>
                <a:cs typeface="Arial"/>
              </a:rPr>
              <a:t>) symbol, where the control group is the referent group. The diamond shaped crosses are extreme data points from each group. </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3A)</a:t>
            </a:r>
            <a:r>
              <a:rPr lang="en-US" sz="1400" dirty="0">
                <a:latin typeface="Arial" panose="020B0604020202020204" pitchFamily="34" charset="0"/>
                <a:cs typeface="Arial" panose="020B0604020202020204" pitchFamily="34" charset="0"/>
              </a:rPr>
              <a:t> After hemorrhage in all treatment groups,</a:t>
            </a:r>
          </a:p>
          <a:p>
            <a:r>
              <a:rPr lang="en-US" sz="1400" dirty="0">
                <a:latin typeface="Arial" panose="020B0604020202020204" pitchFamily="34" charset="0"/>
                <a:cs typeface="Arial" panose="020B0604020202020204" pitchFamily="34" charset="0"/>
              </a:rPr>
              <a:t>ESP significantly decreased by an average of 50.7 mmHg with a 95% Confidence Interval (CI) [-58.4, -41.7 mmHg], p&lt;0.001. </a:t>
            </a:r>
          </a:p>
          <a:p>
            <a:r>
              <a:rPr lang="en-US" sz="1400" dirty="0">
                <a:latin typeface="Arial" panose="020B0604020202020204" pitchFamily="34" charset="0"/>
                <a:cs typeface="Arial" panose="020B0604020202020204" pitchFamily="34" charset="0"/>
              </a:rPr>
              <a:t>At T74, the REBOA group experienced an average increase in ESP by 140.2 mmHg (95%CI [102.7, 184.6 mmHg], p&lt;0.001), while EVAC was associated with an average increase of 76.4 mmHg (95%CI [47.5, 110.9 mmHg], p&lt;0.001).</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3B)</a:t>
            </a:r>
            <a:r>
              <a:rPr lang="en-US" sz="1400" dirty="0">
                <a:latin typeface="Arial" panose="020B0604020202020204" pitchFamily="34" charset="0"/>
                <a:cs typeface="Arial" panose="020B0604020202020204" pitchFamily="34" charset="0"/>
              </a:rPr>
              <a:t> ESV was found to have significantly decreased after hemorrhage in all groups, with an average decreased by 57.7 mL (95%CI [-63.7, -50.7 mL], p&lt;0.001). In all groups at T74, however, there were no significant differences with the baseline conditions.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3C)</a:t>
            </a:r>
            <a:r>
              <a:rPr lang="en-US" sz="1400" dirty="0">
                <a:latin typeface="Arial" panose="020B0604020202020204" pitchFamily="34" charset="0"/>
                <a:cs typeface="Arial" panose="020B0604020202020204" pitchFamily="34" charset="0"/>
              </a:rPr>
              <a:t> There were no significant differences in EDP when compared to baseline conditions in all groups, with the exception of the REBOA group at T30; however, the average across all groups at T30 was not significantly decreased when compared to the baseline state, with a pooled decrease of 2.35 mmHg (95%CI [-4.8, .13 mmHg], p=0.064).</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3D)</a:t>
            </a:r>
            <a:r>
              <a:rPr lang="en-US" sz="1400" dirty="0">
                <a:latin typeface="Arial" panose="020B0604020202020204" pitchFamily="34" charset="0"/>
                <a:cs typeface="Arial" panose="020B0604020202020204" pitchFamily="34" charset="0"/>
              </a:rPr>
              <a:t> EDV was found to have significantly decreased after hemorrhage in all groups, with an average decreased by 42.7 mL (95%CI [-56.0, -29.7 mL], p&lt;0.001). In all groups at T74, however, there were no significant differences with the baseline conditions.</a:t>
            </a:r>
          </a:p>
        </p:txBody>
      </p:sp>
      <p:grpSp>
        <p:nvGrpSpPr>
          <p:cNvPr id="8" name="Group 7"/>
          <p:cNvGrpSpPr/>
          <p:nvPr/>
        </p:nvGrpSpPr>
        <p:grpSpPr>
          <a:xfrm>
            <a:off x="6459291" y="1079731"/>
            <a:ext cx="5723131" cy="4843028"/>
            <a:chOff x="3288003" y="1622358"/>
            <a:chExt cx="5723131" cy="4843028"/>
          </a:xfrm>
        </p:grpSpPr>
        <p:grpSp>
          <p:nvGrpSpPr>
            <p:cNvPr id="24" name="Group 23">
              <a:extLst>
                <a:ext uri="{FF2B5EF4-FFF2-40B4-BE49-F238E27FC236}">
                  <a16:creationId xmlns:a16="http://schemas.microsoft.com/office/drawing/2014/main" id="{06E2C270-52FC-8F58-99ED-8D0023570BA6}"/>
                </a:ext>
              </a:extLst>
            </p:cNvPr>
            <p:cNvGrpSpPr/>
            <p:nvPr/>
          </p:nvGrpSpPr>
          <p:grpSpPr>
            <a:xfrm>
              <a:off x="3864098" y="1622358"/>
              <a:ext cx="5147036" cy="4843028"/>
              <a:chOff x="4978813" y="1506209"/>
              <a:chExt cx="5147036" cy="4843028"/>
            </a:xfrm>
          </p:grpSpPr>
          <p:pic>
            <p:nvPicPr>
              <p:cNvPr id="13" name="Picture 12">
                <a:extLst>
                  <a:ext uri="{FF2B5EF4-FFF2-40B4-BE49-F238E27FC236}">
                    <a16:creationId xmlns:a16="http://schemas.microsoft.com/office/drawing/2014/main" id="{2046B38C-DDB4-3BA1-7F6F-E4B8583964C7}"/>
                  </a:ext>
                </a:extLst>
              </p:cNvPr>
              <p:cNvPicPr>
                <a:picLocks noChangeAspect="1"/>
              </p:cNvPicPr>
              <p:nvPr/>
            </p:nvPicPr>
            <p:blipFill rotWithShape="1">
              <a:blip r:embed="rId2">
                <a:extLst>
                  <a:ext uri="{28A0092B-C50C-407E-A947-70E740481C1C}">
                    <a14:useLocalDpi xmlns:a14="http://schemas.microsoft.com/office/drawing/2010/main" val="0"/>
                  </a:ext>
                </a:extLst>
              </a:blip>
              <a:srcRect r="18249" b="10682"/>
              <a:stretch/>
            </p:blipFill>
            <p:spPr>
              <a:xfrm>
                <a:off x="7697707" y="3991129"/>
                <a:ext cx="2428142" cy="2358108"/>
              </a:xfrm>
              <a:prstGeom prst="rect">
                <a:avLst/>
              </a:prstGeom>
            </p:spPr>
          </p:pic>
          <p:pic>
            <p:nvPicPr>
              <p:cNvPr id="15" name="Picture 14">
                <a:extLst>
                  <a:ext uri="{FF2B5EF4-FFF2-40B4-BE49-F238E27FC236}">
                    <a16:creationId xmlns:a16="http://schemas.microsoft.com/office/drawing/2014/main" id="{A8C2B1F2-63DE-2FE3-DC94-38AC19F25024}"/>
                  </a:ext>
                </a:extLst>
              </p:cNvPr>
              <p:cNvPicPr>
                <a:picLocks noChangeAspect="1"/>
              </p:cNvPicPr>
              <p:nvPr/>
            </p:nvPicPr>
            <p:blipFill rotWithShape="1">
              <a:blip r:embed="rId3">
                <a:extLst>
                  <a:ext uri="{28A0092B-C50C-407E-A947-70E740481C1C}">
                    <a14:useLocalDpi xmlns:a14="http://schemas.microsoft.com/office/drawing/2010/main" val="0"/>
                  </a:ext>
                </a:extLst>
              </a:blip>
              <a:srcRect r="19801" b="12863"/>
              <a:stretch/>
            </p:blipFill>
            <p:spPr>
              <a:xfrm>
                <a:off x="5055619" y="3991607"/>
                <a:ext cx="2280128" cy="2258559"/>
              </a:xfrm>
              <a:prstGeom prst="rect">
                <a:avLst/>
              </a:prstGeom>
            </p:spPr>
          </p:pic>
          <p:pic>
            <p:nvPicPr>
              <p:cNvPr id="17" name="Picture 16">
                <a:extLst>
                  <a:ext uri="{FF2B5EF4-FFF2-40B4-BE49-F238E27FC236}">
                    <a16:creationId xmlns:a16="http://schemas.microsoft.com/office/drawing/2014/main" id="{E1AA4835-26B7-6C42-70DE-E690D1070630}"/>
                  </a:ext>
                </a:extLst>
              </p:cNvPr>
              <p:cNvPicPr>
                <a:picLocks noChangeAspect="1"/>
              </p:cNvPicPr>
              <p:nvPr/>
            </p:nvPicPr>
            <p:blipFill rotWithShape="1">
              <a:blip r:embed="rId4">
                <a:extLst>
                  <a:ext uri="{28A0092B-C50C-407E-A947-70E740481C1C}">
                    <a14:useLocalDpi xmlns:a14="http://schemas.microsoft.com/office/drawing/2010/main" val="0"/>
                  </a:ext>
                </a:extLst>
              </a:blip>
              <a:srcRect r="19019" b="12174"/>
              <a:stretch/>
            </p:blipFill>
            <p:spPr>
              <a:xfrm>
                <a:off x="7697769" y="1506209"/>
                <a:ext cx="2396482" cy="2310282"/>
              </a:xfrm>
              <a:prstGeom prst="rect">
                <a:avLst/>
              </a:prstGeom>
            </p:spPr>
          </p:pic>
          <p:pic>
            <p:nvPicPr>
              <p:cNvPr id="19" name="Picture 18">
                <a:extLst>
                  <a:ext uri="{FF2B5EF4-FFF2-40B4-BE49-F238E27FC236}">
                    <a16:creationId xmlns:a16="http://schemas.microsoft.com/office/drawing/2014/main" id="{65916D12-071B-BB18-3AC4-299F83134F42}"/>
                  </a:ext>
                </a:extLst>
              </p:cNvPr>
              <p:cNvPicPr>
                <a:picLocks noChangeAspect="1"/>
              </p:cNvPicPr>
              <p:nvPr/>
            </p:nvPicPr>
            <p:blipFill rotWithShape="1">
              <a:blip r:embed="rId5">
                <a:extLst>
                  <a:ext uri="{28A0092B-C50C-407E-A947-70E740481C1C}">
                    <a14:useLocalDpi xmlns:a14="http://schemas.microsoft.com/office/drawing/2010/main" val="0"/>
                  </a:ext>
                </a:extLst>
              </a:blip>
              <a:srcRect r="18502" b="13112"/>
              <a:stretch/>
            </p:blipFill>
            <p:spPr>
              <a:xfrm>
                <a:off x="4978813" y="1509336"/>
                <a:ext cx="2385512" cy="2260695"/>
              </a:xfrm>
              <a:prstGeom prst="rect">
                <a:avLst/>
              </a:prstGeom>
            </p:spPr>
          </p:pic>
        </p:grpSp>
        <p:sp>
          <p:nvSpPr>
            <p:cNvPr id="7" name="TextBox 6"/>
            <p:cNvSpPr txBox="1"/>
            <p:nvPr/>
          </p:nvSpPr>
          <p:spPr>
            <a:xfrm rot="16200000">
              <a:off x="2571457" y="2431324"/>
              <a:ext cx="1802423"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End-Systole</a:t>
              </a:r>
            </a:p>
          </p:txBody>
        </p:sp>
        <p:sp>
          <p:nvSpPr>
            <p:cNvPr id="14" name="TextBox 13"/>
            <p:cNvSpPr txBox="1"/>
            <p:nvPr/>
          </p:nvSpPr>
          <p:spPr>
            <a:xfrm rot="16200000">
              <a:off x="2571457" y="4933087"/>
              <a:ext cx="1802423"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End-Diastole</a:t>
              </a:r>
            </a:p>
          </p:txBody>
        </p:sp>
      </p:grpSp>
      <p:sp>
        <p:nvSpPr>
          <p:cNvPr id="2" name="TextBox 1">
            <a:extLst>
              <a:ext uri="{FF2B5EF4-FFF2-40B4-BE49-F238E27FC236}">
                <a16:creationId xmlns:a16="http://schemas.microsoft.com/office/drawing/2014/main" id="{44502008-0A12-BE98-95CB-5FC1A01FB9F8}"/>
              </a:ext>
            </a:extLst>
          </p:cNvPr>
          <p:cNvSpPr txBox="1"/>
          <p:nvPr/>
        </p:nvSpPr>
        <p:spPr>
          <a:xfrm>
            <a:off x="6744441" y="70694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3" name="TextBox 2">
            <a:extLst>
              <a:ext uri="{FF2B5EF4-FFF2-40B4-BE49-F238E27FC236}">
                <a16:creationId xmlns:a16="http://schemas.microsoft.com/office/drawing/2014/main" id="{FCEC8FF7-D77B-882C-3963-FF7A3C215F5F}"/>
              </a:ext>
            </a:extLst>
          </p:cNvPr>
          <p:cNvSpPr txBox="1"/>
          <p:nvPr/>
        </p:nvSpPr>
        <p:spPr>
          <a:xfrm>
            <a:off x="9503614" y="70694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4" name="TextBox 3">
            <a:extLst>
              <a:ext uri="{FF2B5EF4-FFF2-40B4-BE49-F238E27FC236}">
                <a16:creationId xmlns:a16="http://schemas.microsoft.com/office/drawing/2014/main" id="{034F03E9-AAD0-A131-1FDF-E8FAA4FB172F}"/>
              </a:ext>
            </a:extLst>
          </p:cNvPr>
          <p:cNvSpPr txBox="1"/>
          <p:nvPr/>
        </p:nvSpPr>
        <p:spPr>
          <a:xfrm>
            <a:off x="6744441" y="3162691"/>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
        <p:nvSpPr>
          <p:cNvPr id="6" name="TextBox 5">
            <a:extLst>
              <a:ext uri="{FF2B5EF4-FFF2-40B4-BE49-F238E27FC236}">
                <a16:creationId xmlns:a16="http://schemas.microsoft.com/office/drawing/2014/main" id="{4E23A5A6-C960-F900-7887-36894A7C6CA5}"/>
              </a:ext>
            </a:extLst>
          </p:cNvPr>
          <p:cNvSpPr txBox="1"/>
          <p:nvPr/>
        </p:nvSpPr>
        <p:spPr>
          <a:xfrm>
            <a:off x="9503614" y="3162691"/>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pic>
        <p:nvPicPr>
          <p:cNvPr id="18" name="Picture 17"/>
          <p:cNvPicPr>
            <a:picLocks noChangeAspect="1"/>
          </p:cNvPicPr>
          <p:nvPr/>
        </p:nvPicPr>
        <p:blipFill rotWithShape="1">
          <a:blip r:embed="rId6">
            <a:extLst>
              <a:ext uri="{28A0092B-C50C-407E-A947-70E740481C1C}">
                <a14:useLocalDpi xmlns:a14="http://schemas.microsoft.com/office/drawing/2010/main" val="0"/>
              </a:ext>
            </a:extLst>
          </a:blip>
          <a:srcRect l="4805" t="87810"/>
          <a:stretch/>
        </p:blipFill>
        <p:spPr>
          <a:xfrm>
            <a:off x="7436537" y="5762288"/>
            <a:ext cx="4134154" cy="495344"/>
          </a:xfrm>
          <a:prstGeom prst="rect">
            <a:avLst/>
          </a:prstGeom>
        </p:spPr>
      </p:pic>
      <p:sp>
        <p:nvSpPr>
          <p:cNvPr id="9" name="TextBox 8">
            <a:extLst>
              <a:ext uri="{FF2B5EF4-FFF2-40B4-BE49-F238E27FC236}">
                <a16:creationId xmlns:a16="http://schemas.microsoft.com/office/drawing/2014/main" id="{496214DA-ED88-9018-9922-338AC6F6DC01}"/>
              </a:ext>
            </a:extLst>
          </p:cNvPr>
          <p:cNvSpPr txBox="1"/>
          <p:nvPr/>
        </p:nvSpPr>
        <p:spPr>
          <a:xfrm>
            <a:off x="8131894" y="2420592"/>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0" name="TextBox 9">
            <a:extLst>
              <a:ext uri="{FF2B5EF4-FFF2-40B4-BE49-F238E27FC236}">
                <a16:creationId xmlns:a16="http://schemas.microsoft.com/office/drawing/2014/main" id="{30781A58-D061-1E12-2C57-4764360C808A}"/>
              </a:ext>
            </a:extLst>
          </p:cNvPr>
          <p:cNvSpPr txBox="1"/>
          <p:nvPr/>
        </p:nvSpPr>
        <p:spPr>
          <a:xfrm>
            <a:off x="8288424" y="241437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1" name="TextBox 10">
            <a:extLst>
              <a:ext uri="{FF2B5EF4-FFF2-40B4-BE49-F238E27FC236}">
                <a16:creationId xmlns:a16="http://schemas.microsoft.com/office/drawing/2014/main" id="{2FCACC71-C51A-3AF0-9B17-A393BBD47E89}"/>
              </a:ext>
            </a:extLst>
          </p:cNvPr>
          <p:cNvSpPr txBox="1"/>
          <p:nvPr/>
        </p:nvSpPr>
        <p:spPr>
          <a:xfrm>
            <a:off x="8455146" y="239625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0" name="TextBox 19">
            <a:extLst>
              <a:ext uri="{FF2B5EF4-FFF2-40B4-BE49-F238E27FC236}">
                <a16:creationId xmlns:a16="http://schemas.microsoft.com/office/drawing/2014/main" id="{93FEAE6F-26E5-262E-358C-8D84BF566C2F}"/>
              </a:ext>
            </a:extLst>
          </p:cNvPr>
          <p:cNvSpPr txBox="1"/>
          <p:nvPr/>
        </p:nvSpPr>
        <p:spPr>
          <a:xfrm>
            <a:off x="10877818" y="2326798"/>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1" name="TextBox 20">
            <a:extLst>
              <a:ext uri="{FF2B5EF4-FFF2-40B4-BE49-F238E27FC236}">
                <a16:creationId xmlns:a16="http://schemas.microsoft.com/office/drawing/2014/main" id="{09EC1CAA-06C9-1911-C72E-61740D933CC6}"/>
              </a:ext>
            </a:extLst>
          </p:cNvPr>
          <p:cNvSpPr txBox="1"/>
          <p:nvPr/>
        </p:nvSpPr>
        <p:spPr>
          <a:xfrm>
            <a:off x="11038561" y="2193171"/>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2" name="TextBox 21">
            <a:extLst>
              <a:ext uri="{FF2B5EF4-FFF2-40B4-BE49-F238E27FC236}">
                <a16:creationId xmlns:a16="http://schemas.microsoft.com/office/drawing/2014/main" id="{DE029340-B0C1-09FE-E231-26967893A530}"/>
              </a:ext>
            </a:extLst>
          </p:cNvPr>
          <p:cNvSpPr txBox="1"/>
          <p:nvPr/>
        </p:nvSpPr>
        <p:spPr>
          <a:xfrm>
            <a:off x="11198635" y="2266988"/>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3" name="TextBox 22">
            <a:extLst>
              <a:ext uri="{FF2B5EF4-FFF2-40B4-BE49-F238E27FC236}">
                <a16:creationId xmlns:a16="http://schemas.microsoft.com/office/drawing/2014/main" id="{0F13F4A5-72D8-A7B7-EB00-6DEFF427FE6D}"/>
              </a:ext>
            </a:extLst>
          </p:cNvPr>
          <p:cNvSpPr txBox="1"/>
          <p:nvPr/>
        </p:nvSpPr>
        <p:spPr>
          <a:xfrm>
            <a:off x="11481100" y="205289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5" name="TextBox 24">
            <a:extLst>
              <a:ext uri="{FF2B5EF4-FFF2-40B4-BE49-F238E27FC236}">
                <a16:creationId xmlns:a16="http://schemas.microsoft.com/office/drawing/2014/main" id="{54C21628-84A9-B4C9-E1D2-0F5FB700C763}"/>
              </a:ext>
            </a:extLst>
          </p:cNvPr>
          <p:cNvSpPr txBox="1"/>
          <p:nvPr/>
        </p:nvSpPr>
        <p:spPr>
          <a:xfrm>
            <a:off x="8304971" y="503605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7" name="TextBox 26">
            <a:extLst>
              <a:ext uri="{FF2B5EF4-FFF2-40B4-BE49-F238E27FC236}">
                <a16:creationId xmlns:a16="http://schemas.microsoft.com/office/drawing/2014/main" id="{6A0FE7E7-EDA3-1BA7-EAF2-58898EC8069D}"/>
              </a:ext>
            </a:extLst>
          </p:cNvPr>
          <p:cNvSpPr txBox="1"/>
          <p:nvPr/>
        </p:nvSpPr>
        <p:spPr>
          <a:xfrm>
            <a:off x="10870105" y="464626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8" name="TextBox 27">
            <a:extLst>
              <a:ext uri="{FF2B5EF4-FFF2-40B4-BE49-F238E27FC236}">
                <a16:creationId xmlns:a16="http://schemas.microsoft.com/office/drawing/2014/main" id="{92E916CC-9426-9EC9-E08D-1D93A1B5B540}"/>
              </a:ext>
            </a:extLst>
          </p:cNvPr>
          <p:cNvSpPr txBox="1"/>
          <p:nvPr/>
        </p:nvSpPr>
        <p:spPr>
          <a:xfrm>
            <a:off x="11032697" y="4402619"/>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9" name="TextBox 28">
            <a:extLst>
              <a:ext uri="{FF2B5EF4-FFF2-40B4-BE49-F238E27FC236}">
                <a16:creationId xmlns:a16="http://schemas.microsoft.com/office/drawing/2014/main" id="{A150A18B-E307-B15B-90A0-B2D01FCFAA2A}"/>
              </a:ext>
            </a:extLst>
          </p:cNvPr>
          <p:cNvSpPr txBox="1"/>
          <p:nvPr/>
        </p:nvSpPr>
        <p:spPr>
          <a:xfrm>
            <a:off x="11192857" y="479138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grpSp>
        <p:nvGrpSpPr>
          <p:cNvPr id="34" name="Group 33"/>
          <p:cNvGrpSpPr/>
          <p:nvPr/>
        </p:nvGrpSpPr>
        <p:grpSpPr>
          <a:xfrm>
            <a:off x="8871379" y="1236578"/>
            <a:ext cx="394124" cy="276999"/>
            <a:chOff x="8907096" y="1227054"/>
            <a:chExt cx="394124" cy="276999"/>
          </a:xfrm>
        </p:grpSpPr>
        <p:sp>
          <p:nvSpPr>
            <p:cNvPr id="12" name="TextBox 11">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6" name="TextBox 25"/>
            <p:cNvSpPr txBox="1"/>
            <p:nvPr/>
          </p:nvSpPr>
          <p:spPr>
            <a:xfrm>
              <a:off x="8976697" y="1239573"/>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grpSp>
      <p:grpSp>
        <p:nvGrpSpPr>
          <p:cNvPr id="35" name="Group 34"/>
          <p:cNvGrpSpPr/>
          <p:nvPr/>
        </p:nvGrpSpPr>
        <p:grpSpPr>
          <a:xfrm>
            <a:off x="9031536" y="1528163"/>
            <a:ext cx="394124" cy="276999"/>
            <a:chOff x="8907096" y="1227054"/>
            <a:chExt cx="394124" cy="276999"/>
          </a:xfrm>
        </p:grpSpPr>
        <p:sp>
          <p:nvSpPr>
            <p:cNvPr id="36" name="TextBox 35">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37" name="TextBox 36"/>
            <p:cNvSpPr txBox="1"/>
            <p:nvPr/>
          </p:nvSpPr>
          <p:spPr>
            <a:xfrm>
              <a:off x="8976697" y="1239573"/>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grpSp>
      <p:sp>
        <p:nvSpPr>
          <p:cNvPr id="40" name="TextBox 39"/>
          <p:cNvSpPr txBox="1"/>
          <p:nvPr/>
        </p:nvSpPr>
        <p:spPr>
          <a:xfrm>
            <a:off x="11652197" y="1562592"/>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sp>
        <p:nvSpPr>
          <p:cNvPr id="41" name="TextBox 40"/>
          <p:cNvSpPr txBox="1"/>
          <p:nvPr/>
        </p:nvSpPr>
        <p:spPr>
          <a:xfrm>
            <a:off x="11656959" y="3799591"/>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spTree>
    <p:extLst>
      <p:ext uri="{BB962C8B-B14F-4D97-AF65-F5344CB8AC3E}">
        <p14:creationId xmlns:p14="http://schemas.microsoft.com/office/powerpoint/2010/main" val="2743461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6341884" y="861004"/>
            <a:ext cx="5383392" cy="4713703"/>
            <a:chOff x="6341884" y="861004"/>
            <a:chExt cx="5383392" cy="4713703"/>
          </a:xfrm>
        </p:grpSpPr>
        <p:grpSp>
          <p:nvGrpSpPr>
            <p:cNvPr id="30" name="Group 29">
              <a:extLst>
                <a:ext uri="{FF2B5EF4-FFF2-40B4-BE49-F238E27FC236}">
                  <a16:creationId xmlns:a16="http://schemas.microsoft.com/office/drawing/2014/main" id="{A17B6206-B96F-0559-58FF-5F9CE68267FC}"/>
                </a:ext>
              </a:extLst>
            </p:cNvPr>
            <p:cNvGrpSpPr/>
            <p:nvPr/>
          </p:nvGrpSpPr>
          <p:grpSpPr>
            <a:xfrm>
              <a:off x="6365733" y="861004"/>
              <a:ext cx="5359543" cy="4713703"/>
              <a:chOff x="4341001" y="1028174"/>
              <a:chExt cx="4830228" cy="4348181"/>
            </a:xfrm>
          </p:grpSpPr>
          <p:pic>
            <p:nvPicPr>
              <p:cNvPr id="13" name="Picture 12">
                <a:extLst>
                  <a:ext uri="{FF2B5EF4-FFF2-40B4-BE49-F238E27FC236}">
                    <a16:creationId xmlns:a16="http://schemas.microsoft.com/office/drawing/2014/main" id="{2046B38C-DDB4-3BA1-7F6F-E4B8583964C7}"/>
                  </a:ext>
                </a:extLst>
              </p:cNvPr>
              <p:cNvPicPr>
                <a:picLocks noChangeAspect="1"/>
              </p:cNvPicPr>
              <p:nvPr/>
            </p:nvPicPr>
            <p:blipFill rotWithShape="1">
              <a:blip r:embed="rId2">
                <a:extLst>
                  <a:ext uri="{28A0092B-C50C-407E-A947-70E740481C1C}">
                    <a14:useLocalDpi xmlns:a14="http://schemas.microsoft.com/office/drawing/2010/main" val="0"/>
                  </a:ext>
                </a:extLst>
              </a:blip>
              <a:srcRect r="15458" b="15458"/>
              <a:stretch/>
            </p:blipFill>
            <p:spPr>
              <a:xfrm>
                <a:off x="6804628" y="3271289"/>
                <a:ext cx="2338247" cy="2103994"/>
              </a:xfrm>
              <a:prstGeom prst="rect">
                <a:avLst/>
              </a:prstGeom>
            </p:spPr>
          </p:pic>
          <p:pic>
            <p:nvPicPr>
              <p:cNvPr id="15" name="Picture 14">
                <a:extLst>
                  <a:ext uri="{FF2B5EF4-FFF2-40B4-BE49-F238E27FC236}">
                    <a16:creationId xmlns:a16="http://schemas.microsoft.com/office/drawing/2014/main" id="{A8C2B1F2-63DE-2FE3-DC94-38AC19F25024}"/>
                  </a:ext>
                </a:extLst>
              </p:cNvPr>
              <p:cNvPicPr>
                <a:picLocks noChangeAspect="1"/>
              </p:cNvPicPr>
              <p:nvPr/>
            </p:nvPicPr>
            <p:blipFill rotWithShape="1">
              <a:blip r:embed="rId3">
                <a:extLst>
                  <a:ext uri="{28A0092B-C50C-407E-A947-70E740481C1C}">
                    <a14:useLocalDpi xmlns:a14="http://schemas.microsoft.com/office/drawing/2010/main" val="0"/>
                  </a:ext>
                </a:extLst>
              </a:blip>
              <a:srcRect r="20189" b="16278"/>
              <a:stretch/>
            </p:blipFill>
            <p:spPr>
              <a:xfrm>
                <a:off x="4345584" y="3275582"/>
                <a:ext cx="2201151" cy="2100773"/>
              </a:xfrm>
              <a:prstGeom prst="rect">
                <a:avLst/>
              </a:prstGeom>
            </p:spPr>
          </p:pic>
          <p:pic>
            <p:nvPicPr>
              <p:cNvPr id="28" name="Picture 27">
                <a:extLst>
                  <a:ext uri="{FF2B5EF4-FFF2-40B4-BE49-F238E27FC236}">
                    <a16:creationId xmlns:a16="http://schemas.microsoft.com/office/drawing/2014/main" id="{F8DE877A-9A23-F915-F594-A7D34C6BC950}"/>
                  </a:ext>
                </a:extLst>
              </p:cNvPr>
              <p:cNvPicPr>
                <a:picLocks noChangeAspect="1"/>
              </p:cNvPicPr>
              <p:nvPr/>
            </p:nvPicPr>
            <p:blipFill rotWithShape="1">
              <a:blip r:embed="rId4">
                <a:extLst>
                  <a:ext uri="{28A0092B-C50C-407E-A947-70E740481C1C}">
                    <a14:useLocalDpi xmlns:a14="http://schemas.microsoft.com/office/drawing/2010/main" val="0"/>
                  </a:ext>
                </a:extLst>
              </a:blip>
              <a:srcRect r="16159" b="16159"/>
              <a:stretch/>
            </p:blipFill>
            <p:spPr>
              <a:xfrm>
                <a:off x="6784358" y="1040321"/>
                <a:ext cx="2386871" cy="2171610"/>
              </a:xfrm>
              <a:prstGeom prst="rect">
                <a:avLst/>
              </a:prstGeom>
            </p:spPr>
          </p:pic>
          <p:pic>
            <p:nvPicPr>
              <p:cNvPr id="29" name="Picture 28">
                <a:extLst>
                  <a:ext uri="{FF2B5EF4-FFF2-40B4-BE49-F238E27FC236}">
                    <a16:creationId xmlns:a16="http://schemas.microsoft.com/office/drawing/2014/main" id="{E147E4C1-B042-29CE-F8E0-C160C05202C7}"/>
                  </a:ext>
                </a:extLst>
              </p:cNvPr>
              <p:cNvPicPr>
                <a:picLocks noChangeAspect="1"/>
              </p:cNvPicPr>
              <p:nvPr/>
            </p:nvPicPr>
            <p:blipFill rotWithShape="1">
              <a:blip r:embed="rId5">
                <a:extLst>
                  <a:ext uri="{28A0092B-C50C-407E-A947-70E740481C1C}">
                    <a14:useLocalDpi xmlns:a14="http://schemas.microsoft.com/office/drawing/2010/main" val="0"/>
                  </a:ext>
                </a:extLst>
              </a:blip>
              <a:srcRect r="21366" b="15064"/>
              <a:stretch/>
            </p:blipFill>
            <p:spPr>
              <a:xfrm>
                <a:off x="4341001" y="1028174"/>
                <a:ext cx="2201441" cy="2218904"/>
              </a:xfrm>
              <a:prstGeom prst="rect">
                <a:avLst/>
              </a:prstGeom>
            </p:spPr>
          </p:pic>
        </p:grpSp>
        <p:pic>
          <p:nvPicPr>
            <p:cNvPr id="7" name="Picture 6"/>
            <p:cNvPicPr>
              <a:picLocks noChangeAspect="1"/>
            </p:cNvPicPr>
            <p:nvPr/>
          </p:nvPicPr>
          <p:blipFill rotWithShape="1">
            <a:blip r:embed="rId6"/>
            <a:srcRect t="14968" b="-13819"/>
            <a:stretch/>
          </p:blipFill>
          <p:spPr>
            <a:xfrm>
              <a:off x="6388894" y="2171699"/>
              <a:ext cx="172720" cy="158751"/>
            </a:xfrm>
            <a:prstGeom prst="rect">
              <a:avLst/>
            </a:prstGeom>
          </p:spPr>
        </p:pic>
        <p:pic>
          <p:nvPicPr>
            <p:cNvPr id="22" name="Picture 21"/>
            <p:cNvPicPr>
              <a:picLocks noChangeAspect="1"/>
            </p:cNvPicPr>
            <p:nvPr/>
          </p:nvPicPr>
          <p:blipFill>
            <a:blip r:embed="rId7"/>
            <a:stretch>
              <a:fillRect/>
            </a:stretch>
          </p:blipFill>
          <p:spPr>
            <a:xfrm>
              <a:off x="6341884" y="2274496"/>
              <a:ext cx="199851" cy="189514"/>
            </a:xfrm>
            <a:prstGeom prst="rect">
              <a:avLst/>
            </a:prstGeom>
          </p:spPr>
        </p:pic>
      </p:grpSp>
      <p:sp>
        <p:nvSpPr>
          <p:cNvPr id="5" name="TextBox 4">
            <a:extLst>
              <a:ext uri="{FF2B5EF4-FFF2-40B4-BE49-F238E27FC236}">
                <a16:creationId xmlns:a16="http://schemas.microsoft.com/office/drawing/2014/main" id="{BA8A8D31-1B00-3F4C-B543-5C9C738958CA}"/>
              </a:ext>
            </a:extLst>
          </p:cNvPr>
          <p:cNvSpPr txBox="1"/>
          <p:nvPr/>
        </p:nvSpPr>
        <p:spPr>
          <a:xfrm>
            <a:off x="71361" y="77096"/>
            <a:ext cx="6170951" cy="6771084"/>
          </a:xfrm>
          <a:prstGeom prst="rect">
            <a:avLst/>
          </a:prstGeom>
          <a:noFill/>
        </p:spPr>
        <p:txBody>
          <a:bodyPr wrap="square" lIns="91440" tIns="45720" rIns="91440" bIns="45720" rtlCol="0" anchor="t">
            <a:spAutoFit/>
          </a:bodyPr>
          <a:lstStyle/>
          <a:p>
            <a:r>
              <a:rPr lang="en-US" sz="1400" b="1" dirty="0">
                <a:latin typeface="Arial"/>
                <a:cs typeface="Arial"/>
              </a:rPr>
              <a:t>Figure 4. Summary of cardiac performance metrics by intervention group over time. </a:t>
            </a:r>
            <a:r>
              <a:rPr lang="en-US" sz="1400" dirty="0">
                <a:latin typeface="Arial"/>
                <a:cs typeface="Arial"/>
              </a:rPr>
              <a:t>Box plots of A) Ejection Fraction (EF), B) Heart Rate (HR), C) Stroke Volume (SV), and D) Cardiac Output (CO) at pre-IVCO time periods are illustrated over time and group. Red asterisks (</a:t>
            </a:r>
            <a:r>
              <a:rPr lang="en-US" sz="1400" dirty="0">
                <a:solidFill>
                  <a:srgbClr val="FF0000"/>
                </a:solidFill>
                <a:latin typeface="Arial"/>
                <a:cs typeface="Arial"/>
              </a:rPr>
              <a:t>*</a:t>
            </a:r>
            <a:r>
              <a:rPr lang="en-US" sz="1400" dirty="0">
                <a:latin typeface="Arial"/>
                <a:cs typeface="Arial"/>
              </a:rPr>
              <a:t>) represent statistically significant differences between time, where T0 (baseline) is the referent time. Significant effects between groups are illustrated with a green psi (</a:t>
            </a:r>
            <a:r>
              <a:rPr lang="el-GR" sz="1400" dirty="0">
                <a:solidFill>
                  <a:srgbClr val="00B050"/>
                </a:solidFill>
                <a:latin typeface="Arial"/>
                <a:cs typeface="Arial"/>
              </a:rPr>
              <a:t>ψ</a:t>
            </a:r>
            <a:r>
              <a:rPr lang="en-US" sz="1400" dirty="0">
                <a:latin typeface="Arial"/>
                <a:cs typeface="Arial"/>
              </a:rPr>
              <a:t>) symbol, where the control group is the referent group. The diamond shaped crosses are extreme data points from each group. </a:t>
            </a:r>
          </a:p>
          <a:p>
            <a:endParaRPr lang="en-US" sz="1400" dirty="0">
              <a:latin typeface="Arial"/>
              <a:cs typeface="Arial"/>
            </a:endParaRPr>
          </a:p>
          <a:p>
            <a:endParaRPr lang="en-US" sz="1400" dirty="0">
              <a:highlight>
                <a:srgbClr val="FFFF00"/>
              </a:highlight>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4A)</a:t>
            </a:r>
            <a:r>
              <a:rPr lang="en-US" sz="1400" dirty="0">
                <a:latin typeface="Arial" panose="020B0604020202020204" pitchFamily="34" charset="0"/>
                <a:cs typeface="Arial" panose="020B0604020202020204" pitchFamily="34" charset="0"/>
              </a:rPr>
              <a:t> EF was found to have significantly increased  after hemorrhage in all groups by an average of 16.8% with 95%CI [8.0, 25.6%]), p&lt;0.001).  At T74, while EF did decrease when compared to the hemorrhage state, it was still significantly higher than that observed in the baseline state by 11.6% with 95%CI [2.8, 20.4%]), p=0.01). The REBOA and EVAC groups, on the other hand, did not lead to significant decrease in EF at T74 compared to the baseline conditions for both groups (p=0.460 and p=0.206, respectively).</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4B)</a:t>
            </a:r>
            <a:r>
              <a:rPr lang="en-US" sz="1400" dirty="0">
                <a:latin typeface="Arial" panose="020B0604020202020204" pitchFamily="34" charset="0"/>
                <a:cs typeface="Arial" panose="020B0604020202020204" pitchFamily="34" charset="0"/>
              </a:rPr>
              <a:t> HR was found to have significantly increased after hemorrhage by an average of 38.4 bpm with 95%CI [19.7, 60.1 bpm]), p&lt;0.001. At T74, HR was elevated in in all three intervention groups. HR in the REBOA group increased by an average of 83.2 bpm in HR (95%CI [58.5,111.9  bpm], p&lt;0.001). The EVAC group was associated with an average increase of 55.4 bpm in HR (95%CI [33.1, 81.5 bpm], p&lt;0.001) compared to baseline. By comparison, the control group experienced an increase of 50.8 bpm in HR (95%CI [30.4, 74.4 bpm], p&lt;0.001) compared to baseline. </a:t>
            </a:r>
          </a:p>
          <a:p>
            <a:endParaRPr lang="en-US" sz="1400" dirty="0">
              <a:highlight>
                <a:srgbClr val="FFFF00"/>
              </a:highlight>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4C-D)</a:t>
            </a:r>
            <a:r>
              <a:rPr lang="en-US" sz="1400" dirty="0">
                <a:latin typeface="Arial" panose="020B0604020202020204" pitchFamily="34" charset="0"/>
                <a:cs typeface="Arial" panose="020B0604020202020204" pitchFamily="34" charset="0"/>
              </a:rPr>
              <a:t> There were no significant differences in SV (4C) and CO (4D) when compared to baseline baseline across the three intervention groups. </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C4336F5-A2DC-E7D0-79BA-A31F80DF3681}"/>
              </a:ext>
            </a:extLst>
          </p:cNvPr>
          <p:cNvSpPr txBox="1"/>
          <p:nvPr/>
        </p:nvSpPr>
        <p:spPr>
          <a:xfrm>
            <a:off x="6505248" y="727445"/>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0" name="TextBox 9">
            <a:extLst>
              <a:ext uri="{FF2B5EF4-FFF2-40B4-BE49-F238E27FC236}">
                <a16:creationId xmlns:a16="http://schemas.microsoft.com/office/drawing/2014/main" id="{19813343-4810-9C87-8C41-4686DE56F6DE}"/>
              </a:ext>
            </a:extLst>
          </p:cNvPr>
          <p:cNvSpPr txBox="1"/>
          <p:nvPr/>
        </p:nvSpPr>
        <p:spPr>
          <a:xfrm>
            <a:off x="9264421" y="727445"/>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11" name="TextBox 10">
            <a:extLst>
              <a:ext uri="{FF2B5EF4-FFF2-40B4-BE49-F238E27FC236}">
                <a16:creationId xmlns:a16="http://schemas.microsoft.com/office/drawing/2014/main" id="{680D30CB-1DDF-3F08-E4CA-63B7EF404B3D}"/>
              </a:ext>
            </a:extLst>
          </p:cNvPr>
          <p:cNvSpPr txBox="1"/>
          <p:nvPr/>
        </p:nvSpPr>
        <p:spPr>
          <a:xfrm>
            <a:off x="6505248" y="318319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
        <p:nvSpPr>
          <p:cNvPr id="12" name="TextBox 11">
            <a:extLst>
              <a:ext uri="{FF2B5EF4-FFF2-40B4-BE49-F238E27FC236}">
                <a16:creationId xmlns:a16="http://schemas.microsoft.com/office/drawing/2014/main" id="{1098D93C-E909-0209-1FBB-E5BC3EA233BC}"/>
              </a:ext>
            </a:extLst>
          </p:cNvPr>
          <p:cNvSpPr txBox="1"/>
          <p:nvPr/>
        </p:nvSpPr>
        <p:spPr>
          <a:xfrm>
            <a:off x="9264421" y="318319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pic>
        <p:nvPicPr>
          <p:cNvPr id="14" name="Picture 13"/>
          <p:cNvPicPr>
            <a:picLocks noChangeAspect="1"/>
          </p:cNvPicPr>
          <p:nvPr/>
        </p:nvPicPr>
        <p:blipFill rotWithShape="1">
          <a:blip r:embed="rId8">
            <a:extLst>
              <a:ext uri="{28A0092B-C50C-407E-A947-70E740481C1C}">
                <a14:useLocalDpi xmlns:a14="http://schemas.microsoft.com/office/drawing/2010/main" val="0"/>
              </a:ext>
            </a:extLst>
          </a:blip>
          <a:srcRect l="4805" t="87810"/>
          <a:stretch/>
        </p:blipFill>
        <p:spPr>
          <a:xfrm>
            <a:off x="7009766" y="5696862"/>
            <a:ext cx="4134154" cy="495344"/>
          </a:xfrm>
          <a:prstGeom prst="rect">
            <a:avLst/>
          </a:prstGeom>
        </p:spPr>
      </p:pic>
      <p:sp>
        <p:nvSpPr>
          <p:cNvPr id="2" name="TextBox 1">
            <a:extLst>
              <a:ext uri="{FF2B5EF4-FFF2-40B4-BE49-F238E27FC236}">
                <a16:creationId xmlns:a16="http://schemas.microsoft.com/office/drawing/2014/main" id="{EBD906CD-C9C3-C700-2493-46B09E61B4DE}"/>
              </a:ext>
            </a:extLst>
          </p:cNvPr>
          <p:cNvSpPr txBox="1"/>
          <p:nvPr/>
        </p:nvSpPr>
        <p:spPr>
          <a:xfrm>
            <a:off x="7483049" y="118469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3" name="TextBox 2">
            <a:extLst>
              <a:ext uri="{FF2B5EF4-FFF2-40B4-BE49-F238E27FC236}">
                <a16:creationId xmlns:a16="http://schemas.microsoft.com/office/drawing/2014/main" id="{E9E4FB29-56EB-66C5-C3CF-B43589E6D2FA}"/>
              </a:ext>
            </a:extLst>
          </p:cNvPr>
          <p:cNvSpPr txBox="1"/>
          <p:nvPr/>
        </p:nvSpPr>
        <p:spPr>
          <a:xfrm>
            <a:off x="7669739" y="103991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4" name="TextBox 3">
            <a:extLst>
              <a:ext uri="{FF2B5EF4-FFF2-40B4-BE49-F238E27FC236}">
                <a16:creationId xmlns:a16="http://schemas.microsoft.com/office/drawing/2014/main" id="{0B7B61EB-E1D0-2C00-CFA8-7910AD4CF641}"/>
              </a:ext>
            </a:extLst>
          </p:cNvPr>
          <p:cNvSpPr txBox="1"/>
          <p:nvPr/>
        </p:nvSpPr>
        <p:spPr>
          <a:xfrm>
            <a:off x="7852619" y="103610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6" name="TextBox 5">
            <a:extLst>
              <a:ext uri="{FF2B5EF4-FFF2-40B4-BE49-F238E27FC236}">
                <a16:creationId xmlns:a16="http://schemas.microsoft.com/office/drawing/2014/main" id="{8A84ED0F-2BF2-CF01-6760-D39734FCFFCD}"/>
              </a:ext>
            </a:extLst>
          </p:cNvPr>
          <p:cNvSpPr txBox="1"/>
          <p:nvPr/>
        </p:nvSpPr>
        <p:spPr>
          <a:xfrm>
            <a:off x="8157419" y="137138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8" name="TextBox 7">
            <a:extLst>
              <a:ext uri="{FF2B5EF4-FFF2-40B4-BE49-F238E27FC236}">
                <a16:creationId xmlns:a16="http://schemas.microsoft.com/office/drawing/2014/main" id="{62E38690-EE0D-A4ED-68BC-0755D3DE648E}"/>
              </a:ext>
            </a:extLst>
          </p:cNvPr>
          <p:cNvSpPr txBox="1"/>
          <p:nvPr/>
        </p:nvSpPr>
        <p:spPr>
          <a:xfrm>
            <a:off x="10273499" y="1781419"/>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6" name="TextBox 15">
            <a:extLst>
              <a:ext uri="{FF2B5EF4-FFF2-40B4-BE49-F238E27FC236}">
                <a16:creationId xmlns:a16="http://schemas.microsoft.com/office/drawing/2014/main" id="{582E9C29-7FD8-0F40-577B-BDDF177C1217}"/>
              </a:ext>
            </a:extLst>
          </p:cNvPr>
          <p:cNvSpPr txBox="1"/>
          <p:nvPr/>
        </p:nvSpPr>
        <p:spPr>
          <a:xfrm>
            <a:off x="10451039" y="194627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7" name="TextBox 16">
            <a:extLst>
              <a:ext uri="{FF2B5EF4-FFF2-40B4-BE49-F238E27FC236}">
                <a16:creationId xmlns:a16="http://schemas.microsoft.com/office/drawing/2014/main" id="{1FF52CD7-997F-085F-D596-736262B7B896}"/>
              </a:ext>
            </a:extLst>
          </p:cNvPr>
          <p:cNvSpPr txBox="1"/>
          <p:nvPr/>
        </p:nvSpPr>
        <p:spPr>
          <a:xfrm>
            <a:off x="10626299" y="128445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8" name="TextBox 17">
            <a:extLst>
              <a:ext uri="{FF2B5EF4-FFF2-40B4-BE49-F238E27FC236}">
                <a16:creationId xmlns:a16="http://schemas.microsoft.com/office/drawing/2014/main" id="{CAF1A938-7587-A2A9-9136-8A68B23B8EDA}"/>
              </a:ext>
            </a:extLst>
          </p:cNvPr>
          <p:cNvSpPr txBox="1"/>
          <p:nvPr/>
        </p:nvSpPr>
        <p:spPr>
          <a:xfrm>
            <a:off x="10924566" y="1801168"/>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0" name="TextBox 19">
            <a:extLst>
              <a:ext uri="{FF2B5EF4-FFF2-40B4-BE49-F238E27FC236}">
                <a16:creationId xmlns:a16="http://schemas.microsoft.com/office/drawing/2014/main" id="{75B3A4AB-B97F-0AFB-6DE8-0F1C8C29DC20}"/>
              </a:ext>
            </a:extLst>
          </p:cNvPr>
          <p:cNvSpPr txBox="1"/>
          <p:nvPr/>
        </p:nvSpPr>
        <p:spPr>
          <a:xfrm>
            <a:off x="11293124" y="127740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39" name="TextBox 38">
            <a:extLst>
              <a:ext uri="{FF2B5EF4-FFF2-40B4-BE49-F238E27FC236}">
                <a16:creationId xmlns:a16="http://schemas.microsoft.com/office/drawing/2014/main" id="{EBD906CD-C9C3-C700-2493-46B09E61B4DE}"/>
              </a:ext>
            </a:extLst>
          </p:cNvPr>
          <p:cNvSpPr txBox="1"/>
          <p:nvPr/>
        </p:nvSpPr>
        <p:spPr>
          <a:xfrm>
            <a:off x="10904429" y="418697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40" name="TextBox 39">
            <a:extLst>
              <a:ext uri="{FF2B5EF4-FFF2-40B4-BE49-F238E27FC236}">
                <a16:creationId xmlns:a16="http://schemas.microsoft.com/office/drawing/2014/main" id="{E9E4FB29-56EB-66C5-C3CF-B43589E6D2FA}"/>
              </a:ext>
            </a:extLst>
          </p:cNvPr>
          <p:cNvSpPr txBox="1"/>
          <p:nvPr/>
        </p:nvSpPr>
        <p:spPr>
          <a:xfrm>
            <a:off x="11083499" y="344783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grpSp>
        <p:nvGrpSpPr>
          <p:cNvPr id="33" name="Group 32"/>
          <p:cNvGrpSpPr/>
          <p:nvPr/>
        </p:nvGrpSpPr>
        <p:grpSpPr>
          <a:xfrm>
            <a:off x="11069211" y="1339312"/>
            <a:ext cx="394124" cy="276999"/>
            <a:chOff x="8907096" y="1227054"/>
            <a:chExt cx="394124" cy="276999"/>
          </a:xfrm>
        </p:grpSpPr>
        <p:sp>
          <p:nvSpPr>
            <p:cNvPr id="35" name="TextBox 34">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37" name="TextBox 36"/>
            <p:cNvSpPr txBox="1"/>
            <p:nvPr/>
          </p:nvSpPr>
          <p:spPr>
            <a:xfrm>
              <a:off x="8976697" y="1239573"/>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grpSp>
      <p:sp>
        <p:nvSpPr>
          <p:cNvPr id="41" name="TextBox 40"/>
          <p:cNvSpPr txBox="1"/>
          <p:nvPr/>
        </p:nvSpPr>
        <p:spPr>
          <a:xfrm>
            <a:off x="8516444" y="2089830"/>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sp>
        <p:nvSpPr>
          <p:cNvPr id="42" name="TextBox 41"/>
          <p:cNvSpPr txBox="1"/>
          <p:nvPr/>
        </p:nvSpPr>
        <p:spPr>
          <a:xfrm>
            <a:off x="8510094" y="4902684"/>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sp>
        <p:nvSpPr>
          <p:cNvPr id="43" name="TextBox 42"/>
          <p:cNvSpPr txBox="1"/>
          <p:nvPr/>
        </p:nvSpPr>
        <p:spPr>
          <a:xfrm>
            <a:off x="11258699" y="4617947"/>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spTree>
    <p:extLst>
      <p:ext uri="{BB962C8B-B14F-4D97-AF65-F5344CB8AC3E}">
        <p14:creationId xmlns:p14="http://schemas.microsoft.com/office/powerpoint/2010/main" val="3079592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3114295" y="4144429"/>
            <a:ext cx="6675747" cy="2677656"/>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5. Arterial elastance varies significantly after REBOA intervention. </a:t>
            </a:r>
            <a:r>
              <a:rPr lang="en-US" sz="1400" dirty="0">
                <a:latin typeface="Arial" panose="020B0604020202020204" pitchFamily="34" charset="0"/>
                <a:cs typeface="Arial" panose="020B0604020202020204" pitchFamily="34" charset="0"/>
              </a:rPr>
              <a:t> The average arterial elastance was calculated as the ratio of end systolic pressure to stroke volume. As expected, arterial elastance is comparable between pigs in all three intervention groups at baseline (T0) and at the end of 25% hemorrhage (T30). However, the introduction of REBOA and EVAC significantly increased the calculated arterial elastance to levels nearly 3 times higher than baseline. Data presented is from the pre-IVCO period. Red a</a:t>
            </a:r>
            <a:r>
              <a:rPr lang="en-US" sz="1400" dirty="0">
                <a:latin typeface="Arial"/>
                <a:cs typeface="Arial"/>
              </a:rPr>
              <a:t>sterisks (</a:t>
            </a:r>
            <a:r>
              <a:rPr lang="en-US" sz="1400" dirty="0">
                <a:solidFill>
                  <a:srgbClr val="FF0000"/>
                </a:solidFill>
                <a:latin typeface="Arial"/>
                <a:cs typeface="Arial"/>
              </a:rPr>
              <a:t>*</a:t>
            </a:r>
            <a:r>
              <a:rPr lang="en-US" sz="1400" dirty="0">
                <a:latin typeface="Arial"/>
                <a:cs typeface="Arial"/>
              </a:rPr>
              <a:t>) represent statistically significant differences between time, where T0 (baseline) is the referent time. Significant effects between groups are illustrated with a green psi (</a:t>
            </a:r>
            <a:r>
              <a:rPr lang="el-GR" sz="1400" dirty="0">
                <a:solidFill>
                  <a:srgbClr val="00B050"/>
                </a:solidFill>
                <a:latin typeface="Arial"/>
                <a:cs typeface="Arial"/>
              </a:rPr>
              <a:t>ψ</a:t>
            </a:r>
            <a:r>
              <a:rPr lang="en-US" sz="1400" dirty="0">
                <a:latin typeface="Arial"/>
                <a:cs typeface="Arial"/>
              </a:rPr>
              <a:t>) symbol, where the control group is the referent group, and the diamond shaped crosses are extreme data points from each group. </a:t>
            </a:r>
          </a:p>
          <a:p>
            <a:endParaRPr lang="en-US" sz="1400" b="1" dirty="0">
              <a:latin typeface="Arial" panose="020B0604020202020204" pitchFamily="34" charset="0"/>
              <a:cs typeface="Arial" panose="020B0604020202020204" pitchFamily="34" charset="0"/>
            </a:endParaRPr>
          </a:p>
        </p:txBody>
      </p:sp>
      <p:grpSp>
        <p:nvGrpSpPr>
          <p:cNvPr id="7" name="Group 6"/>
          <p:cNvGrpSpPr/>
          <p:nvPr/>
        </p:nvGrpSpPr>
        <p:grpSpPr>
          <a:xfrm>
            <a:off x="4292731" y="122501"/>
            <a:ext cx="4134154" cy="3976468"/>
            <a:chOff x="4292731" y="122501"/>
            <a:chExt cx="4134154" cy="3976468"/>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19587" b="13213"/>
            <a:stretch/>
          </p:blipFill>
          <p:spPr>
            <a:xfrm>
              <a:off x="4384002" y="122501"/>
              <a:ext cx="3492230" cy="3526584"/>
            </a:xfrm>
            <a:prstGeom prst="rect">
              <a:avLst/>
            </a:prstGeom>
          </p:spPr>
        </p:pic>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4805" t="87810"/>
            <a:stretch/>
          </p:blipFill>
          <p:spPr>
            <a:xfrm>
              <a:off x="4292731" y="3603625"/>
              <a:ext cx="4134154" cy="495344"/>
            </a:xfrm>
            <a:prstGeom prst="rect">
              <a:avLst/>
            </a:prstGeom>
          </p:spPr>
        </p:pic>
      </p:grpSp>
      <p:grpSp>
        <p:nvGrpSpPr>
          <p:cNvPr id="11" name="Group 10"/>
          <p:cNvGrpSpPr/>
          <p:nvPr/>
        </p:nvGrpSpPr>
        <p:grpSpPr>
          <a:xfrm>
            <a:off x="7121038" y="426047"/>
            <a:ext cx="394124" cy="276999"/>
            <a:chOff x="8907096" y="1227054"/>
            <a:chExt cx="394124" cy="276999"/>
          </a:xfrm>
        </p:grpSpPr>
        <p:sp>
          <p:nvSpPr>
            <p:cNvPr id="12" name="TextBox 11">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3" name="TextBox 12"/>
            <p:cNvSpPr txBox="1"/>
            <p:nvPr/>
          </p:nvSpPr>
          <p:spPr>
            <a:xfrm>
              <a:off x="8976697" y="1239573"/>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grpSp>
      <p:grpSp>
        <p:nvGrpSpPr>
          <p:cNvPr id="14" name="Group 13"/>
          <p:cNvGrpSpPr/>
          <p:nvPr/>
        </p:nvGrpSpPr>
        <p:grpSpPr>
          <a:xfrm>
            <a:off x="7367188" y="1084178"/>
            <a:ext cx="394124" cy="276999"/>
            <a:chOff x="8907096" y="1227054"/>
            <a:chExt cx="394124" cy="276999"/>
          </a:xfrm>
        </p:grpSpPr>
        <p:sp>
          <p:nvSpPr>
            <p:cNvPr id="15" name="TextBox 14">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6" name="TextBox 15"/>
            <p:cNvSpPr txBox="1"/>
            <p:nvPr/>
          </p:nvSpPr>
          <p:spPr>
            <a:xfrm>
              <a:off x="8976697" y="1239573"/>
              <a:ext cx="324523" cy="184666"/>
            </a:xfrm>
            <a:prstGeom prst="rect">
              <a:avLst/>
            </a:prstGeom>
            <a:noFill/>
          </p:spPr>
          <p:txBody>
            <a:bodyPr wrap="square" rtlCol="0">
              <a:spAutoFit/>
            </a:bodyPr>
            <a:lstStyle/>
            <a:p>
              <a:r>
                <a:rPr lang="el-GR" sz="600" dirty="0">
                  <a:solidFill>
                    <a:srgbClr val="00B050"/>
                  </a:solidFill>
                </a:rPr>
                <a:t>ψ</a:t>
              </a:r>
              <a:endParaRPr lang="en-US" sz="800" dirty="0">
                <a:solidFill>
                  <a:srgbClr val="00B050"/>
                </a:solidFill>
              </a:endParaRPr>
            </a:p>
          </p:txBody>
        </p:sp>
      </p:grpSp>
    </p:spTree>
    <p:extLst>
      <p:ext uri="{BB962C8B-B14F-4D97-AF65-F5344CB8AC3E}">
        <p14:creationId xmlns:p14="http://schemas.microsoft.com/office/powerpoint/2010/main" val="1181524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498257" y="547586"/>
            <a:ext cx="3896783" cy="3323987"/>
          </a:xfrm>
          <a:prstGeom prst="rect">
            <a:avLst/>
          </a:prstGeom>
          <a:noFill/>
        </p:spPr>
        <p:txBody>
          <a:bodyPr wrap="square" lIns="91440" tIns="45720" rIns="91440" bIns="45720" rtlCol="0" anchor="t">
            <a:spAutoFit/>
          </a:bodyPr>
          <a:lstStyle/>
          <a:p>
            <a:r>
              <a:rPr lang="en-US" sz="1400" b="1" dirty="0">
                <a:latin typeface="Arial"/>
                <a:cs typeface="Arial"/>
              </a:rPr>
              <a:t>Figure 6. A summary of key cardiac performance metrics pre-IVCO, during IVCO and post-IVCO. </a:t>
            </a:r>
            <a:r>
              <a:rPr lang="en-US" sz="1400" dirty="0">
                <a:latin typeface="Arial"/>
                <a:cs typeface="Arial"/>
              </a:rPr>
              <a:t>We summarize the key cardiac parameters: (A-C) end-systolic volume (ESV), (D-F) stroke volume (SV), and (G-I) cardiac output (CO) for each intervention group during the pre-IVCO (blue), during-IVCO (orange) and post-IVCO (green) periods. As illustrated, we observed a high degree of variation in ESV at baseline. Stroke volume was most variable at T74 across all intervention groups. We did not observe any statistically significant differences in ESV, SV or CO values between pre-IVCO </a:t>
            </a:r>
            <a:r>
              <a:rPr lang="en-US" sz="1400">
                <a:latin typeface="Arial"/>
                <a:cs typeface="Arial"/>
              </a:rPr>
              <a:t>and post-</a:t>
            </a:r>
            <a:r>
              <a:rPr lang="en-US" sz="1400" dirty="0">
                <a:latin typeface="Arial"/>
                <a:cs typeface="Arial"/>
              </a:rPr>
              <a:t>IVCO periods.</a:t>
            </a:r>
          </a:p>
        </p:txBody>
      </p:sp>
      <p:grpSp>
        <p:nvGrpSpPr>
          <p:cNvPr id="53" name="Group 52"/>
          <p:cNvGrpSpPr/>
          <p:nvPr/>
        </p:nvGrpSpPr>
        <p:grpSpPr>
          <a:xfrm>
            <a:off x="4632209" y="544236"/>
            <a:ext cx="7289790" cy="6059658"/>
            <a:chOff x="4632209" y="544236"/>
            <a:chExt cx="7289790" cy="6059658"/>
          </a:xfrm>
        </p:grpSpPr>
        <p:pic>
          <p:nvPicPr>
            <p:cNvPr id="18" name="Picture 17">
              <a:extLst>
                <a:ext uri="{FF2B5EF4-FFF2-40B4-BE49-F238E27FC236}">
                  <a16:creationId xmlns:a16="http://schemas.microsoft.com/office/drawing/2014/main" id="{FC4FE458-3F12-A028-477E-8C8149C75E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2209" y="625081"/>
              <a:ext cx="7086600" cy="1985351"/>
            </a:xfrm>
            <a:prstGeom prst="rect">
              <a:avLst/>
            </a:prstGeom>
          </p:spPr>
        </p:pic>
        <p:pic>
          <p:nvPicPr>
            <p:cNvPr id="20" name="Picture 19">
              <a:extLst>
                <a:ext uri="{FF2B5EF4-FFF2-40B4-BE49-F238E27FC236}">
                  <a16:creationId xmlns:a16="http://schemas.microsoft.com/office/drawing/2014/main" id="{DC549852-70FF-1140-63EF-50E55F78B8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7144" y="4574207"/>
              <a:ext cx="7244855" cy="2029687"/>
            </a:xfrm>
            <a:prstGeom prst="rect">
              <a:avLst/>
            </a:prstGeom>
          </p:spPr>
        </p:pic>
        <p:pic>
          <p:nvPicPr>
            <p:cNvPr id="16" name="Picture 15">
              <a:extLst>
                <a:ext uri="{FF2B5EF4-FFF2-40B4-BE49-F238E27FC236}">
                  <a16:creationId xmlns:a16="http://schemas.microsoft.com/office/drawing/2014/main" id="{07085E47-EC64-4072-877A-818DE6B5A3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2209" y="2610432"/>
              <a:ext cx="7086600" cy="1985350"/>
            </a:xfrm>
            <a:prstGeom prst="rect">
              <a:avLst/>
            </a:prstGeom>
          </p:spPr>
        </p:pic>
        <p:grpSp>
          <p:nvGrpSpPr>
            <p:cNvPr id="34" name="Group 33"/>
            <p:cNvGrpSpPr/>
            <p:nvPr/>
          </p:nvGrpSpPr>
          <p:grpSpPr>
            <a:xfrm>
              <a:off x="4921887" y="544236"/>
              <a:ext cx="5450838" cy="387003"/>
              <a:chOff x="4921887" y="544236"/>
              <a:chExt cx="5450838" cy="387003"/>
            </a:xfrm>
          </p:grpSpPr>
          <p:sp>
            <p:nvSpPr>
              <p:cNvPr id="6" name="TextBox 5">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grpSp>
            <p:nvGrpSpPr>
              <p:cNvPr id="31" name="Group 30"/>
              <p:cNvGrpSpPr/>
              <p:nvPr/>
            </p:nvGrpSpPr>
            <p:grpSpPr>
              <a:xfrm>
                <a:off x="5326338" y="631287"/>
                <a:ext cx="5046387" cy="299952"/>
                <a:chOff x="5326338" y="613625"/>
                <a:chExt cx="5046387" cy="299952"/>
              </a:xfrm>
            </p:grpSpPr>
            <p:sp>
              <p:nvSpPr>
                <p:cNvPr id="30" name="Rectangle 29"/>
                <p:cNvSpPr/>
                <p:nvPr/>
              </p:nvSpPr>
              <p:spPr>
                <a:xfrm>
                  <a:off x="5326338" y="613625"/>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rotWithShape="1">
                <a:blip r:embed="rId6"/>
                <a:srcRect l="83479" r="1300"/>
                <a:stretch/>
              </p:blipFill>
              <p:spPr>
                <a:xfrm>
                  <a:off x="9290893" y="682212"/>
                  <a:ext cx="758826" cy="231365"/>
                </a:xfrm>
                <a:prstGeom prst="rect">
                  <a:avLst/>
                </a:prstGeom>
              </p:spPr>
            </p:pic>
            <p:pic>
              <p:nvPicPr>
                <p:cNvPr id="28" name="Picture 27"/>
                <p:cNvPicPr>
                  <a:picLocks noChangeAspect="1"/>
                </p:cNvPicPr>
                <p:nvPr/>
              </p:nvPicPr>
              <p:blipFill rotWithShape="1">
                <a:blip r:embed="rId6"/>
                <a:srcRect l="43613" r="42759"/>
                <a:stretch/>
              </p:blipFill>
              <p:spPr>
                <a:xfrm>
                  <a:off x="7494552" y="682212"/>
                  <a:ext cx="679451" cy="231365"/>
                </a:xfrm>
                <a:prstGeom prst="rect">
                  <a:avLst/>
                </a:prstGeom>
              </p:spPr>
            </p:pic>
            <p:pic>
              <p:nvPicPr>
                <p:cNvPr id="29" name="Picture 28"/>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7" name="TextBox 6">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8" name="TextBox 7">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grpSp>
        <p:grpSp>
          <p:nvGrpSpPr>
            <p:cNvPr id="35" name="Group 34"/>
            <p:cNvGrpSpPr/>
            <p:nvPr/>
          </p:nvGrpSpPr>
          <p:grpSpPr>
            <a:xfrm>
              <a:off x="4921887" y="2508011"/>
              <a:ext cx="5450838" cy="400176"/>
              <a:chOff x="4921887" y="544236"/>
              <a:chExt cx="5450838" cy="400176"/>
            </a:xfrm>
          </p:grpSpPr>
          <p:sp>
            <p:nvSpPr>
              <p:cNvPr id="36" name="TextBox 35">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grpSp>
            <p:nvGrpSpPr>
              <p:cNvPr id="37" name="Group 36"/>
              <p:cNvGrpSpPr/>
              <p:nvPr/>
            </p:nvGrpSpPr>
            <p:grpSpPr>
              <a:xfrm>
                <a:off x="5326338" y="686703"/>
                <a:ext cx="5046387" cy="257709"/>
                <a:chOff x="5326338" y="669041"/>
                <a:chExt cx="5046387" cy="257709"/>
              </a:xfrm>
            </p:grpSpPr>
            <p:sp>
              <p:nvSpPr>
                <p:cNvPr id="40" name="Rectangle 39"/>
                <p:cNvSpPr/>
                <p:nvPr/>
              </p:nvSpPr>
              <p:spPr>
                <a:xfrm>
                  <a:off x="5326338" y="669041"/>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p:cNvPicPr>
                  <a:picLocks noChangeAspect="1"/>
                </p:cNvPicPr>
                <p:nvPr/>
              </p:nvPicPr>
              <p:blipFill rotWithShape="1">
                <a:blip r:embed="rId6"/>
                <a:srcRect l="83479" r="1300"/>
                <a:stretch/>
              </p:blipFill>
              <p:spPr>
                <a:xfrm>
                  <a:off x="9290893" y="682212"/>
                  <a:ext cx="758826" cy="231365"/>
                </a:xfrm>
                <a:prstGeom prst="rect">
                  <a:avLst/>
                </a:prstGeom>
              </p:spPr>
            </p:pic>
            <p:pic>
              <p:nvPicPr>
                <p:cNvPr id="42" name="Picture 41"/>
                <p:cNvPicPr>
                  <a:picLocks noChangeAspect="1"/>
                </p:cNvPicPr>
                <p:nvPr/>
              </p:nvPicPr>
              <p:blipFill rotWithShape="1">
                <a:blip r:embed="rId6"/>
                <a:srcRect l="43613" r="42759"/>
                <a:stretch/>
              </p:blipFill>
              <p:spPr>
                <a:xfrm>
                  <a:off x="7494552" y="682212"/>
                  <a:ext cx="679451" cy="231365"/>
                </a:xfrm>
                <a:prstGeom prst="rect">
                  <a:avLst/>
                </a:prstGeom>
              </p:spPr>
            </p:pic>
            <p:pic>
              <p:nvPicPr>
                <p:cNvPr id="43" name="Picture 42"/>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38" name="TextBox 37">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E.</a:t>
                </a:r>
              </a:p>
            </p:txBody>
          </p:sp>
          <p:sp>
            <p:nvSpPr>
              <p:cNvPr id="39" name="TextBox 38">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F.</a:t>
                </a:r>
              </a:p>
            </p:txBody>
          </p:sp>
        </p:grpSp>
        <p:grpSp>
          <p:nvGrpSpPr>
            <p:cNvPr id="44" name="Group 43"/>
            <p:cNvGrpSpPr/>
            <p:nvPr/>
          </p:nvGrpSpPr>
          <p:grpSpPr>
            <a:xfrm>
              <a:off x="4921887" y="4454797"/>
              <a:ext cx="5450838" cy="400176"/>
              <a:chOff x="4921887" y="544236"/>
              <a:chExt cx="5450838" cy="400176"/>
            </a:xfrm>
          </p:grpSpPr>
          <p:sp>
            <p:nvSpPr>
              <p:cNvPr id="45" name="TextBox 44">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G.</a:t>
                </a:r>
              </a:p>
            </p:txBody>
          </p:sp>
          <p:grpSp>
            <p:nvGrpSpPr>
              <p:cNvPr id="46" name="Group 45"/>
              <p:cNvGrpSpPr/>
              <p:nvPr/>
            </p:nvGrpSpPr>
            <p:grpSpPr>
              <a:xfrm>
                <a:off x="5326338" y="686703"/>
                <a:ext cx="5046387" cy="257709"/>
                <a:chOff x="5326338" y="669041"/>
                <a:chExt cx="5046387" cy="257709"/>
              </a:xfrm>
            </p:grpSpPr>
            <p:sp>
              <p:nvSpPr>
                <p:cNvPr id="49" name="Rectangle 48"/>
                <p:cNvSpPr/>
                <p:nvPr/>
              </p:nvSpPr>
              <p:spPr>
                <a:xfrm>
                  <a:off x="5326338" y="669041"/>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p:cNvPicPr>
                  <a:picLocks noChangeAspect="1"/>
                </p:cNvPicPr>
                <p:nvPr/>
              </p:nvPicPr>
              <p:blipFill rotWithShape="1">
                <a:blip r:embed="rId6"/>
                <a:srcRect l="83479" r="1300"/>
                <a:stretch/>
              </p:blipFill>
              <p:spPr>
                <a:xfrm>
                  <a:off x="9290893" y="682212"/>
                  <a:ext cx="758826" cy="231365"/>
                </a:xfrm>
                <a:prstGeom prst="rect">
                  <a:avLst/>
                </a:prstGeom>
              </p:spPr>
            </p:pic>
            <p:pic>
              <p:nvPicPr>
                <p:cNvPr id="51" name="Picture 50"/>
                <p:cNvPicPr>
                  <a:picLocks noChangeAspect="1"/>
                </p:cNvPicPr>
                <p:nvPr/>
              </p:nvPicPr>
              <p:blipFill rotWithShape="1">
                <a:blip r:embed="rId6"/>
                <a:srcRect l="43613" r="42759"/>
                <a:stretch/>
              </p:blipFill>
              <p:spPr>
                <a:xfrm>
                  <a:off x="7494552" y="682212"/>
                  <a:ext cx="679451" cy="231365"/>
                </a:xfrm>
                <a:prstGeom prst="rect">
                  <a:avLst/>
                </a:prstGeom>
              </p:spPr>
            </p:pic>
            <p:pic>
              <p:nvPicPr>
                <p:cNvPr id="52" name="Picture 51"/>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47" name="TextBox 46">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H.</a:t>
                </a:r>
              </a:p>
            </p:txBody>
          </p:sp>
          <p:sp>
            <p:nvSpPr>
              <p:cNvPr id="48" name="TextBox 47">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I.</a:t>
                </a:r>
              </a:p>
            </p:txBody>
          </p:sp>
        </p:grpSp>
      </p:grpSp>
    </p:spTree>
    <p:extLst>
      <p:ext uri="{BB962C8B-B14F-4D97-AF65-F5344CB8AC3E}">
        <p14:creationId xmlns:p14="http://schemas.microsoft.com/office/powerpoint/2010/main" val="1372886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91810" y="111314"/>
            <a:ext cx="4582160" cy="6746686"/>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A8A8D31-1B00-3F4C-B543-5C9C738958CA}"/>
                  </a:ext>
                </a:extLst>
              </p:cNvPr>
              <p:cNvSpPr txBox="1"/>
              <p:nvPr/>
            </p:nvSpPr>
            <p:spPr>
              <a:xfrm>
                <a:off x="467139" y="580237"/>
                <a:ext cx="6271391" cy="3336876"/>
              </a:xfrm>
              <a:prstGeom prst="rect">
                <a:avLst/>
              </a:prstGeom>
              <a:noFill/>
            </p:spPr>
            <p:txBody>
              <a:bodyPr wrap="square" lIns="91440" tIns="45720" rIns="91440" bIns="45720" rtlCol="0" anchor="t">
                <a:spAutoFit/>
              </a:bodyPr>
              <a:lstStyle/>
              <a:p>
                <a:r>
                  <a:rPr lang="en-US" sz="1400" b="1" dirty="0">
                    <a:latin typeface="Arial" panose="020B0604020202020204" pitchFamily="34" charset="0"/>
                    <a:cs typeface="Arial" panose="020B0604020202020204" pitchFamily="34" charset="0"/>
                  </a:rPr>
                  <a:t>Figure 7. End Systolic Pressure-Volume Relationship (ESPVR) and End Diastolic Pressure-Volume Relationship (EDPVR) by intervention group. </a:t>
                </a:r>
                <a:r>
                  <a:rPr lang="en-US" sz="1400" dirty="0">
                    <a:latin typeface="Arial" panose="020B0604020202020204" pitchFamily="34" charset="0"/>
                    <a:cs typeface="Arial" panose="020B0604020202020204" pitchFamily="34" charset="0"/>
                  </a:rPr>
                  <a:t>The ESPVR and EDPVR for each group was applied to the ensemble averages for at A) baseline (T0), B) end of hemorrhage (T30), and C) end of intervention (T74). For all cases, a linear </a:t>
                </a:r>
                <a:r>
                  <a:rPr lang="en-US" sz="1400" dirty="0">
                    <a:solidFill>
                      <a:schemeClr val="tx1"/>
                    </a:solidFill>
                    <a:latin typeface="Arial" panose="020B0604020202020204" pitchFamily="34" charset="0"/>
                    <a:cs typeface="Arial" panose="020B0604020202020204" pitchFamily="34" charset="0"/>
                  </a:rPr>
                  <a:t>ESPVR was fitted using the equation </a:t>
                </a:r>
                <a14:m>
                  <m:oMath xmlns:m="http://schemas.openxmlformats.org/officeDocument/2006/math">
                    <m:sSub>
                      <m:sSubPr>
                        <m:ctrlPr>
                          <a:rPr lang="en-US" sz="1400" i="1" smtClean="0">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𝑃</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d>
                      <m:dPr>
                        <m:ctrlPr>
                          <a:rPr lang="en-US" sz="1400" i="1">
                            <a:solidFill>
                              <a:schemeClr val="tx1"/>
                            </a:solidFill>
                            <a:effectLst/>
                            <a:latin typeface="Cambria Math" panose="02040503050406030204" pitchFamily="18" charset="0"/>
                          </a:rPr>
                        </m:ctrlPr>
                      </m:dPr>
                      <m:e>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0</m:t>
                            </m:r>
                          </m:sub>
                        </m:sSub>
                      </m:e>
                    </m:d>
                  </m:oMath>
                </a14:m>
                <a:r>
                  <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The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ea typeface="Calibri" panose="020F0502020204030204" pitchFamily="34" charset="0"/>
                            <a:cs typeface="Arial" panose="020B0604020202020204" pitchFamily="34" charset="0"/>
                          </a:rPr>
                          <m:t>𝑉</m:t>
                        </m:r>
                      </m:e>
                      <m:sub>
                        <m:r>
                          <a:rPr lang="en-US" sz="1400" i="1">
                            <a:latin typeface="Cambria Math" panose="02040503050406030204" pitchFamily="18" charset="0"/>
                            <a:ea typeface="Calibri" panose="020F0502020204030204" pitchFamily="34" charset="0"/>
                            <a:cs typeface="Arial" panose="020B0604020202020204" pitchFamily="34" charset="0"/>
                          </a:rPr>
                          <m:t>0</m:t>
                        </m:r>
                      </m:sub>
                    </m:sSub>
                  </m:oMath>
                </a14:m>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 term was </a:t>
                </a:r>
                <a:r>
                  <a:rPr lang="en-US" sz="1400" dirty="0">
                    <a:latin typeface="Arial" panose="020B0604020202020204" pitchFamily="34" charset="0"/>
                    <a:ea typeface="Calibri" panose="020F0502020204030204" pitchFamily="34" charset="0"/>
                    <a:cs typeface="Arial" panose="020B0604020202020204" pitchFamily="34" charset="0"/>
                  </a:rPr>
                  <a:t>constrained</a:t>
                </a: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 in each individual pig across all time points based on the value observed during T30, wherein the blood volume was already depleted due to hemorrhage</a:t>
                </a:r>
                <a:r>
                  <a:rPr lang="en-US" sz="1400" dirty="0">
                    <a:latin typeface="Arial" panose="020B0604020202020204" pitchFamily="34" charset="0"/>
                    <a:ea typeface="Calibri" panose="020F0502020204030204" pitchFamily="34" charset="0"/>
                    <a:cs typeface="Arial" panose="020B0604020202020204" pitchFamily="34" charset="0"/>
                  </a:rPr>
                  <a:t>. </a:t>
                </a: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The EDPVR was fitted using in a cubic equation </a:t>
                </a:r>
                <a14:m>
                  <m:oMath xmlns:m="http://schemas.openxmlformats.org/officeDocument/2006/math">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𝑃</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𝑒𝑑</m:t>
                        </m:r>
                      </m:sub>
                    </m:sSub>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𝐷</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m:t>
                    </m:r>
                    <m:sSup>
                      <m:sSupPr>
                        <m:ctrlPr>
                          <a:rPr lang="en-US" sz="1400" i="1">
                            <a:solidFill>
                              <a:schemeClr val="tx1"/>
                            </a:solidFill>
                            <a:effectLst/>
                            <a:latin typeface="Cambria Math" panose="02040503050406030204" pitchFamily="18" charset="0"/>
                            <a:cs typeface="Times New Roman" panose="02020603050405020304" pitchFamily="18" charset="0"/>
                          </a:rPr>
                        </m:ctrlPr>
                      </m:sSupPr>
                      <m:e>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𝑒𝑑</m:t>
                            </m:r>
                          </m:sub>
                        </m:sSub>
                      </m:e>
                      <m:sup>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sup>
                    </m:sSup>
                  </m:oMath>
                </a14:m>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As expected, the left ventricular elastance (i.e., </a:t>
                </a:r>
                <a14:m>
                  <m:oMath xmlns:m="http://schemas.openxmlformats.org/officeDocument/2006/math">
                    <m:sSub>
                      <m:sSubPr>
                        <m:ctrlPr>
                          <a:rPr lang="en-US" sz="1400" i="1" smtClean="0">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slope of ESPVR) increased after hemorrhage </a:t>
                </a:r>
                <a:r>
                  <a:rPr lang="en-US" sz="1400" dirty="0">
                    <a:latin typeface="Arial" panose="020B0604020202020204" pitchFamily="34" charset="0"/>
                    <a:ea typeface="Calibri" panose="020F0502020204030204" pitchFamily="34" charset="0"/>
                    <a:cs typeface="Arial" panose="020B0604020202020204" pitchFamily="34" charset="0"/>
                  </a:rPr>
                  <a:t>in all three groups, nearly doubling in value. After the intervention was performed (i.e., T74), the ESPVR slopes in the control group decreased to near baseline levels but remained elevated in both the REBOA and EVAC groups, implying increased cardiac contractility. No discernable differences between EDPVR were observed between groups or over time</a:t>
                </a:r>
                <a:r>
                  <a:rPr lang="en-US" sz="1400" dirty="0">
                    <a:latin typeface="Times New Roman" panose="02020603050405020304" pitchFamily="18" charset="0"/>
                    <a:ea typeface="Calibri" panose="020F0502020204030204" pitchFamily="34" charset="0"/>
                  </a:rPr>
                  <a:t>.</a:t>
                </a:r>
              </a:p>
            </p:txBody>
          </p:sp>
        </mc:Choice>
        <mc:Fallback>
          <p:sp>
            <p:nvSpPr>
              <p:cNvPr id="5" name="TextBox 4">
                <a:extLst>
                  <a:ext uri="{FF2B5EF4-FFF2-40B4-BE49-F238E27FC236}">
                    <a16:creationId xmlns:a16="http://schemas.microsoft.com/office/drawing/2014/main" id="{BA8A8D31-1B00-3F4C-B543-5C9C738958CA}"/>
                  </a:ext>
                </a:extLst>
              </p:cNvPr>
              <p:cNvSpPr txBox="1">
                <a:spLocks noRot="1" noChangeAspect="1" noMove="1" noResize="1" noEditPoints="1" noAdjustHandles="1" noChangeArrowheads="1" noChangeShapeType="1" noTextEdit="1"/>
              </p:cNvSpPr>
              <p:nvPr/>
            </p:nvSpPr>
            <p:spPr>
              <a:xfrm>
                <a:off x="467139" y="580237"/>
                <a:ext cx="6271391" cy="3336876"/>
              </a:xfrm>
              <a:prstGeom prst="rect">
                <a:avLst/>
              </a:prstGeom>
              <a:blipFill>
                <a:blip r:embed="rId3"/>
                <a:stretch>
                  <a:fillRect l="-202" t="-379" r="-404" b="-113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A359974-E3A8-2F72-0034-E98F76E396F2}"/>
              </a:ext>
            </a:extLst>
          </p:cNvPr>
          <p:cNvSpPr txBox="1"/>
          <p:nvPr/>
        </p:nvSpPr>
        <p:spPr>
          <a:xfrm>
            <a:off x="6738530" y="111314"/>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1" name="TextBox 10">
            <a:extLst>
              <a:ext uri="{FF2B5EF4-FFF2-40B4-BE49-F238E27FC236}">
                <a16:creationId xmlns:a16="http://schemas.microsoft.com/office/drawing/2014/main" id="{0C6527C3-C415-D503-F5D4-8AF7212EAC7C}"/>
              </a:ext>
            </a:extLst>
          </p:cNvPr>
          <p:cNvSpPr txBox="1"/>
          <p:nvPr/>
        </p:nvSpPr>
        <p:spPr>
          <a:xfrm>
            <a:off x="6738530" y="2349459"/>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12" name="TextBox 11">
            <a:extLst>
              <a:ext uri="{FF2B5EF4-FFF2-40B4-BE49-F238E27FC236}">
                <a16:creationId xmlns:a16="http://schemas.microsoft.com/office/drawing/2014/main" id="{A94ECFC1-C867-4884-E81F-51CC9E013CE1}"/>
              </a:ext>
            </a:extLst>
          </p:cNvPr>
          <p:cNvSpPr txBox="1"/>
          <p:nvPr/>
        </p:nvSpPr>
        <p:spPr>
          <a:xfrm>
            <a:off x="6738530" y="4603729"/>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
        <p:nvSpPr>
          <p:cNvPr id="3" name="TextBox 2">
            <a:extLst>
              <a:ext uri="{FF2B5EF4-FFF2-40B4-BE49-F238E27FC236}">
                <a16:creationId xmlns:a16="http://schemas.microsoft.com/office/drawing/2014/main" id="{8148C3A1-CB20-D859-452E-645F0DC6E500}"/>
              </a:ext>
            </a:extLst>
          </p:cNvPr>
          <p:cNvSpPr txBox="1"/>
          <p:nvPr/>
        </p:nvSpPr>
        <p:spPr>
          <a:xfrm>
            <a:off x="7494527" y="272460"/>
            <a:ext cx="1614488"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T0</a:t>
            </a:r>
          </a:p>
        </p:txBody>
      </p:sp>
      <p:sp>
        <p:nvSpPr>
          <p:cNvPr id="6" name="TextBox 5">
            <a:extLst>
              <a:ext uri="{FF2B5EF4-FFF2-40B4-BE49-F238E27FC236}">
                <a16:creationId xmlns:a16="http://schemas.microsoft.com/office/drawing/2014/main" id="{212B67D4-BC38-3399-DAD2-F527E92D1D9F}"/>
              </a:ext>
            </a:extLst>
          </p:cNvPr>
          <p:cNvSpPr txBox="1"/>
          <p:nvPr/>
        </p:nvSpPr>
        <p:spPr>
          <a:xfrm>
            <a:off x="7494527" y="2501765"/>
            <a:ext cx="2578153"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T30</a:t>
            </a:r>
          </a:p>
        </p:txBody>
      </p:sp>
      <p:sp>
        <p:nvSpPr>
          <p:cNvPr id="7" name="TextBox 6">
            <a:extLst>
              <a:ext uri="{FF2B5EF4-FFF2-40B4-BE49-F238E27FC236}">
                <a16:creationId xmlns:a16="http://schemas.microsoft.com/office/drawing/2014/main" id="{C2BB625C-BE6E-9583-DB6C-9A6874DE0655}"/>
              </a:ext>
            </a:extLst>
          </p:cNvPr>
          <p:cNvSpPr txBox="1"/>
          <p:nvPr/>
        </p:nvSpPr>
        <p:spPr>
          <a:xfrm>
            <a:off x="7494526" y="4731070"/>
            <a:ext cx="2578153"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T74</a:t>
            </a:r>
          </a:p>
        </p:txBody>
      </p:sp>
    </p:spTree>
    <p:extLst>
      <p:ext uri="{BB962C8B-B14F-4D97-AF65-F5344CB8AC3E}">
        <p14:creationId xmlns:p14="http://schemas.microsoft.com/office/powerpoint/2010/main" val="2443874943"/>
      </p:ext>
    </p:extLst>
  </p:cSld>
  <p:clrMapOvr>
    <a:masterClrMapping/>
  </p:clrMapOvr>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6833</TotalTime>
  <Words>1633</Words>
  <Application>Microsoft Macintosh PowerPoint</Application>
  <PresentationFormat>Widescreen</PresentationFormat>
  <Paragraphs>116</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Cambria Math</vt:lpstr>
      <vt:lpstr>Times New Roman</vt:lpstr>
      <vt:lpstr>Office Theme 2013 - 2022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Elaheh Rahbar</dc:creator>
  <cp:lastModifiedBy>Elaheh Rahbar</cp:lastModifiedBy>
  <cp:revision>139</cp:revision>
  <dcterms:created xsi:type="dcterms:W3CDTF">2023-01-17T21:07:46Z</dcterms:created>
  <dcterms:modified xsi:type="dcterms:W3CDTF">2023-07-27T13:23:58Z</dcterms:modified>
</cp:coreProperties>
</file>
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omments/modernComment_100_2E664027.xml" ContentType="application/vnd.ms-powerpoint.comments+xml"/>
  <Override PartName="/ppt/comments/modernComment_108_C2C44EA3.xml" ContentType="application/vnd.ms-powerpoint.comments+xml"/>
  <Override PartName="/ppt/comments/modernComment_102_A385E5E8.xml" ContentType="application/vnd.ms-powerpoint.comments+xml"/>
  <Override PartName="/ppt/comments/modernComment_107_51D495B5.xml" ContentType="application/vnd.ms-powerpoint.comments+xml"/>
  <Override PartName="/ppt/comments/modernComment_109_91AA927F.xml" ContentType="application/vnd.ms-powerpoint.comments+xml"/>
  <Override PartName="/ppt/authors.xml" ContentType="application/vnd.ms-powerpoint.author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4" r:id="rId3"/>
    <p:sldId id="258" r:id="rId4"/>
    <p:sldId id="260" r:id="rId5"/>
    <p:sldId id="259" r:id="rId6"/>
    <p:sldId id="263"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3EF7F0E-6016-F2DA-2006-CC8E15CD2C42}" name="Antonio Renaldo" initials="AR" userId="RvRPJKimqRgbh1APNI0sffYxWfAHaFN0B8a6AIerq9A=" providerId="None"/>
  <p188:author id="{7E532144-E669-783E-891D-C6DC41113ACF}" name="Elaheh Rahbar" initials="ER" userId="S::erahbar@vt.edu::6523711a-4c81-4bfb-8a9d-5f34735535d4" providerId="AD"/>
  <p188:author id="{3FDCF2CE-0CB8-C5B6-B7BB-E7B937EB1E47}" name="Fahim Mobin" initials="FM" userId="+celhw5mFnWnq8l6+7U4WCVL89IHeznU0TrxDPIn8RA=" providerId="None"/>
  <p188:author id="{1C2A5CEC-AE74-510E-3FBB-925866B4006A}" name="Fahim Mobin" initials="FM" userId="7b87623db71867c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A7199D-632B-4EA5-8FCB-45DF30223783}" v="129" dt="2023-07-17T12:22:24.365"/>
    <p1510:client id="{92C3E3AE-A61D-4E5C-B8D9-4E6118E20306}" v="12" dt="2023-02-06T16:47:39.016"/>
    <p1510:client id="{B8FB87D6-315B-452F-89D7-2CCB01462604}" v="2" dt="2023-01-30T18:29:43.467"/>
    <p1510:client id="{C56B680C-B3DE-4302-A53D-4F8B034FC2DC}" v="5" dt="2023-02-06T16:50:03.070"/>
    <p1510:client id="{E3681320-D02F-4BBF-A30D-1FEEC34E0670}" v="1" dt="2023-02-17T14:25:28.955"/>
    <p1510:client id="{E41DDE3F-32F1-4A86-A31F-AB7BF17FF34D}" v="15" dt="2023-01-30T17:17:31.0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6"/>
    <p:restoredTop sz="93197" autoAdjust="0"/>
  </p:normalViewPr>
  <p:slideViewPr>
    <p:cSldViewPr snapToGrid="0">
      <p:cViewPr>
        <p:scale>
          <a:sx n="100" d="100"/>
          <a:sy n="100" d="100"/>
        </p:scale>
        <p:origin x="1002"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him Mobin" userId="+celhw5mFnWnq8l6+7U4WCVL89IHeznU0TrxDPIn8RA=" providerId="None" clId="Web-{B8FB87D6-315B-452F-89D7-2CCB01462604}"/>
    <pc:docChg chg="">
      <pc:chgData name="Fahim Mobin" userId="+celhw5mFnWnq8l6+7U4WCVL89IHeznU0TrxDPIn8RA=" providerId="None" clId="Web-{B8FB87D6-315B-452F-89D7-2CCB01462604}" dt="2023-01-30T18:29:43.467" v="1"/>
      <pc:docMkLst>
        <pc:docMk/>
      </pc:docMkLst>
      <pc:sldChg chg="modCm">
        <pc:chgData name="Fahim Mobin" userId="+celhw5mFnWnq8l6+7U4WCVL89IHeznU0TrxDPIn8RA=" providerId="None" clId="Web-{B8FB87D6-315B-452F-89D7-2CCB01462604}" dt="2023-01-30T18:29:16.997" v="0"/>
        <pc:sldMkLst>
          <pc:docMk/>
          <pc:sldMk cId="778453031" sldId="256"/>
        </pc:sldMkLst>
        <pc:extLst>
          <p:ext xmlns:p="http://schemas.openxmlformats.org/presentationml/2006/main" uri="{D6D511B9-2390-475A-947B-AFAB55BFBCF1}">
            <pc226:cmChg xmlns:pc226="http://schemas.microsoft.com/office/powerpoint/2022/06/main/command" chg="">
              <pc226:chgData name="Fahim Mobin" userId="+celhw5mFnWnq8l6+7U4WCVL89IHeznU0TrxDPIn8RA=" providerId="None" clId="Web-{B8FB87D6-315B-452F-89D7-2CCB01462604}" dt="2023-01-30T18:29:16.997" v="0"/>
              <pc2:cmMkLst xmlns:pc2="http://schemas.microsoft.com/office/powerpoint/2019/9/main/command">
                <pc:docMk/>
                <pc:sldMk cId="778453031" sldId="256"/>
                <pc2:cmMk id="{300B80DF-C211-BF49-8E86-10307CA0E2D4}"/>
              </pc2:cmMkLst>
              <pc226:cmRplyChg chg="add">
                <pc226:chgData name="Fahim Mobin" userId="+celhw5mFnWnq8l6+7U4WCVL89IHeznU0TrxDPIn8RA=" providerId="None" clId="Web-{B8FB87D6-315B-452F-89D7-2CCB01462604}" dt="2023-01-30T18:29:16.997" v="0"/>
                <pc2:cmRplyMkLst xmlns:pc2="http://schemas.microsoft.com/office/powerpoint/2019/9/main/command">
                  <pc:docMk/>
                  <pc:sldMk cId="778453031" sldId="256"/>
                  <pc2:cmMk id="{300B80DF-C211-BF49-8E86-10307CA0E2D4}"/>
                  <pc2:cmRplyMk id="{DA79019F-FC7A-4041-9147-80DC1506552D}"/>
                </pc2:cmRplyMkLst>
              </pc226:cmRplyChg>
            </pc226:cmChg>
          </p:ext>
        </pc:extLst>
      </pc:sldChg>
      <pc:sldChg chg="modCm">
        <pc:chgData name="Fahim Mobin" userId="+celhw5mFnWnq8l6+7U4WCVL89IHeznU0TrxDPIn8RA=" providerId="None" clId="Web-{B8FB87D6-315B-452F-89D7-2CCB01462604}" dt="2023-01-30T18:29:43.467" v="1"/>
        <pc:sldMkLst>
          <pc:docMk/>
          <pc:sldMk cId="2743461352" sldId="258"/>
        </pc:sldMkLst>
        <pc:extLst>
          <p:ext xmlns:p="http://schemas.openxmlformats.org/presentationml/2006/main" uri="{D6D511B9-2390-475A-947B-AFAB55BFBCF1}">
            <pc226:cmChg xmlns:pc226="http://schemas.microsoft.com/office/powerpoint/2022/06/main/command" chg="">
              <pc226:chgData name="Fahim Mobin" userId="+celhw5mFnWnq8l6+7U4WCVL89IHeznU0TrxDPIn8RA=" providerId="None" clId="Web-{B8FB87D6-315B-452F-89D7-2CCB01462604}" dt="2023-01-30T18:29:43.467" v="1"/>
              <pc2:cmMkLst xmlns:pc2="http://schemas.microsoft.com/office/powerpoint/2019/9/main/command">
                <pc:docMk/>
                <pc:sldMk cId="2743461352" sldId="258"/>
                <pc2:cmMk id="{F57122FF-AFEA-A64E-A74F-2D2EF6862240}"/>
              </pc2:cmMkLst>
              <pc226:cmRplyChg chg="add">
                <pc226:chgData name="Fahim Mobin" userId="+celhw5mFnWnq8l6+7U4WCVL89IHeznU0TrxDPIn8RA=" providerId="None" clId="Web-{B8FB87D6-315B-452F-89D7-2CCB01462604}" dt="2023-01-30T18:29:43.467" v="1"/>
                <pc2:cmRplyMkLst xmlns:pc2="http://schemas.microsoft.com/office/powerpoint/2019/9/main/command">
                  <pc:docMk/>
                  <pc:sldMk cId="2743461352" sldId="258"/>
                  <pc2:cmMk id="{F57122FF-AFEA-A64E-A74F-2D2EF6862240}"/>
                  <pc2:cmRplyMk id="{CD867034-E387-40FA-AB59-2913E84C8036}"/>
                </pc2:cmRplyMkLst>
              </pc226:cmRplyChg>
            </pc226:cmChg>
          </p:ext>
        </pc:extLst>
      </pc:sldChg>
    </pc:docChg>
  </pc:docChgLst>
  <pc:docChgLst>
    <pc:chgData name="Fahim Mobin" clId="Web-{92C3E3AE-A61D-4E5C-B8D9-4E6118E20306}"/>
    <pc:docChg chg="modSld">
      <pc:chgData name="Fahim Mobin" userId="" providerId="" clId="Web-{92C3E3AE-A61D-4E5C-B8D9-4E6118E20306}" dt="2023-02-06T16:47:34.797" v="9" actId="20577"/>
      <pc:docMkLst>
        <pc:docMk/>
      </pc:docMkLst>
      <pc:sldChg chg="modSp modCm">
        <pc:chgData name="Fahim Mobin" userId="" providerId="" clId="Web-{92C3E3AE-A61D-4E5C-B8D9-4E6118E20306}" dt="2023-02-06T16:47:34.797" v="9" actId="20577"/>
        <pc:sldMkLst>
          <pc:docMk/>
          <pc:sldMk cId="1372886453" sldId="263"/>
        </pc:sldMkLst>
        <pc:spChg chg="mod">
          <ac:chgData name="Fahim Mobin" userId="" providerId="" clId="Web-{92C3E3AE-A61D-4E5C-B8D9-4E6118E20306}" dt="2023-02-06T16:47:34.797" v="9" actId="20577"/>
          <ac:spMkLst>
            <pc:docMk/>
            <pc:sldMk cId="1372886453" sldId="263"/>
            <ac:spMk id="5" creationId="{BA8A8D31-1B00-3F4C-B543-5C9C738958CA}"/>
          </ac:spMkLst>
        </pc:spChg>
        <pc:extLst>
          <p:ext xmlns:p="http://schemas.openxmlformats.org/presentationml/2006/main" uri="{D6D511B9-2390-475A-947B-AFAB55BFBCF1}">
            <pc226:cmChg xmlns:pc226="http://schemas.microsoft.com/office/powerpoint/2022/06/main/command" chg="">
              <pc226:chgData name="Fahim Mobin" userId="" providerId="" clId="Web-{92C3E3AE-A61D-4E5C-B8D9-4E6118E20306}" dt="2023-02-06T16:31:44.741" v="0"/>
              <pc2:cmMkLst xmlns:pc2="http://schemas.microsoft.com/office/powerpoint/2019/9/main/command">
                <pc:docMk/>
                <pc:sldMk cId="1372886453" sldId="263"/>
                <pc2:cmMk id="{D1C069D7-C123-5A4E-B796-5985C66B3103}"/>
              </pc2:cmMkLst>
              <pc226:cmRplyChg chg="add">
                <pc226:chgData name="Fahim Mobin" userId="" providerId="" clId="Web-{92C3E3AE-A61D-4E5C-B8D9-4E6118E20306}" dt="2023-02-06T16:31:44.741" v="0"/>
                <pc2:cmRplyMkLst xmlns:pc2="http://schemas.microsoft.com/office/powerpoint/2019/9/main/command">
                  <pc:docMk/>
                  <pc:sldMk cId="1372886453" sldId="263"/>
                  <pc2:cmMk id="{D1C069D7-C123-5A4E-B796-5985C66B3103}"/>
                  <pc2:cmRplyMk id="{94E85C8C-768C-4051-8C34-2D0EE0BD9355}"/>
                </pc2:cmRplyMkLst>
              </pc226:cmRplyChg>
            </pc226:cmChg>
            <pc226:cmChg xmlns:pc226="http://schemas.microsoft.com/office/powerpoint/2022/06/main/command" chg="mod">
              <pc226:chgData name="Fahim Mobin" userId="" providerId="" clId="Web-{92C3E3AE-A61D-4E5C-B8D9-4E6118E20306}" dt="2023-02-06T16:47:34.797" v="9" actId="20577"/>
              <pc2:cmMkLst xmlns:pc2="http://schemas.microsoft.com/office/powerpoint/2019/9/main/command">
                <pc:docMk/>
                <pc:sldMk cId="1372886453" sldId="263"/>
                <pc2:cmMk id="{C064FCF0-E77A-43BB-BEA5-06E739FF2E17}"/>
              </pc2:cmMkLst>
            </pc226:cmChg>
          </p:ext>
        </pc:extLst>
      </pc:sldChg>
    </pc:docChg>
  </pc:docChgLst>
  <pc:docChgLst>
    <pc:chgData name="Fahim Mobin" userId="+celhw5mFnWnq8l6+7U4WCVL89IHeznU0TrxDPIn8RA=" providerId="None" clId="Web-{E3681320-D02F-4BBF-A30D-1FEEC34E0670}"/>
    <pc:docChg chg="modSld">
      <pc:chgData name="Fahim Mobin" userId="+celhw5mFnWnq8l6+7U4WCVL89IHeznU0TrxDPIn8RA=" providerId="None" clId="Web-{E3681320-D02F-4BBF-A30D-1FEEC34E0670}" dt="2023-02-17T14:25:28.955" v="0" actId="1076"/>
      <pc:docMkLst>
        <pc:docMk/>
      </pc:docMkLst>
      <pc:sldChg chg="modSp">
        <pc:chgData name="Fahim Mobin" userId="+celhw5mFnWnq8l6+7U4WCVL89IHeznU0TrxDPIn8RA=" providerId="None" clId="Web-{E3681320-D02F-4BBF-A30D-1FEEC34E0670}" dt="2023-02-17T14:25:28.955" v="0" actId="1076"/>
        <pc:sldMkLst>
          <pc:docMk/>
          <pc:sldMk cId="2443874943" sldId="265"/>
        </pc:sldMkLst>
        <pc:spChg chg="mod">
          <ac:chgData name="Fahim Mobin" userId="+celhw5mFnWnq8l6+7U4WCVL89IHeznU0TrxDPIn8RA=" providerId="None" clId="Web-{E3681320-D02F-4BBF-A30D-1FEEC34E0670}" dt="2023-02-17T14:25:28.955" v="0" actId="1076"/>
          <ac:spMkLst>
            <pc:docMk/>
            <pc:sldMk cId="2443874943" sldId="265"/>
            <ac:spMk id="5" creationId="{BA8A8D31-1B00-3F4C-B543-5C9C738958CA}"/>
          </ac:spMkLst>
        </pc:spChg>
      </pc:sldChg>
    </pc:docChg>
  </pc:docChgLst>
  <pc:docChgLst>
    <pc:chgData name="Fahim Mobin" userId="+celhw5mFnWnq8l6+7U4WCVL89IHeznU0TrxDPIn8RA=" providerId="None" clId="Web-{E41DDE3F-32F1-4A86-A31F-AB7BF17FF34D}"/>
    <pc:docChg chg="mod modSld">
      <pc:chgData name="Fahim Mobin" userId="+celhw5mFnWnq8l6+7U4WCVL89IHeznU0TrxDPIn8RA=" providerId="None" clId="Web-{E41DDE3F-32F1-4A86-A31F-AB7BF17FF34D}" dt="2023-01-30T17:17:31.071" v="9"/>
      <pc:docMkLst>
        <pc:docMk/>
      </pc:docMkLst>
      <pc:sldChg chg="modSp modCm">
        <pc:chgData name="Fahim Mobin" userId="+celhw5mFnWnq8l6+7U4WCVL89IHeznU0TrxDPIn8RA=" providerId="None" clId="Web-{E41DDE3F-32F1-4A86-A31F-AB7BF17FF34D}" dt="2023-01-30T17:07:19.040" v="5"/>
        <pc:sldMkLst>
          <pc:docMk/>
          <pc:sldMk cId="3267645091" sldId="264"/>
        </pc:sldMkLst>
        <pc:picChg chg="mod">
          <ac:chgData name="Fahim Mobin" userId="+celhw5mFnWnq8l6+7U4WCVL89IHeznU0TrxDPIn8RA=" providerId="None" clId="Web-{E41DDE3F-32F1-4A86-A31F-AB7BF17FF34D}" dt="2023-01-30T17:06:54.540" v="1"/>
          <ac:picMkLst>
            <pc:docMk/>
            <pc:sldMk cId="3267645091" sldId="264"/>
            <ac:picMk id="1026" creationId="{85F0A0EC-A179-3187-A05B-400FDE5C0898}"/>
          </ac:picMkLst>
        </pc:picChg>
        <pc:picChg chg="mod">
          <ac:chgData name="Fahim Mobin" userId="+celhw5mFnWnq8l6+7U4WCVL89IHeznU0TrxDPIn8RA=" providerId="None" clId="Web-{E41DDE3F-32F1-4A86-A31F-AB7BF17FF34D}" dt="2023-01-30T17:07:02.915" v="2"/>
          <ac:picMkLst>
            <pc:docMk/>
            <pc:sldMk cId="3267645091" sldId="264"/>
            <ac:picMk id="1028" creationId="{F3561105-690E-F0B9-F010-127B1B4E4F2C}"/>
          </ac:picMkLst>
        </pc:picChg>
        <pc:picChg chg="mod">
          <ac:chgData name="Fahim Mobin" userId="+celhw5mFnWnq8l6+7U4WCVL89IHeznU0TrxDPIn8RA=" providerId="None" clId="Web-{E41DDE3F-32F1-4A86-A31F-AB7BF17FF34D}" dt="2023-01-30T17:07:10.196" v="3"/>
          <ac:picMkLst>
            <pc:docMk/>
            <pc:sldMk cId="3267645091" sldId="264"/>
            <ac:picMk id="1030" creationId="{8335DC1B-C0A0-90FB-E407-0523A6316BE0}"/>
          </ac:picMkLst>
        </pc:picChg>
        <pc:extLst>
          <p:ext xmlns:p="http://schemas.openxmlformats.org/presentationml/2006/main" uri="{D6D511B9-2390-475A-947B-AFAB55BFBCF1}">
            <pc226:cmChg xmlns:pc226="http://schemas.microsoft.com/office/powerpoint/2022/06/main/command" chg="">
              <pc226:chgData name="Fahim Mobin" userId="+celhw5mFnWnq8l6+7U4WCVL89IHeznU0TrxDPIn8RA=" providerId="None" clId="Web-{E41DDE3F-32F1-4A86-A31F-AB7BF17FF34D}" dt="2023-01-30T17:07:19.040" v="5"/>
              <pc2:cmMkLst xmlns:pc2="http://schemas.microsoft.com/office/powerpoint/2019/9/main/command">
                <pc:docMk/>
                <pc:sldMk cId="3267645091" sldId="264"/>
                <pc2:cmMk id="{C7D980D3-38C6-854F-843E-136653C4A05C}"/>
              </pc2:cmMkLst>
              <pc226:cmRplyChg chg="add">
                <pc226:chgData name="Fahim Mobin" userId="+celhw5mFnWnq8l6+7U4WCVL89IHeznU0TrxDPIn8RA=" providerId="None" clId="Web-{E41DDE3F-32F1-4A86-A31F-AB7BF17FF34D}" dt="2023-01-30T17:07:19.040" v="5"/>
                <pc2:cmRplyMkLst xmlns:pc2="http://schemas.microsoft.com/office/powerpoint/2019/9/main/command">
                  <pc:docMk/>
                  <pc:sldMk cId="3267645091" sldId="264"/>
                  <pc2:cmMk id="{C7D980D3-38C6-854F-843E-136653C4A05C}"/>
                  <pc2:cmRplyMk id="{C7336F19-D389-44FB-9951-2B170EA45214}"/>
                </pc2:cmRplyMkLst>
              </pc226:cmRplyChg>
            </pc226:cmChg>
          </p:ext>
        </pc:extLst>
      </pc:sldChg>
      <pc:sldChg chg="modSp modCm">
        <pc:chgData name="Fahim Mobin" userId="+celhw5mFnWnq8l6+7U4WCVL89IHeznU0TrxDPIn8RA=" providerId="None" clId="Web-{E41DDE3F-32F1-4A86-A31F-AB7BF17FF34D}" dt="2023-01-30T17:17:31.071" v="9"/>
        <pc:sldMkLst>
          <pc:docMk/>
          <pc:sldMk cId="2443874943" sldId="265"/>
        </pc:sldMkLst>
        <pc:picChg chg="mod">
          <ac:chgData name="Fahim Mobin" userId="+celhw5mFnWnq8l6+7U4WCVL89IHeznU0TrxDPIn8RA=" providerId="None" clId="Web-{E41DDE3F-32F1-4A86-A31F-AB7BF17FF34D}" dt="2023-01-30T17:17:06.227" v="6"/>
          <ac:picMkLst>
            <pc:docMk/>
            <pc:sldMk cId="2443874943" sldId="265"/>
            <ac:picMk id="1026" creationId="{85F0A0EC-A179-3187-A05B-400FDE5C0898}"/>
          </ac:picMkLst>
        </pc:picChg>
        <pc:picChg chg="mod">
          <ac:chgData name="Fahim Mobin" userId="+celhw5mFnWnq8l6+7U4WCVL89IHeznU0TrxDPIn8RA=" providerId="None" clId="Web-{E41DDE3F-32F1-4A86-A31F-AB7BF17FF34D}" dt="2023-01-30T17:17:14.055" v="7"/>
          <ac:picMkLst>
            <pc:docMk/>
            <pc:sldMk cId="2443874943" sldId="265"/>
            <ac:picMk id="1028" creationId="{F3561105-690E-F0B9-F010-127B1B4E4F2C}"/>
          </ac:picMkLst>
        </pc:picChg>
        <pc:picChg chg="mod">
          <ac:chgData name="Fahim Mobin" userId="+celhw5mFnWnq8l6+7U4WCVL89IHeznU0TrxDPIn8RA=" providerId="None" clId="Web-{E41DDE3F-32F1-4A86-A31F-AB7BF17FF34D}" dt="2023-01-30T17:17:21.774" v="8"/>
          <ac:picMkLst>
            <pc:docMk/>
            <pc:sldMk cId="2443874943" sldId="265"/>
            <ac:picMk id="1030" creationId="{8335DC1B-C0A0-90FB-E407-0523A6316BE0}"/>
          </ac:picMkLst>
        </pc:picChg>
        <pc:extLst>
          <p:ext xmlns:p="http://schemas.openxmlformats.org/presentationml/2006/main" uri="{D6D511B9-2390-475A-947B-AFAB55BFBCF1}">
            <pc226:cmChg xmlns:pc226="http://schemas.microsoft.com/office/powerpoint/2022/06/main/command" chg="">
              <pc226:chgData name="Fahim Mobin" userId="+celhw5mFnWnq8l6+7U4WCVL89IHeznU0TrxDPIn8RA=" providerId="None" clId="Web-{E41DDE3F-32F1-4A86-A31F-AB7BF17FF34D}" dt="2023-01-30T17:17:31.071" v="9"/>
              <pc2:cmMkLst xmlns:pc2="http://schemas.microsoft.com/office/powerpoint/2019/9/main/command">
                <pc:docMk/>
                <pc:sldMk cId="2443874943" sldId="265"/>
                <pc2:cmMk id="{D7DB4DEC-F329-B845-B154-3C33BBC6EF7A}"/>
              </pc2:cmMkLst>
              <pc226:cmRplyChg chg="add">
                <pc226:chgData name="Fahim Mobin" userId="+celhw5mFnWnq8l6+7U4WCVL89IHeznU0TrxDPIn8RA=" providerId="None" clId="Web-{E41DDE3F-32F1-4A86-A31F-AB7BF17FF34D}" dt="2023-01-30T17:17:31.071" v="9"/>
                <pc2:cmRplyMkLst xmlns:pc2="http://schemas.microsoft.com/office/powerpoint/2019/9/main/command">
                  <pc:docMk/>
                  <pc:sldMk cId="2443874943" sldId="265"/>
                  <pc2:cmMk id="{D7DB4DEC-F329-B845-B154-3C33BBC6EF7A}"/>
                  <pc2:cmRplyMk id="{7955A3E6-DBC9-48F5-84C8-50F739737D79}"/>
                </pc2:cmRplyMkLst>
              </pc226:cmRplyChg>
            </pc226:cmChg>
          </p:ext>
        </pc:extLst>
      </pc:sldChg>
    </pc:docChg>
  </pc:docChgLst>
  <pc:docChgLst>
    <pc:chgData name="Antonio Renaldo" userId="RvRPJKimqRgbh1APNI0sffYxWfAHaFN0B8a6AIerq9A=" providerId="None" clId="Web-{C56B680C-B3DE-4302-A53D-4F8B034FC2DC}"/>
    <pc:docChg chg="mod">
      <pc:chgData name="Antonio Renaldo" userId="RvRPJKimqRgbh1APNI0sffYxWfAHaFN0B8a6AIerq9A=" providerId="None" clId="Web-{C56B680C-B3DE-4302-A53D-4F8B034FC2DC}" dt="2023-02-06T16:50:03.070" v="4"/>
      <pc:docMkLst>
        <pc:docMk/>
      </pc:docMkLst>
      <pc:sldChg chg="addCm">
        <pc:chgData name="Antonio Renaldo" userId="RvRPJKimqRgbh1APNI0sffYxWfAHaFN0B8a6AIerq9A=" providerId="None" clId="Web-{C56B680C-B3DE-4302-A53D-4F8B034FC2DC}" dt="2023-02-06T16:32:08.666" v="2"/>
        <pc:sldMkLst>
          <pc:docMk/>
          <pc:sldMk cId="2743461352" sldId="258"/>
        </pc:sldMkLst>
        <pc:extLst>
          <p:ext xmlns:p="http://schemas.openxmlformats.org/presentationml/2006/main" uri="{D6D511B9-2390-475A-947B-AFAB55BFBCF1}">
            <pc226:cmChg xmlns:pc226="http://schemas.microsoft.com/office/powerpoint/2022/06/main/command" chg="add">
              <pc226:chgData name="Antonio Renaldo" userId="RvRPJKimqRgbh1APNI0sffYxWfAHaFN0B8a6AIerq9A=" providerId="None" clId="Web-{C56B680C-B3DE-4302-A53D-4F8B034FC2DC}" dt="2023-02-06T16:32:08.666" v="2"/>
              <pc2:cmMkLst xmlns:pc2="http://schemas.microsoft.com/office/powerpoint/2019/9/main/command">
                <pc:docMk/>
                <pc:sldMk cId="2743461352" sldId="258"/>
                <pc2:cmMk id="{4253A58B-C4AF-400B-9BE7-52AD404AA98C}"/>
              </pc2:cmMkLst>
            </pc226:cmChg>
          </p:ext>
        </pc:extLst>
      </pc:sldChg>
      <pc:sldChg chg="addCm">
        <pc:chgData name="Antonio Renaldo" userId="RvRPJKimqRgbh1APNI0sffYxWfAHaFN0B8a6AIerq9A=" providerId="None" clId="Web-{C56B680C-B3DE-4302-A53D-4F8B034FC2DC}" dt="2023-02-06T16:50:03.070" v="4"/>
        <pc:sldMkLst>
          <pc:docMk/>
          <pc:sldMk cId="1372886453" sldId="263"/>
        </pc:sldMkLst>
        <pc:extLst>
          <p:ext xmlns:p="http://schemas.openxmlformats.org/presentationml/2006/main" uri="{D6D511B9-2390-475A-947B-AFAB55BFBCF1}">
            <pc226:cmChg xmlns:pc226="http://schemas.microsoft.com/office/powerpoint/2022/06/main/command" chg="add">
              <pc226:chgData name="Antonio Renaldo" userId="RvRPJKimqRgbh1APNI0sffYxWfAHaFN0B8a6AIerq9A=" providerId="None" clId="Web-{C56B680C-B3DE-4302-A53D-4F8B034FC2DC}" dt="2023-02-06T16:50:03.070" v="4"/>
              <pc2:cmMkLst xmlns:pc2="http://schemas.microsoft.com/office/powerpoint/2019/9/main/command">
                <pc:docMk/>
                <pc:sldMk cId="1372886453" sldId="263"/>
                <pc2:cmMk id="{32838395-70C4-4728-9D75-2164A597AE18}"/>
              </pc2:cmMkLst>
            </pc226:cmChg>
          </p:ext>
        </pc:extLst>
      </pc:sldChg>
      <pc:sldChg chg="addCm">
        <pc:chgData name="Antonio Renaldo" userId="RvRPJKimqRgbh1APNI0sffYxWfAHaFN0B8a6AIerq9A=" providerId="None" clId="Web-{C56B680C-B3DE-4302-A53D-4F8B034FC2DC}" dt="2023-02-06T16:31:28.633" v="1"/>
        <pc:sldMkLst>
          <pc:docMk/>
          <pc:sldMk cId="3267645091" sldId="264"/>
        </pc:sldMkLst>
        <pc:extLst>
          <p:ext xmlns:p="http://schemas.openxmlformats.org/presentationml/2006/main" uri="{D6D511B9-2390-475A-947B-AFAB55BFBCF1}">
            <pc226:cmChg xmlns:pc226="http://schemas.microsoft.com/office/powerpoint/2022/06/main/command" chg="add">
              <pc226:chgData name="Antonio Renaldo" userId="RvRPJKimqRgbh1APNI0sffYxWfAHaFN0B8a6AIerq9A=" providerId="None" clId="Web-{C56B680C-B3DE-4302-A53D-4F8B034FC2DC}" dt="2023-02-06T16:31:28.633" v="1"/>
              <pc2:cmMkLst xmlns:pc2="http://schemas.microsoft.com/office/powerpoint/2019/9/main/command">
                <pc:docMk/>
                <pc:sldMk cId="3267645091" sldId="264"/>
                <pc2:cmMk id="{8247B3EB-617D-446E-8505-EFAD3CF54C5C}"/>
              </pc2:cmMkLst>
            </pc226:cmChg>
          </p:ext>
        </pc:extLst>
      </pc:sldChg>
      <pc:sldChg chg="addCm">
        <pc:chgData name="Antonio Renaldo" userId="RvRPJKimqRgbh1APNI0sffYxWfAHaFN0B8a6AIerq9A=" providerId="None" clId="Web-{C56B680C-B3DE-4302-A53D-4F8B034FC2DC}" dt="2023-02-06T16:33:59.372" v="3"/>
        <pc:sldMkLst>
          <pc:docMk/>
          <pc:sldMk cId="2443874943" sldId="265"/>
        </pc:sldMkLst>
        <pc:extLst>
          <p:ext xmlns:p="http://schemas.openxmlformats.org/presentationml/2006/main" uri="{D6D511B9-2390-475A-947B-AFAB55BFBCF1}">
            <pc226:cmChg xmlns:pc226="http://schemas.microsoft.com/office/powerpoint/2022/06/main/command" chg="add">
              <pc226:chgData name="Antonio Renaldo" userId="RvRPJKimqRgbh1APNI0sffYxWfAHaFN0B8a6AIerq9A=" providerId="None" clId="Web-{C56B680C-B3DE-4302-A53D-4F8B034FC2DC}" dt="2023-02-06T16:33:59.372" v="3"/>
              <pc2:cmMkLst xmlns:pc2="http://schemas.microsoft.com/office/powerpoint/2019/9/main/command">
                <pc:docMk/>
                <pc:sldMk cId="2443874943" sldId="265"/>
                <pc2:cmMk id="{A5435CFD-62FA-42EF-8C1E-9E76C3337BF1}"/>
              </pc2:cmMkLst>
            </pc226:cmChg>
          </p:ext>
        </pc:extLst>
      </pc:sldChg>
    </pc:docChg>
  </pc:docChgLst>
  <pc:docChgLst>
    <pc:chgData name="Fahim Mobin" userId="+celhw5mFnWnq8l6+7U4WCVL89IHeznU0TrxDPIn8RA=" providerId="None" clId="Web-{58A7199D-632B-4EA5-8FCB-45DF30223783}"/>
    <pc:docChg chg="modSld">
      <pc:chgData name="Fahim Mobin" userId="+celhw5mFnWnq8l6+7U4WCVL89IHeznU0TrxDPIn8RA=" providerId="None" clId="Web-{58A7199D-632B-4EA5-8FCB-45DF30223783}" dt="2023-07-17T12:22:18.115" v="58" actId="20577"/>
      <pc:docMkLst>
        <pc:docMk/>
      </pc:docMkLst>
      <pc:sldChg chg="modSp">
        <pc:chgData name="Fahim Mobin" userId="+celhw5mFnWnq8l6+7U4WCVL89IHeznU0TrxDPIn8RA=" providerId="None" clId="Web-{58A7199D-632B-4EA5-8FCB-45DF30223783}" dt="2023-07-17T12:21:26.504" v="54" actId="20577"/>
        <pc:sldMkLst>
          <pc:docMk/>
          <pc:sldMk cId="2743461352" sldId="258"/>
        </pc:sldMkLst>
        <pc:spChg chg="mod">
          <ac:chgData name="Fahim Mobin" userId="+celhw5mFnWnq8l6+7U4WCVL89IHeznU0TrxDPIn8RA=" providerId="None" clId="Web-{58A7199D-632B-4EA5-8FCB-45DF30223783}" dt="2023-07-17T12:21:26.504" v="54" actId="20577"/>
          <ac:spMkLst>
            <pc:docMk/>
            <pc:sldMk cId="2743461352" sldId="258"/>
            <ac:spMk id="5" creationId="{BA8A8D31-1B00-3F4C-B543-5C9C738958CA}"/>
          </ac:spMkLst>
        </pc:spChg>
      </pc:sldChg>
      <pc:sldChg chg="modSp">
        <pc:chgData name="Fahim Mobin" userId="+celhw5mFnWnq8l6+7U4WCVL89IHeznU0TrxDPIn8RA=" providerId="None" clId="Web-{58A7199D-632B-4EA5-8FCB-45DF30223783}" dt="2023-07-17T12:22:18.115" v="58" actId="20577"/>
        <pc:sldMkLst>
          <pc:docMk/>
          <pc:sldMk cId="3079592782" sldId="260"/>
        </pc:sldMkLst>
        <pc:spChg chg="mod">
          <ac:chgData name="Fahim Mobin" userId="+celhw5mFnWnq8l6+7U4WCVL89IHeznU0TrxDPIn8RA=" providerId="None" clId="Web-{58A7199D-632B-4EA5-8FCB-45DF30223783}" dt="2023-07-17T12:22:18.115" v="58" actId="20577"/>
          <ac:spMkLst>
            <pc:docMk/>
            <pc:sldMk cId="3079592782" sldId="260"/>
            <ac:spMk id="5" creationId="{BA8A8D31-1B00-3F4C-B543-5C9C738958CA}"/>
          </ac:spMkLst>
        </pc:spChg>
      </pc:sldChg>
    </pc:docChg>
  </pc:docChgLst>
</pc:chgInfo>
</file>

<file path=ppt/comments/modernComment_100_2E664027.xml><?xml version="1.0" encoding="utf-8"?>
<p188:cmLst xmlns:a="http://schemas.openxmlformats.org/drawingml/2006/main" xmlns:r="http://schemas.openxmlformats.org/officeDocument/2006/relationships" xmlns:p188="http://schemas.microsoft.com/office/powerpoint/2018/8/main">
  <p188:cm id="{300B80DF-C211-BF49-8E86-10307CA0E2D4}" authorId="{7E532144-E669-783E-891D-C6DC41113ACF}" created="2023-01-29T15:31:24.848">
    <pc:sldMkLst xmlns:pc="http://schemas.microsoft.com/office/powerpoint/2013/main/command">
      <pc:docMk/>
      <pc:sldMk cId="778453031" sldId="256"/>
    </pc:sldMkLst>
    <p188:replyLst>
      <p188:reply id="{DA79019F-FC7A-4041-9147-80DC1506552D}" authorId="{3FDCF2CE-0CB8-C5B6-B7BB-E7B937EB1E47}" created="2023-01-30T18:29:16.997">
        <p188:txBody>
          <a:bodyPr/>
          <a:lstStyle/>
          <a:p>
            <a:r>
              <a:rPr lang="en-US"/>
              <a:t>Yes, I think the boxes got messed up so I re-oriented them</a:t>
            </a:r>
          </a:p>
        </p188:txBody>
      </p188:reply>
    </p188:replyLst>
    <p188:txBody>
      <a:bodyPr/>
      <a:lstStyle/>
      <a:p>
        <a:r>
          <a:rPr lang="en-US"/>
          <a:t>@Fahim, does the during IVCO box need to be smaller? - currently it spans 40 seconds</a:t>
        </a:r>
      </a:p>
    </p188:txBody>
  </p188:cm>
</p188:cmLst>
</file>

<file path=ppt/comments/modernComment_102_A385E5E8.xml><?xml version="1.0" encoding="utf-8"?>
<p188:cmLst xmlns:a="http://schemas.openxmlformats.org/drawingml/2006/main" xmlns:r="http://schemas.openxmlformats.org/officeDocument/2006/relationships" xmlns:p188="http://schemas.microsoft.com/office/powerpoint/2018/8/main">
  <p188:cm id="{F57122FF-AFEA-A64E-A74F-2D2EF6862240}" authorId="{7E532144-E669-783E-891D-C6DC41113ACF}" created="2023-01-29T15:42:33.334">
    <pc:sldMkLst xmlns:pc="http://schemas.microsoft.com/office/powerpoint/2013/main/command">
      <pc:docMk/>
      <pc:sldMk cId="2743461352" sldId="258"/>
    </pc:sldMkLst>
    <p188:replyLst>
      <p188:reply id="{CD867034-E387-40FA-AB59-2913E84C8036}" authorId="{3FDCF2CE-0CB8-C5B6-B7BB-E7B937EB1E47}" created="2023-01-30T18:29:43.467">
        <p188:txBody>
          <a:bodyPr/>
          <a:lstStyle/>
          <a:p>
            <a:r>
              <a:rPr lang="en-US"/>
              <a:t>I have made the change</a:t>
            </a:r>
          </a:p>
        </p188:txBody>
      </p188:reply>
    </p188:replyLst>
    <p188:txBody>
      <a:bodyPr/>
      <a:lstStyle/>
      <a:p>
        <a:r>
          <a:rPr lang="en-US"/>
          <a:t>@Fahim, the control are blue, REBOA red and EVAC purple in figure 2; but figures 3 and 4 have a different color scheme. I think sticking to one color scheme would be better. 
i like the red, blue and purple color combo</a:t>
        </a:r>
      </a:p>
    </p188:txBody>
  </p188:cm>
  <p188:cm id="{4253A58B-C4AF-400B-9BE7-52AD404AA98C}" authorId="{73EF7F0E-6016-F2DA-2006-CC8E15CD2C42}" created="2023-02-06T16:32:08.666">
    <ac:deMkLst xmlns:ac="http://schemas.microsoft.com/office/drawing/2013/main/command">
      <pc:docMk xmlns:pc="http://schemas.microsoft.com/office/powerpoint/2013/main/command"/>
      <pc:sldMk xmlns:pc="http://schemas.microsoft.com/office/powerpoint/2013/main/command" cId="2743461352" sldId="258"/>
      <ac:spMk id="3" creationId="{FCEC8FF7-D77B-882C-3963-FF7A3C215F5F}"/>
    </ac:deMkLst>
    <p188:txBody>
      <a:bodyPr/>
      <a:lstStyle/>
      <a:p>
        <a:r>
          <a:rPr lang="en-US"/>
          <a:t>Add line to show which are statistically significant from each other (at each timepoint, across time)</a:t>
        </a:r>
      </a:p>
    </p188:txBody>
  </p188:cm>
</p188:cmLst>
</file>

<file path=ppt/comments/modernComment_107_51D495B5.xml><?xml version="1.0" encoding="utf-8"?>
<p188:cmLst xmlns:a="http://schemas.openxmlformats.org/drawingml/2006/main" xmlns:r="http://schemas.openxmlformats.org/officeDocument/2006/relationships" xmlns:p188="http://schemas.microsoft.com/office/powerpoint/2018/8/main">
  <p188:cm id="{D1C069D7-C123-5A4E-B796-5985C66B3103}" authorId="{7E532144-E669-783E-891D-C6DC41113ACF}" created="2023-01-29T16:05:46.173">
    <pc:sldMkLst xmlns:pc="http://schemas.microsoft.com/office/powerpoint/2013/main/command">
      <pc:docMk/>
      <pc:sldMk cId="1372886453" sldId="263"/>
    </pc:sldMkLst>
    <p188:replyLst>
      <p188:reply id="{94E85C8C-768C-4051-8C34-2D0EE0BD9355}" authorId="{3FDCF2CE-0CB8-C5B6-B7BB-E7B937EB1E47}" created="2023-02-06T16:31:44.741">
        <p188:txBody>
          <a:bodyPr/>
          <a:lstStyle/>
          <a:p>
            <a:r>
              <a:rPr lang="en-US"/>
              <a:t>Done</a:t>
            </a:r>
          </a:p>
        </p188:txBody>
      </p188:reply>
    </p188:replyLst>
    <p188:txBody>
      <a:bodyPr/>
      <a:lstStyle/>
      <a:p>
        <a:r>
          <a:rPr lang="en-US"/>
          <a:t>@fahim, please change CO units to L/min (so y-axis should be 5, 10, 15 and 20)</a:t>
        </a:r>
      </a:p>
    </p188:txBody>
  </p188:cm>
  <p188:cm id="{C064FCF0-E77A-43BB-BEA5-06E739FF2E17}" authorId="{1C2A5CEC-AE74-510E-3FBB-925866B4006A}" created="2023-02-04T17:51:16">
    <ac:txMkLst xmlns:ac="http://schemas.microsoft.com/office/drawing/2013/main/command">
      <pc:docMk xmlns:pc="http://schemas.microsoft.com/office/powerpoint/2013/main/command"/>
      <pc:sldMk xmlns:pc="http://schemas.microsoft.com/office/powerpoint/2013/main/command" cId="1372886453" sldId="263"/>
      <ac:spMk id="5" creationId="{BA8A8D31-1B00-3F4C-B543-5C9C738958CA}"/>
      <ac:txMk cp="403" len="1">
        <ac:context len="601" hash="3681450378"/>
      </ac:txMk>
    </ac:txMkLst>
    <p188:pos x="2325154" y="2063267"/>
    <p188:txBody>
      <a:bodyPr/>
      <a:lstStyle/>
      <a:p>
        <a:r>
          <a:rPr lang="en-US"/>
          <a:t>Before, it was written here "which may be due to inherent differences in animal size/weight" however, the p-values for both implied a lack of significance.</a:t>
        </a:r>
      </a:p>
    </p188:txBody>
  </p188:cm>
  <p188:cm id="{32838395-70C4-4728-9D75-2164A597AE18}" authorId="{73EF7F0E-6016-F2DA-2006-CC8E15CD2C42}" created="2023-02-06T16:50:03.070">
    <ac:deMkLst xmlns:ac="http://schemas.microsoft.com/office/drawing/2013/main/command">
      <pc:docMk xmlns:pc="http://schemas.microsoft.com/office/powerpoint/2013/main/command"/>
      <pc:sldMk xmlns:pc="http://schemas.microsoft.com/office/powerpoint/2013/main/command" cId="1372886453" sldId="263"/>
      <ac:spMk id="5" creationId="{BA8A8D31-1B00-3F4C-B543-5C9C738958CA}"/>
    </ac:deMkLst>
    <p188:txBody>
      <a:bodyPr/>
      <a:lstStyle/>
      <a:p>
        <a:r>
          <a:rPr lang="en-US"/>
          <a:t>imo, do not need to show During -IVCO if there isn't going to be a comparison (statistical) between it and pre/post.</a:t>
        </a:r>
      </a:p>
    </p188:txBody>
  </p188:cm>
</p188:cmLst>
</file>

<file path=ppt/comments/modernComment_108_C2C44EA3.xml><?xml version="1.0" encoding="utf-8"?>
<p188:cmLst xmlns:a="http://schemas.openxmlformats.org/drawingml/2006/main" xmlns:r="http://schemas.openxmlformats.org/officeDocument/2006/relationships" xmlns:p188="http://schemas.microsoft.com/office/powerpoint/2018/8/main">
  <p188:cm id="{C7D980D3-38C6-854F-843E-136653C4A05C}" authorId="{7E532144-E669-783E-891D-C6DC41113ACF}" created="2023-01-29T15:41:11.378">
    <ac:deMkLst xmlns:ac="http://schemas.microsoft.com/office/drawing/2013/main/command">
      <pc:docMk xmlns:pc="http://schemas.microsoft.com/office/powerpoint/2013/main/command"/>
      <pc:sldMk xmlns:pc="http://schemas.microsoft.com/office/powerpoint/2013/main/command" cId="3267645091" sldId="264"/>
      <ac:picMk id="1030" creationId="{8335DC1B-C0A0-90FB-E407-0523A6316BE0}"/>
    </ac:deMkLst>
    <p188:replyLst>
      <p188:reply id="{C7336F19-D389-44FB-9951-2B170EA45214}" authorId="{3FDCF2CE-0CB8-C5B6-B7BB-E7B937EB1E47}" created="2023-01-30T17:07:19.040">
        <p188:txBody>
          <a:bodyPr/>
          <a:lstStyle/>
          <a:p>
            <a:r>
              <a:rPr lang="en-US"/>
              <a:t>Fixed</a:t>
            </a:r>
          </a:p>
        </p188:txBody>
      </p188:reply>
    </p188:replyLst>
    <p188:txBody>
      <a:bodyPr/>
      <a:lstStyle/>
      <a:p>
        <a:r>
          <a:rPr lang="en-US"/>
          <a:t>@Fahim, the x- and y-axes font size and legends still seem small; you may need to increase the font size; it should be easily legible at 100% zoom.</a:t>
        </a:r>
      </a:p>
    </p188:txBody>
  </p188:cm>
  <p188:cm id="{8247B3EB-617D-446E-8505-EFAD3CF54C5C}" authorId="{73EF7F0E-6016-F2DA-2006-CC8E15CD2C42}" created="2023-02-06T16:31:28.633">
    <pc:sldMkLst xmlns:pc="http://schemas.microsoft.com/office/powerpoint/2013/main/command">
      <pc:docMk/>
      <pc:sldMk cId="3267645091" sldId="264"/>
    </pc:sldMkLst>
    <p188:txBody>
      <a:bodyPr/>
      <a:lstStyle/>
      <a:p>
        <a:r>
          <a:rPr lang="en-US"/>
          <a:t>Imo: Adding titles to each graph will be beneficial</a:t>
        </a:r>
      </a:p>
    </p188:txBody>
  </p188:cm>
</p188:cmLst>
</file>

<file path=ppt/comments/modernComment_109_91AA927F.xml><?xml version="1.0" encoding="utf-8"?>
<p188:cmLst xmlns:a="http://schemas.openxmlformats.org/drawingml/2006/main" xmlns:r="http://schemas.openxmlformats.org/officeDocument/2006/relationships" xmlns:p188="http://schemas.microsoft.com/office/powerpoint/2018/8/main">
  <p188:cm id="{D7DB4DEC-F329-B845-B154-3C33BBC6EF7A}" authorId="{7E532144-E669-783E-891D-C6DC41113ACF}" created="2023-01-29T16:07:10.806">
    <pc:sldMkLst xmlns:pc="http://schemas.microsoft.com/office/powerpoint/2013/main/command">
      <pc:docMk/>
      <pc:sldMk cId="2443874943" sldId="265"/>
    </pc:sldMkLst>
    <p188:replyLst>
      <p188:reply id="{7955A3E6-DBC9-48F5-84C8-50F739737D79}" authorId="{3FDCF2CE-0CB8-C5B6-B7BB-E7B937EB1E47}" created="2023-01-30T17:17:31.056">
        <p188:txBody>
          <a:bodyPr/>
          <a:lstStyle/>
          <a:p>
            <a:r>
              <a:rPr lang="en-US"/>
              <a:t>Done</a:t>
            </a:r>
          </a:p>
        </p188:txBody>
      </p188:reply>
    </p188:replyLst>
    <p188:txBody>
      <a:bodyPr/>
      <a:lstStyle/>
      <a:p>
        <a:r>
          <a:rPr lang="en-US"/>
          <a:t>@Fahim, the x- and y-axes font size and legends still seem small; you may need to increase the font size; it should be easily legible at 100% zoom.</a:t>
        </a:r>
      </a:p>
    </p188:txBody>
  </p188:cm>
  <p188:cm id="{A5435CFD-62FA-42EF-8C1E-9E76C3337BF1}" authorId="{73EF7F0E-6016-F2DA-2006-CC8E15CD2C42}" created="2023-02-06T16:33:59.372">
    <pc:sldMkLst xmlns:pc="http://schemas.microsoft.com/office/powerpoint/2013/main/command">
      <pc:docMk/>
      <pc:sldMk cId="2443874943" sldId="265"/>
    </pc:sldMkLst>
    <p188:txBody>
      <a:bodyPr/>
      <a:lstStyle/>
      <a:p>
        <a:r>
          <a:rPr lang="en-US"/>
          <a:t>Include title</a:t>
        </a:r>
      </a:p>
    </p188:txBody>
  </p188:cm>
</p188:cmLst>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4BA7D5-9E4F-44CC-A5B3-DB5C9FBBD6CA}" type="doc">
      <dgm:prSet loTypeId="urn:microsoft.com/office/officeart/2005/8/layout/chevron1" loCatId="process" qsTypeId="urn:microsoft.com/office/officeart/2005/8/quickstyle/simple1" qsCatId="simple" csTypeId="urn:microsoft.com/office/officeart/2005/8/colors/colorful5" csCatId="colorful" phldr="1"/>
      <dgm:spPr/>
      <dgm:t>
        <a:bodyPr/>
        <a:lstStyle/>
        <a:p>
          <a:endParaRPr lang="en-US"/>
        </a:p>
      </dgm:t>
    </dgm:pt>
    <dgm:pt modelId="{3B24616C-53ED-411C-BCC0-15F6C22E2A68}">
      <dgm:prSet phldrT="[Text]" custT="1"/>
      <dgm:spPr/>
      <dgm:t>
        <a:bodyPr anchor="t"/>
        <a:lstStyle/>
        <a:p>
          <a:r>
            <a:rPr lang="en-US" sz="1400" dirty="0">
              <a:solidFill>
                <a:schemeClr val="tx1"/>
              </a:solidFill>
              <a:latin typeface="Arial" panose="020B0604020202020204" pitchFamily="34" charset="0"/>
              <a:cs typeface="Arial" panose="020B0604020202020204" pitchFamily="34" charset="0"/>
            </a:rPr>
            <a:t>T0 </a:t>
          </a:r>
        </a:p>
        <a:p>
          <a:r>
            <a:rPr lang="en-US" sz="1400" dirty="0">
              <a:solidFill>
                <a:schemeClr val="tx1"/>
              </a:solidFill>
              <a:latin typeface="Arial" panose="020B0604020202020204" pitchFamily="34" charset="0"/>
              <a:cs typeface="Arial" panose="020B0604020202020204" pitchFamily="34" charset="0"/>
            </a:rPr>
            <a:t>Baseline</a:t>
          </a:r>
        </a:p>
      </dgm:t>
    </dgm:pt>
    <dgm:pt modelId="{D4919E8D-82D5-4413-9DB0-0071DEF7375E}" type="parTrans" cxnId="{F3230F15-741E-4BF7-BA22-EC1039D7F046}">
      <dgm:prSet/>
      <dgm:spPr/>
      <dgm:t>
        <a:bodyPr/>
        <a:lstStyle/>
        <a:p>
          <a:endParaRPr lang="en-US"/>
        </a:p>
      </dgm:t>
    </dgm:pt>
    <dgm:pt modelId="{C6F59897-F5CF-4B30-B5DA-982ADD6C3D9B}" type="sibTrans" cxnId="{F3230F15-741E-4BF7-BA22-EC1039D7F046}">
      <dgm:prSet/>
      <dgm:spPr/>
      <dgm:t>
        <a:bodyPr/>
        <a:lstStyle/>
        <a:p>
          <a:endParaRPr lang="en-US"/>
        </a:p>
      </dgm:t>
    </dgm:pt>
    <dgm:pt modelId="{3BB573F5-4B60-4ADC-A02F-96A952B356F0}">
      <dgm:prSet phldrT="[Text]" custT="1"/>
      <dgm:spPr/>
      <dgm:t>
        <a:bodyPr anchor="t"/>
        <a:lstStyle/>
        <a:p>
          <a:r>
            <a:rPr lang="en-US" sz="1400" dirty="0">
              <a:solidFill>
                <a:schemeClr val="tx1"/>
              </a:solidFill>
              <a:latin typeface="Arial" panose="020B0604020202020204" pitchFamily="34" charset="0"/>
              <a:cs typeface="Arial" panose="020B0604020202020204" pitchFamily="34" charset="0"/>
            </a:rPr>
            <a:t>T30 </a:t>
          </a:r>
        </a:p>
        <a:p>
          <a:r>
            <a:rPr lang="en-US" sz="1400" dirty="0">
              <a:solidFill>
                <a:schemeClr val="tx1"/>
              </a:solidFill>
              <a:latin typeface="Arial" panose="020B0604020202020204" pitchFamily="34" charset="0"/>
              <a:cs typeface="Arial" panose="020B0604020202020204" pitchFamily="34" charset="0"/>
            </a:rPr>
            <a:t>End of </a:t>
          </a:r>
        </a:p>
        <a:p>
          <a:r>
            <a:rPr lang="en-US" sz="1400" dirty="0">
              <a:solidFill>
                <a:schemeClr val="tx1"/>
              </a:solidFill>
              <a:latin typeface="Arial" panose="020B0604020202020204" pitchFamily="34" charset="0"/>
              <a:cs typeface="Arial" panose="020B0604020202020204" pitchFamily="34" charset="0"/>
            </a:rPr>
            <a:t>Hemorrhage</a:t>
          </a:r>
        </a:p>
      </dgm:t>
    </dgm:pt>
    <dgm:pt modelId="{FE29A61B-C6A5-46B4-A943-19DB2E0659F3}" type="parTrans" cxnId="{74AAF8D7-624E-4379-AAA5-65ADB6E84979}">
      <dgm:prSet/>
      <dgm:spPr/>
      <dgm:t>
        <a:bodyPr/>
        <a:lstStyle/>
        <a:p>
          <a:endParaRPr lang="en-US"/>
        </a:p>
      </dgm:t>
    </dgm:pt>
    <dgm:pt modelId="{B58EB546-739F-4758-9403-77F5001E64AB}" type="sibTrans" cxnId="{74AAF8D7-624E-4379-AAA5-65ADB6E84979}">
      <dgm:prSet/>
      <dgm:spPr/>
      <dgm:t>
        <a:bodyPr/>
        <a:lstStyle/>
        <a:p>
          <a:endParaRPr lang="en-US"/>
        </a:p>
      </dgm:t>
    </dgm:pt>
    <dgm:pt modelId="{CD0DD429-7030-480E-BCF8-82F5C9FFDCDC}">
      <dgm:prSet phldrT="[Text]" custT="1"/>
      <dgm:spPr/>
      <dgm:t>
        <a:bodyPr/>
        <a:lstStyle/>
        <a:p>
          <a:r>
            <a:rPr lang="en-US" sz="1400">
              <a:solidFill>
                <a:schemeClr val="accent1"/>
              </a:solidFill>
              <a:latin typeface="Arial" panose="020B0604020202020204" pitchFamily="34" charset="0"/>
              <a:cs typeface="Arial" panose="020B0604020202020204" pitchFamily="34" charset="0"/>
            </a:rPr>
            <a:t>Pre-IVCO</a:t>
          </a:r>
          <a:endParaRPr lang="en-US" sz="1400" dirty="0"/>
        </a:p>
      </dgm:t>
    </dgm:pt>
    <dgm:pt modelId="{FF29DF5A-C008-4235-BBBD-8ADF46B002E8}" type="parTrans" cxnId="{85E047F4-84FB-4F22-897C-6DC91DAD9836}">
      <dgm:prSet/>
      <dgm:spPr/>
      <dgm:t>
        <a:bodyPr/>
        <a:lstStyle/>
        <a:p>
          <a:endParaRPr lang="en-US"/>
        </a:p>
      </dgm:t>
    </dgm:pt>
    <dgm:pt modelId="{E4E74C9C-CA64-4C20-8D58-1D98D6D313AC}" type="sibTrans" cxnId="{85E047F4-84FB-4F22-897C-6DC91DAD9836}">
      <dgm:prSet/>
      <dgm:spPr/>
      <dgm:t>
        <a:bodyPr/>
        <a:lstStyle/>
        <a:p>
          <a:endParaRPr lang="en-US"/>
        </a:p>
      </dgm:t>
    </dgm:pt>
    <dgm:pt modelId="{0A753185-2C91-492C-9CA6-EAE1FAFBCF44}">
      <dgm:prSet phldrT="[Text]" custT="1"/>
      <dgm:spPr/>
      <dgm:t>
        <a:bodyPr anchor="t"/>
        <a:lstStyle/>
        <a:p>
          <a:r>
            <a:rPr lang="en-US" sz="1400" dirty="0">
              <a:solidFill>
                <a:schemeClr val="tx1"/>
              </a:solidFill>
              <a:latin typeface="Arial" panose="020B0604020202020204" pitchFamily="34" charset="0"/>
              <a:cs typeface="Arial" panose="020B0604020202020204" pitchFamily="34" charset="0"/>
            </a:rPr>
            <a:t>T74 </a:t>
          </a:r>
        </a:p>
        <a:p>
          <a:r>
            <a:rPr lang="en-US" sz="1400" dirty="0">
              <a:solidFill>
                <a:schemeClr val="tx1"/>
              </a:solidFill>
              <a:latin typeface="Arial" panose="020B0604020202020204" pitchFamily="34" charset="0"/>
              <a:cs typeface="Arial" panose="020B0604020202020204" pitchFamily="34" charset="0"/>
            </a:rPr>
            <a:t>End of </a:t>
          </a:r>
        </a:p>
        <a:p>
          <a:r>
            <a:rPr lang="en-US" sz="1400" dirty="0">
              <a:solidFill>
                <a:schemeClr val="tx1"/>
              </a:solidFill>
              <a:latin typeface="Arial" panose="020B0604020202020204" pitchFamily="34" charset="0"/>
              <a:cs typeface="Arial" panose="020B0604020202020204" pitchFamily="34" charset="0"/>
            </a:rPr>
            <a:t>Intervention</a:t>
          </a:r>
        </a:p>
      </dgm:t>
    </dgm:pt>
    <dgm:pt modelId="{5E0DDA49-1CA7-4A67-8FBD-0298A9F2E3CA}" type="parTrans" cxnId="{16696288-CAA9-4566-B6F4-1E8A6C5CB084}">
      <dgm:prSet/>
      <dgm:spPr/>
      <dgm:t>
        <a:bodyPr/>
        <a:lstStyle/>
        <a:p>
          <a:endParaRPr lang="en-US"/>
        </a:p>
      </dgm:t>
    </dgm:pt>
    <dgm:pt modelId="{CE4A26C2-3072-4EE5-B3E6-92802BDF840A}" type="sibTrans" cxnId="{16696288-CAA9-4566-B6F4-1E8A6C5CB084}">
      <dgm:prSet/>
      <dgm:spPr/>
      <dgm:t>
        <a:bodyPr/>
        <a:lstStyle/>
        <a:p>
          <a:endParaRPr lang="en-US"/>
        </a:p>
      </dgm:t>
    </dgm:pt>
    <dgm:pt modelId="{E938AC04-4B27-41D3-960C-F0F3CE13C03C}">
      <dgm:prSet phldrT="[Text]" custT="1"/>
      <dgm:spPr/>
      <dgm:t>
        <a:bodyPr/>
        <a:lstStyle/>
        <a:p>
          <a:r>
            <a:rPr lang="en-US" sz="1400">
              <a:solidFill>
                <a:schemeClr val="accent1"/>
              </a:solidFill>
              <a:latin typeface="Arial" panose="020B0604020202020204" pitchFamily="34" charset="0"/>
              <a:cs typeface="Arial" panose="020B0604020202020204" pitchFamily="34" charset="0"/>
            </a:rPr>
            <a:t>Pre-IVCO</a:t>
          </a:r>
          <a:endParaRPr lang="en-US" sz="1400" dirty="0"/>
        </a:p>
      </dgm:t>
    </dgm:pt>
    <dgm:pt modelId="{802DC441-F6CB-40F4-92BC-C33CDB78B149}" type="parTrans" cxnId="{CD94139D-4FAE-441B-812F-D537F420A67E}">
      <dgm:prSet/>
      <dgm:spPr/>
      <dgm:t>
        <a:bodyPr/>
        <a:lstStyle/>
        <a:p>
          <a:endParaRPr lang="en-US"/>
        </a:p>
      </dgm:t>
    </dgm:pt>
    <dgm:pt modelId="{C82299DB-2494-4554-81B2-C720737E4284}" type="sibTrans" cxnId="{CD94139D-4FAE-441B-812F-D537F420A67E}">
      <dgm:prSet/>
      <dgm:spPr/>
      <dgm:t>
        <a:bodyPr/>
        <a:lstStyle/>
        <a:p>
          <a:endParaRPr lang="en-US"/>
        </a:p>
      </dgm:t>
    </dgm:pt>
    <dgm:pt modelId="{AC24AE5B-E86B-4E4A-B9BD-27971CA5AA33}">
      <dgm:prSet phldrT="[Text]" custT="1"/>
      <dgm:spPr/>
      <dgm:t>
        <a:bodyPr/>
        <a:lstStyle/>
        <a:p>
          <a:r>
            <a:rPr lang="en-US" sz="1400">
              <a:solidFill>
                <a:schemeClr val="accent1"/>
              </a:solidFill>
              <a:latin typeface="Arial" panose="020B0604020202020204" pitchFamily="34" charset="0"/>
              <a:cs typeface="Arial" panose="020B0604020202020204" pitchFamily="34" charset="0"/>
            </a:rPr>
            <a:t>Pre-IVCO </a:t>
          </a:r>
          <a:endParaRPr lang="en-US" sz="1400" dirty="0"/>
        </a:p>
      </dgm:t>
    </dgm:pt>
    <dgm:pt modelId="{6D113735-A943-4F20-A607-FFE6ED54502E}" type="parTrans" cxnId="{E11E4113-FDCB-41D9-B656-5F77984AA82B}">
      <dgm:prSet/>
      <dgm:spPr/>
      <dgm:t>
        <a:bodyPr/>
        <a:lstStyle/>
        <a:p>
          <a:endParaRPr lang="en-US"/>
        </a:p>
      </dgm:t>
    </dgm:pt>
    <dgm:pt modelId="{9926C2CF-55B7-4ABC-9D5D-80715F65DC55}" type="sibTrans" cxnId="{E11E4113-FDCB-41D9-B656-5F77984AA82B}">
      <dgm:prSet/>
      <dgm:spPr/>
      <dgm:t>
        <a:bodyPr/>
        <a:lstStyle/>
        <a:p>
          <a:endParaRPr lang="en-US"/>
        </a:p>
      </dgm:t>
    </dgm:pt>
    <dgm:pt modelId="{DAEB396D-581E-472D-9E7F-59A4656A9145}">
      <dgm:prSet custT="1"/>
      <dgm:spPr/>
      <dgm:t>
        <a:bodyPr/>
        <a:lstStyle/>
        <a:p>
          <a:r>
            <a:rPr lang="en-US" sz="1400">
              <a:solidFill>
                <a:schemeClr val="accent2"/>
              </a:solidFill>
              <a:latin typeface="Arial" panose="020B0604020202020204" pitchFamily="34" charset="0"/>
              <a:cs typeface="Arial" panose="020B0604020202020204" pitchFamily="34" charset="0"/>
            </a:rPr>
            <a:t>During IVCO</a:t>
          </a:r>
          <a:endParaRPr lang="en-US" sz="1400" dirty="0">
            <a:solidFill>
              <a:schemeClr val="accent2"/>
            </a:solidFill>
            <a:latin typeface="Arial" panose="020B0604020202020204" pitchFamily="34" charset="0"/>
            <a:cs typeface="Arial" panose="020B0604020202020204" pitchFamily="34" charset="0"/>
          </a:endParaRPr>
        </a:p>
      </dgm:t>
    </dgm:pt>
    <dgm:pt modelId="{107222D4-1C89-4927-86E3-1810F0829F55}" type="parTrans" cxnId="{D631AE12-1556-441A-83FD-949EC7FAD31A}">
      <dgm:prSet/>
      <dgm:spPr/>
      <dgm:t>
        <a:bodyPr/>
        <a:lstStyle/>
        <a:p>
          <a:endParaRPr lang="en-US"/>
        </a:p>
      </dgm:t>
    </dgm:pt>
    <dgm:pt modelId="{928F5844-613F-4C75-8121-065869C00C2B}" type="sibTrans" cxnId="{D631AE12-1556-441A-83FD-949EC7FAD31A}">
      <dgm:prSet/>
      <dgm:spPr/>
      <dgm:t>
        <a:bodyPr/>
        <a:lstStyle/>
        <a:p>
          <a:endParaRPr lang="en-US"/>
        </a:p>
      </dgm:t>
    </dgm:pt>
    <dgm:pt modelId="{D1810815-2DDB-418D-9BBE-D6C2A3C3EC95}">
      <dgm:prSet custT="1"/>
      <dgm:spPr/>
      <dgm:t>
        <a:bodyPr/>
        <a:lstStyle/>
        <a:p>
          <a:r>
            <a:rPr lang="en-US" sz="1400">
              <a:solidFill>
                <a:schemeClr val="accent6"/>
              </a:solidFill>
              <a:latin typeface="Arial" panose="020B0604020202020204" pitchFamily="34" charset="0"/>
              <a:cs typeface="Arial" panose="020B0604020202020204" pitchFamily="34" charset="0"/>
            </a:rPr>
            <a:t>Post-IVCO</a:t>
          </a:r>
          <a:endParaRPr lang="en-US" sz="1400" dirty="0">
            <a:solidFill>
              <a:schemeClr val="accent6"/>
            </a:solidFill>
            <a:latin typeface="Arial" panose="020B0604020202020204" pitchFamily="34" charset="0"/>
            <a:cs typeface="Arial" panose="020B0604020202020204" pitchFamily="34" charset="0"/>
          </a:endParaRPr>
        </a:p>
      </dgm:t>
    </dgm:pt>
    <dgm:pt modelId="{CEE56ABE-3070-4E9B-8D5D-4D0AA6D921BC}" type="parTrans" cxnId="{C0E278F5-3DC6-443C-BF37-2E831BC94735}">
      <dgm:prSet/>
      <dgm:spPr/>
      <dgm:t>
        <a:bodyPr/>
        <a:lstStyle/>
        <a:p>
          <a:endParaRPr lang="en-US"/>
        </a:p>
      </dgm:t>
    </dgm:pt>
    <dgm:pt modelId="{E693D056-8FFD-4010-A563-8CE1DFF4868C}" type="sibTrans" cxnId="{C0E278F5-3DC6-443C-BF37-2E831BC94735}">
      <dgm:prSet/>
      <dgm:spPr/>
      <dgm:t>
        <a:bodyPr/>
        <a:lstStyle/>
        <a:p>
          <a:endParaRPr lang="en-US"/>
        </a:p>
      </dgm:t>
    </dgm:pt>
    <dgm:pt modelId="{17FB1303-7913-5B4E-A5FE-30A9D43EC381}">
      <dgm:prSet custT="1"/>
      <dgm:spPr/>
      <dgm:t>
        <a:bodyPr/>
        <a:lstStyle/>
        <a:p>
          <a:r>
            <a:rPr lang="en-US" sz="1400">
              <a:solidFill>
                <a:schemeClr val="accent6"/>
              </a:solidFill>
              <a:latin typeface="Arial" panose="020B0604020202020204" pitchFamily="34" charset="0"/>
              <a:cs typeface="Arial" panose="020B0604020202020204" pitchFamily="34" charset="0"/>
            </a:rPr>
            <a:t>Post-IVCO</a:t>
          </a:r>
          <a:endParaRPr lang="en-US" sz="1400" dirty="0">
            <a:solidFill>
              <a:schemeClr val="accent2"/>
            </a:solidFill>
            <a:latin typeface="Arial" panose="020B0604020202020204" pitchFamily="34" charset="0"/>
            <a:cs typeface="Arial" panose="020B0604020202020204" pitchFamily="34" charset="0"/>
          </a:endParaRPr>
        </a:p>
      </dgm:t>
    </dgm:pt>
    <dgm:pt modelId="{F2F2DE81-DA87-194C-A27A-45DCA236A0B2}" type="parTrans" cxnId="{807D1ECC-B370-064C-8587-E9A8CBA3E99C}">
      <dgm:prSet/>
      <dgm:spPr/>
      <dgm:t>
        <a:bodyPr/>
        <a:lstStyle/>
        <a:p>
          <a:endParaRPr lang="en-US"/>
        </a:p>
      </dgm:t>
    </dgm:pt>
    <dgm:pt modelId="{300C74EE-057E-4941-8204-1E813168029A}" type="sibTrans" cxnId="{807D1ECC-B370-064C-8587-E9A8CBA3E99C}">
      <dgm:prSet/>
      <dgm:spPr/>
      <dgm:t>
        <a:bodyPr/>
        <a:lstStyle/>
        <a:p>
          <a:endParaRPr lang="en-US"/>
        </a:p>
      </dgm:t>
    </dgm:pt>
    <dgm:pt modelId="{7E41F9F0-C1E1-6844-9521-20081576E984}">
      <dgm:prSet phldrT="[Text]" custT="1"/>
      <dgm:spPr/>
      <dgm:t>
        <a:bodyPr/>
        <a:lstStyle/>
        <a:p>
          <a:r>
            <a:rPr lang="en-US" sz="1400">
              <a:solidFill>
                <a:schemeClr val="accent2"/>
              </a:solidFill>
              <a:latin typeface="Arial" panose="020B0604020202020204" pitchFamily="34" charset="0"/>
              <a:cs typeface="Arial" panose="020B0604020202020204" pitchFamily="34" charset="0"/>
            </a:rPr>
            <a:t>During IVCO</a:t>
          </a:r>
          <a:endParaRPr lang="en-US" sz="1400" dirty="0"/>
        </a:p>
      </dgm:t>
    </dgm:pt>
    <dgm:pt modelId="{79668509-E5F5-FE49-AA90-1EC7AEA286B1}" type="parTrans" cxnId="{B89C6EF3-8DFE-C64E-A5C1-2348BFDBE3BE}">
      <dgm:prSet/>
      <dgm:spPr/>
      <dgm:t>
        <a:bodyPr/>
        <a:lstStyle/>
        <a:p>
          <a:endParaRPr lang="en-US"/>
        </a:p>
      </dgm:t>
    </dgm:pt>
    <dgm:pt modelId="{3C7799EB-3817-5446-9967-6AE625D8B580}" type="sibTrans" cxnId="{B89C6EF3-8DFE-C64E-A5C1-2348BFDBE3BE}">
      <dgm:prSet/>
      <dgm:spPr/>
      <dgm:t>
        <a:bodyPr/>
        <a:lstStyle/>
        <a:p>
          <a:endParaRPr lang="en-US"/>
        </a:p>
      </dgm:t>
    </dgm:pt>
    <dgm:pt modelId="{CA4C5571-5C0C-6A4A-A6CC-1914391BACB7}">
      <dgm:prSet phldrT="[Text]" custT="1"/>
      <dgm:spPr/>
      <dgm:t>
        <a:bodyPr/>
        <a:lstStyle/>
        <a:p>
          <a:r>
            <a:rPr lang="en-US" sz="1400">
              <a:solidFill>
                <a:schemeClr val="accent6"/>
              </a:solidFill>
              <a:latin typeface="Arial" panose="020B0604020202020204" pitchFamily="34" charset="0"/>
              <a:cs typeface="Arial" panose="020B0604020202020204" pitchFamily="34" charset="0"/>
            </a:rPr>
            <a:t>Post-IVCO </a:t>
          </a:r>
          <a:endParaRPr lang="en-US" sz="1400" dirty="0"/>
        </a:p>
      </dgm:t>
    </dgm:pt>
    <dgm:pt modelId="{CA52A922-4FF2-EC48-B6D0-64C3EBB531A2}" type="parTrans" cxnId="{4B5246E4-4187-5E46-85D9-12F67AC32477}">
      <dgm:prSet/>
      <dgm:spPr/>
      <dgm:t>
        <a:bodyPr/>
        <a:lstStyle/>
        <a:p>
          <a:endParaRPr lang="en-US"/>
        </a:p>
      </dgm:t>
    </dgm:pt>
    <dgm:pt modelId="{CA68CC4A-39F8-DF4A-BF2C-C4EF02E53D2E}" type="sibTrans" cxnId="{4B5246E4-4187-5E46-85D9-12F67AC32477}">
      <dgm:prSet/>
      <dgm:spPr/>
      <dgm:t>
        <a:bodyPr/>
        <a:lstStyle/>
        <a:p>
          <a:endParaRPr lang="en-US"/>
        </a:p>
      </dgm:t>
    </dgm:pt>
    <dgm:pt modelId="{939A45B5-D231-3C4A-B56C-401FB030DB7D}">
      <dgm:prSet phldrT="[Text]" custT="1"/>
      <dgm:spPr/>
      <dgm:t>
        <a:bodyPr/>
        <a:lstStyle/>
        <a:p>
          <a:r>
            <a:rPr lang="en-US" sz="1400">
              <a:solidFill>
                <a:schemeClr val="accent2"/>
              </a:solidFill>
              <a:latin typeface="Arial" panose="020B0604020202020204" pitchFamily="34" charset="0"/>
              <a:cs typeface="Arial" panose="020B0604020202020204" pitchFamily="34" charset="0"/>
            </a:rPr>
            <a:t>During IVCO</a:t>
          </a:r>
          <a:endParaRPr lang="en-US" sz="1400" dirty="0"/>
        </a:p>
      </dgm:t>
    </dgm:pt>
    <dgm:pt modelId="{EF7DFAD3-98D9-9347-BB9F-173855E48911}" type="parTrans" cxnId="{FA30DA5F-9FD1-5F4A-8EE7-C0224E9D4681}">
      <dgm:prSet/>
      <dgm:spPr/>
      <dgm:t>
        <a:bodyPr/>
        <a:lstStyle/>
        <a:p>
          <a:endParaRPr lang="en-US"/>
        </a:p>
      </dgm:t>
    </dgm:pt>
    <dgm:pt modelId="{FECD8C5D-363A-DC42-891A-B44F67F86EF8}" type="sibTrans" cxnId="{FA30DA5F-9FD1-5F4A-8EE7-C0224E9D4681}">
      <dgm:prSet/>
      <dgm:spPr/>
      <dgm:t>
        <a:bodyPr/>
        <a:lstStyle/>
        <a:p>
          <a:endParaRPr lang="en-US"/>
        </a:p>
      </dgm:t>
    </dgm:pt>
    <dgm:pt modelId="{827792D8-BA8F-9943-8A8E-7D56347158BC}" type="pres">
      <dgm:prSet presAssocID="{374BA7D5-9E4F-44CC-A5B3-DB5C9FBBD6CA}" presName="Name0" presStyleCnt="0">
        <dgm:presLayoutVars>
          <dgm:dir/>
          <dgm:animLvl val="lvl"/>
          <dgm:resizeHandles val="exact"/>
        </dgm:presLayoutVars>
      </dgm:prSet>
      <dgm:spPr/>
      <dgm:t>
        <a:bodyPr/>
        <a:lstStyle/>
        <a:p>
          <a:endParaRPr lang="en-US"/>
        </a:p>
      </dgm:t>
    </dgm:pt>
    <dgm:pt modelId="{5E5D6AA3-B455-8343-A036-2351CCED0A18}" type="pres">
      <dgm:prSet presAssocID="{3B24616C-53ED-411C-BCC0-15F6C22E2A68}" presName="composite" presStyleCnt="0"/>
      <dgm:spPr/>
    </dgm:pt>
    <dgm:pt modelId="{89F02F1D-8C0D-2A40-893A-10642A77CB67}" type="pres">
      <dgm:prSet presAssocID="{3B24616C-53ED-411C-BCC0-15F6C22E2A68}" presName="parTx" presStyleLbl="node1" presStyleIdx="0" presStyleCnt="3">
        <dgm:presLayoutVars>
          <dgm:chMax val="0"/>
          <dgm:chPref val="0"/>
          <dgm:bulletEnabled val="1"/>
        </dgm:presLayoutVars>
      </dgm:prSet>
      <dgm:spPr/>
      <dgm:t>
        <a:bodyPr/>
        <a:lstStyle/>
        <a:p>
          <a:endParaRPr lang="en-US"/>
        </a:p>
      </dgm:t>
    </dgm:pt>
    <dgm:pt modelId="{C5ADBD47-D3DD-0741-B395-CBE7FD90877A}" type="pres">
      <dgm:prSet presAssocID="{3B24616C-53ED-411C-BCC0-15F6C22E2A68}" presName="desTx" presStyleLbl="revTx" presStyleIdx="0" presStyleCnt="3">
        <dgm:presLayoutVars>
          <dgm:bulletEnabled val="1"/>
        </dgm:presLayoutVars>
      </dgm:prSet>
      <dgm:spPr/>
      <dgm:t>
        <a:bodyPr/>
        <a:lstStyle/>
        <a:p>
          <a:endParaRPr lang="en-US"/>
        </a:p>
      </dgm:t>
    </dgm:pt>
    <dgm:pt modelId="{24DF992B-F547-A644-8FA7-6F3B562BDA5E}" type="pres">
      <dgm:prSet presAssocID="{C6F59897-F5CF-4B30-B5DA-982ADD6C3D9B}" presName="space" presStyleCnt="0"/>
      <dgm:spPr/>
    </dgm:pt>
    <dgm:pt modelId="{586708E4-3784-E44C-9289-01EB1DD37247}" type="pres">
      <dgm:prSet presAssocID="{3BB573F5-4B60-4ADC-A02F-96A952B356F0}" presName="composite" presStyleCnt="0"/>
      <dgm:spPr/>
    </dgm:pt>
    <dgm:pt modelId="{DD10D35C-DCFF-3A40-BF8B-6C53CE516B11}" type="pres">
      <dgm:prSet presAssocID="{3BB573F5-4B60-4ADC-A02F-96A952B356F0}" presName="parTx" presStyleLbl="node1" presStyleIdx="1" presStyleCnt="3">
        <dgm:presLayoutVars>
          <dgm:chMax val="0"/>
          <dgm:chPref val="0"/>
          <dgm:bulletEnabled val="1"/>
        </dgm:presLayoutVars>
      </dgm:prSet>
      <dgm:spPr/>
      <dgm:t>
        <a:bodyPr/>
        <a:lstStyle/>
        <a:p>
          <a:endParaRPr lang="en-US"/>
        </a:p>
      </dgm:t>
    </dgm:pt>
    <dgm:pt modelId="{F704F149-4863-7540-B184-15E16FFC0EA5}" type="pres">
      <dgm:prSet presAssocID="{3BB573F5-4B60-4ADC-A02F-96A952B356F0}" presName="desTx" presStyleLbl="revTx" presStyleIdx="1" presStyleCnt="3">
        <dgm:presLayoutVars>
          <dgm:bulletEnabled val="1"/>
        </dgm:presLayoutVars>
      </dgm:prSet>
      <dgm:spPr/>
      <dgm:t>
        <a:bodyPr/>
        <a:lstStyle/>
        <a:p>
          <a:endParaRPr lang="en-US"/>
        </a:p>
      </dgm:t>
    </dgm:pt>
    <dgm:pt modelId="{C42A4DCD-D206-DB4B-A1E1-68DB873A8088}" type="pres">
      <dgm:prSet presAssocID="{B58EB546-739F-4758-9403-77F5001E64AB}" presName="space" presStyleCnt="0"/>
      <dgm:spPr/>
    </dgm:pt>
    <dgm:pt modelId="{A71C1930-C71A-E340-92EF-076306424645}" type="pres">
      <dgm:prSet presAssocID="{0A753185-2C91-492C-9CA6-EAE1FAFBCF44}" presName="composite" presStyleCnt="0"/>
      <dgm:spPr/>
    </dgm:pt>
    <dgm:pt modelId="{93187B7B-0F25-464B-B546-EF1E3BD51664}" type="pres">
      <dgm:prSet presAssocID="{0A753185-2C91-492C-9CA6-EAE1FAFBCF44}" presName="parTx" presStyleLbl="node1" presStyleIdx="2" presStyleCnt="3">
        <dgm:presLayoutVars>
          <dgm:chMax val="0"/>
          <dgm:chPref val="0"/>
          <dgm:bulletEnabled val="1"/>
        </dgm:presLayoutVars>
      </dgm:prSet>
      <dgm:spPr/>
      <dgm:t>
        <a:bodyPr/>
        <a:lstStyle/>
        <a:p>
          <a:endParaRPr lang="en-US"/>
        </a:p>
      </dgm:t>
    </dgm:pt>
    <dgm:pt modelId="{5A0C64A5-6F87-B641-B6BB-D340FDA49CBB}" type="pres">
      <dgm:prSet presAssocID="{0A753185-2C91-492C-9CA6-EAE1FAFBCF44}" presName="desTx" presStyleLbl="revTx" presStyleIdx="2" presStyleCnt="3">
        <dgm:presLayoutVars>
          <dgm:bulletEnabled val="1"/>
        </dgm:presLayoutVars>
      </dgm:prSet>
      <dgm:spPr/>
      <dgm:t>
        <a:bodyPr/>
        <a:lstStyle/>
        <a:p>
          <a:endParaRPr lang="en-US"/>
        </a:p>
      </dgm:t>
    </dgm:pt>
  </dgm:ptLst>
  <dgm:cxnLst>
    <dgm:cxn modelId="{CA1317A7-AAAE-2C48-8E47-15B810BCF163}" type="presOf" srcId="{17FB1303-7913-5B4E-A5FE-30A9D43EC381}" destId="{C5ADBD47-D3DD-0741-B395-CBE7FD90877A}" srcOrd="0" destOrd="2" presId="urn:microsoft.com/office/officeart/2005/8/layout/chevron1"/>
    <dgm:cxn modelId="{FA30DA5F-9FD1-5F4A-8EE7-C0224E9D4681}" srcId="{0A753185-2C91-492C-9CA6-EAE1FAFBCF44}" destId="{939A45B5-D231-3C4A-B56C-401FB030DB7D}" srcOrd="1" destOrd="0" parTransId="{EF7DFAD3-98D9-9347-BB9F-173855E48911}" sibTransId="{FECD8C5D-363A-DC42-891A-B44F67F86EF8}"/>
    <dgm:cxn modelId="{D631AE12-1556-441A-83FD-949EC7FAD31A}" srcId="{3B24616C-53ED-411C-BCC0-15F6C22E2A68}" destId="{DAEB396D-581E-472D-9E7F-59A4656A9145}" srcOrd="1" destOrd="0" parTransId="{107222D4-1C89-4927-86E3-1810F0829F55}" sibTransId="{928F5844-613F-4C75-8121-065869C00C2B}"/>
    <dgm:cxn modelId="{EEDE02FA-87A2-D74B-92C2-AEBA26633DC3}" type="presOf" srcId="{3B24616C-53ED-411C-BCC0-15F6C22E2A68}" destId="{89F02F1D-8C0D-2A40-893A-10642A77CB67}" srcOrd="0" destOrd="0" presId="urn:microsoft.com/office/officeart/2005/8/layout/chevron1"/>
    <dgm:cxn modelId="{807D1ECC-B370-064C-8587-E9A8CBA3E99C}" srcId="{3B24616C-53ED-411C-BCC0-15F6C22E2A68}" destId="{17FB1303-7913-5B4E-A5FE-30A9D43EC381}" srcOrd="2" destOrd="0" parTransId="{F2F2DE81-DA87-194C-A27A-45DCA236A0B2}" sibTransId="{300C74EE-057E-4941-8204-1E813168029A}"/>
    <dgm:cxn modelId="{AB9DD15C-73B4-A94F-9B09-B00CADF8C24D}" type="presOf" srcId="{AC24AE5B-E86B-4E4A-B9BD-27971CA5AA33}" destId="{C5ADBD47-D3DD-0741-B395-CBE7FD90877A}" srcOrd="0" destOrd="0" presId="urn:microsoft.com/office/officeart/2005/8/layout/chevron1"/>
    <dgm:cxn modelId="{16696288-CAA9-4566-B6F4-1E8A6C5CB084}" srcId="{374BA7D5-9E4F-44CC-A5B3-DB5C9FBBD6CA}" destId="{0A753185-2C91-492C-9CA6-EAE1FAFBCF44}" srcOrd="2" destOrd="0" parTransId="{5E0DDA49-1CA7-4A67-8FBD-0298A9F2E3CA}" sibTransId="{CE4A26C2-3072-4EE5-B3E6-92802BDF840A}"/>
    <dgm:cxn modelId="{E11E4113-FDCB-41D9-B656-5F77984AA82B}" srcId="{3B24616C-53ED-411C-BCC0-15F6C22E2A68}" destId="{AC24AE5B-E86B-4E4A-B9BD-27971CA5AA33}" srcOrd="0" destOrd="0" parTransId="{6D113735-A943-4F20-A607-FFE6ED54502E}" sibTransId="{9926C2CF-55B7-4ABC-9D5D-80715F65DC55}"/>
    <dgm:cxn modelId="{8C8585E0-C540-6C4A-9054-1211BC35EA26}" type="presOf" srcId="{E938AC04-4B27-41D3-960C-F0F3CE13C03C}" destId="{5A0C64A5-6F87-B641-B6BB-D340FDA49CBB}" srcOrd="0" destOrd="0" presId="urn:microsoft.com/office/officeart/2005/8/layout/chevron1"/>
    <dgm:cxn modelId="{CD94139D-4FAE-441B-812F-D537F420A67E}" srcId="{0A753185-2C91-492C-9CA6-EAE1FAFBCF44}" destId="{E938AC04-4B27-41D3-960C-F0F3CE13C03C}" srcOrd="0" destOrd="0" parTransId="{802DC441-F6CB-40F4-92BC-C33CDB78B149}" sibTransId="{C82299DB-2494-4554-81B2-C720737E4284}"/>
    <dgm:cxn modelId="{C0E278F5-3DC6-443C-BF37-2E831BC94735}" srcId="{0A753185-2C91-492C-9CA6-EAE1FAFBCF44}" destId="{D1810815-2DDB-418D-9BBE-D6C2A3C3EC95}" srcOrd="2" destOrd="0" parTransId="{CEE56ABE-3070-4E9B-8D5D-4D0AA6D921BC}" sibTransId="{E693D056-8FFD-4010-A563-8CE1DFF4868C}"/>
    <dgm:cxn modelId="{85E047F4-84FB-4F22-897C-6DC91DAD9836}" srcId="{3BB573F5-4B60-4ADC-A02F-96A952B356F0}" destId="{CD0DD429-7030-480E-BCF8-82F5C9FFDCDC}" srcOrd="0" destOrd="0" parTransId="{FF29DF5A-C008-4235-BBBD-8ADF46B002E8}" sibTransId="{E4E74C9C-CA64-4C20-8D58-1D98D6D313AC}"/>
    <dgm:cxn modelId="{FB9A7DC9-F513-314F-8EE7-7BAAEAAB317A}" type="presOf" srcId="{7E41F9F0-C1E1-6844-9521-20081576E984}" destId="{F704F149-4863-7540-B184-15E16FFC0EA5}" srcOrd="0" destOrd="1" presId="urn:microsoft.com/office/officeart/2005/8/layout/chevron1"/>
    <dgm:cxn modelId="{4DDD45C1-C052-434B-A08F-C749E97C6AF4}" type="presOf" srcId="{DAEB396D-581E-472D-9E7F-59A4656A9145}" destId="{C5ADBD47-D3DD-0741-B395-CBE7FD90877A}" srcOrd="0" destOrd="1" presId="urn:microsoft.com/office/officeart/2005/8/layout/chevron1"/>
    <dgm:cxn modelId="{7B5CDE61-B975-EE49-97E2-2419AFBA0CB0}" type="presOf" srcId="{3BB573F5-4B60-4ADC-A02F-96A952B356F0}" destId="{DD10D35C-DCFF-3A40-BF8B-6C53CE516B11}" srcOrd="0" destOrd="0" presId="urn:microsoft.com/office/officeart/2005/8/layout/chevron1"/>
    <dgm:cxn modelId="{B7EB90C1-3F20-494B-8FC0-9FA85C9E67D5}" type="presOf" srcId="{939A45B5-D231-3C4A-B56C-401FB030DB7D}" destId="{5A0C64A5-6F87-B641-B6BB-D340FDA49CBB}" srcOrd="0" destOrd="1" presId="urn:microsoft.com/office/officeart/2005/8/layout/chevron1"/>
    <dgm:cxn modelId="{0363162C-A21B-C94C-9AA4-39E8FB20D9E3}" type="presOf" srcId="{0A753185-2C91-492C-9CA6-EAE1FAFBCF44}" destId="{93187B7B-0F25-464B-B546-EF1E3BD51664}" srcOrd="0" destOrd="0" presId="urn:microsoft.com/office/officeart/2005/8/layout/chevron1"/>
    <dgm:cxn modelId="{B13AFED8-FCFC-7843-97AE-84D726618C73}" type="presOf" srcId="{D1810815-2DDB-418D-9BBE-D6C2A3C3EC95}" destId="{5A0C64A5-6F87-B641-B6BB-D340FDA49CBB}" srcOrd="0" destOrd="2" presId="urn:microsoft.com/office/officeart/2005/8/layout/chevron1"/>
    <dgm:cxn modelId="{74AAF8D7-624E-4379-AAA5-65ADB6E84979}" srcId="{374BA7D5-9E4F-44CC-A5B3-DB5C9FBBD6CA}" destId="{3BB573F5-4B60-4ADC-A02F-96A952B356F0}" srcOrd="1" destOrd="0" parTransId="{FE29A61B-C6A5-46B4-A943-19DB2E0659F3}" sibTransId="{B58EB546-739F-4758-9403-77F5001E64AB}"/>
    <dgm:cxn modelId="{4B5246E4-4187-5E46-85D9-12F67AC32477}" srcId="{3BB573F5-4B60-4ADC-A02F-96A952B356F0}" destId="{CA4C5571-5C0C-6A4A-A6CC-1914391BACB7}" srcOrd="2" destOrd="0" parTransId="{CA52A922-4FF2-EC48-B6D0-64C3EBB531A2}" sibTransId="{CA68CC4A-39F8-DF4A-BF2C-C4EF02E53D2E}"/>
    <dgm:cxn modelId="{F8F5A478-B73A-4B44-A426-3ABD7665B4C7}" type="presOf" srcId="{CD0DD429-7030-480E-BCF8-82F5C9FFDCDC}" destId="{F704F149-4863-7540-B184-15E16FFC0EA5}" srcOrd="0" destOrd="0" presId="urn:microsoft.com/office/officeart/2005/8/layout/chevron1"/>
    <dgm:cxn modelId="{B89C6EF3-8DFE-C64E-A5C1-2348BFDBE3BE}" srcId="{3BB573F5-4B60-4ADC-A02F-96A952B356F0}" destId="{7E41F9F0-C1E1-6844-9521-20081576E984}" srcOrd="1" destOrd="0" parTransId="{79668509-E5F5-FE49-AA90-1EC7AEA286B1}" sibTransId="{3C7799EB-3817-5446-9967-6AE625D8B580}"/>
    <dgm:cxn modelId="{CD6717BF-8CAC-BB44-AD49-EC5BA98246EC}" type="presOf" srcId="{CA4C5571-5C0C-6A4A-A6CC-1914391BACB7}" destId="{F704F149-4863-7540-B184-15E16FFC0EA5}" srcOrd="0" destOrd="2" presId="urn:microsoft.com/office/officeart/2005/8/layout/chevron1"/>
    <dgm:cxn modelId="{F3230F15-741E-4BF7-BA22-EC1039D7F046}" srcId="{374BA7D5-9E4F-44CC-A5B3-DB5C9FBBD6CA}" destId="{3B24616C-53ED-411C-BCC0-15F6C22E2A68}" srcOrd="0" destOrd="0" parTransId="{D4919E8D-82D5-4413-9DB0-0071DEF7375E}" sibTransId="{C6F59897-F5CF-4B30-B5DA-982ADD6C3D9B}"/>
    <dgm:cxn modelId="{EADC76ED-936E-4F41-8AC4-373F60F09995}" type="presOf" srcId="{374BA7D5-9E4F-44CC-A5B3-DB5C9FBBD6CA}" destId="{827792D8-BA8F-9943-8A8E-7D56347158BC}" srcOrd="0" destOrd="0" presId="urn:microsoft.com/office/officeart/2005/8/layout/chevron1"/>
    <dgm:cxn modelId="{E85A11A8-9D62-B24D-9AA6-D1A56182489E}" type="presParOf" srcId="{827792D8-BA8F-9943-8A8E-7D56347158BC}" destId="{5E5D6AA3-B455-8343-A036-2351CCED0A18}" srcOrd="0" destOrd="0" presId="urn:microsoft.com/office/officeart/2005/8/layout/chevron1"/>
    <dgm:cxn modelId="{11405A99-397B-F449-9CDA-53B71468C8CB}" type="presParOf" srcId="{5E5D6AA3-B455-8343-A036-2351CCED0A18}" destId="{89F02F1D-8C0D-2A40-893A-10642A77CB67}" srcOrd="0" destOrd="0" presId="urn:microsoft.com/office/officeart/2005/8/layout/chevron1"/>
    <dgm:cxn modelId="{65DB6266-76D4-5C4C-B64F-C552B439C5B8}" type="presParOf" srcId="{5E5D6AA3-B455-8343-A036-2351CCED0A18}" destId="{C5ADBD47-D3DD-0741-B395-CBE7FD90877A}" srcOrd="1" destOrd="0" presId="urn:microsoft.com/office/officeart/2005/8/layout/chevron1"/>
    <dgm:cxn modelId="{455524BC-085C-3641-97AA-894CD1B6510A}" type="presParOf" srcId="{827792D8-BA8F-9943-8A8E-7D56347158BC}" destId="{24DF992B-F547-A644-8FA7-6F3B562BDA5E}" srcOrd="1" destOrd="0" presId="urn:microsoft.com/office/officeart/2005/8/layout/chevron1"/>
    <dgm:cxn modelId="{35CCB6A1-BF8A-DA46-83DD-64E38C789C10}" type="presParOf" srcId="{827792D8-BA8F-9943-8A8E-7D56347158BC}" destId="{586708E4-3784-E44C-9289-01EB1DD37247}" srcOrd="2" destOrd="0" presId="urn:microsoft.com/office/officeart/2005/8/layout/chevron1"/>
    <dgm:cxn modelId="{C2CB0F7A-52E8-B145-9AB3-557FF10AD559}" type="presParOf" srcId="{586708E4-3784-E44C-9289-01EB1DD37247}" destId="{DD10D35C-DCFF-3A40-BF8B-6C53CE516B11}" srcOrd="0" destOrd="0" presId="urn:microsoft.com/office/officeart/2005/8/layout/chevron1"/>
    <dgm:cxn modelId="{1D291AA6-C2B6-9540-8204-7E9EDC496A97}" type="presParOf" srcId="{586708E4-3784-E44C-9289-01EB1DD37247}" destId="{F704F149-4863-7540-B184-15E16FFC0EA5}" srcOrd="1" destOrd="0" presId="urn:microsoft.com/office/officeart/2005/8/layout/chevron1"/>
    <dgm:cxn modelId="{0D860A32-C7A7-7C4E-83C7-8E45DA5CDFD1}" type="presParOf" srcId="{827792D8-BA8F-9943-8A8E-7D56347158BC}" destId="{C42A4DCD-D206-DB4B-A1E1-68DB873A8088}" srcOrd="3" destOrd="0" presId="urn:microsoft.com/office/officeart/2005/8/layout/chevron1"/>
    <dgm:cxn modelId="{81D789C9-47EC-E449-8829-62A23C076170}" type="presParOf" srcId="{827792D8-BA8F-9943-8A8E-7D56347158BC}" destId="{A71C1930-C71A-E340-92EF-076306424645}" srcOrd="4" destOrd="0" presId="urn:microsoft.com/office/officeart/2005/8/layout/chevron1"/>
    <dgm:cxn modelId="{3B93891E-CDE4-3642-BFA4-939AF7125369}" type="presParOf" srcId="{A71C1930-C71A-E340-92EF-076306424645}" destId="{93187B7B-0F25-464B-B546-EF1E3BD51664}" srcOrd="0" destOrd="0" presId="urn:microsoft.com/office/officeart/2005/8/layout/chevron1"/>
    <dgm:cxn modelId="{9D9F9647-62F1-7841-B6D5-6AC5679CBEEE}" type="presParOf" srcId="{A71C1930-C71A-E340-92EF-076306424645}" destId="{5A0C64A5-6F87-B641-B6BB-D340FDA49CBB}" srcOrd="1"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F02F1D-8C0D-2A40-893A-10642A77CB67}">
      <dsp:nvSpPr>
        <dsp:cNvPr id="0" name=""/>
        <dsp:cNvSpPr/>
      </dsp:nvSpPr>
      <dsp:spPr>
        <a:xfrm>
          <a:off x="3599" y="1439791"/>
          <a:ext cx="1798731" cy="719492"/>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t" anchorCtr="0">
          <a:noAutofit/>
        </a:bodyPr>
        <a:lstStyle/>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T0 </a:t>
          </a:r>
        </a:p>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Baseline</a:t>
          </a:r>
        </a:p>
      </dsp:txBody>
      <dsp:txXfrm>
        <a:off x="363345" y="1439791"/>
        <a:ext cx="1079239" cy="719492"/>
      </dsp:txXfrm>
    </dsp:sp>
    <dsp:sp modelId="{C5ADBD47-D3DD-0741-B395-CBE7FD90877A}">
      <dsp:nvSpPr>
        <dsp:cNvPr id="0" name=""/>
        <dsp:cNvSpPr/>
      </dsp:nvSpPr>
      <dsp:spPr>
        <a:xfrm>
          <a:off x="3599" y="2249221"/>
          <a:ext cx="1438985" cy="115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chemeClr val="accent1"/>
              </a:solidFill>
              <a:latin typeface="Arial" panose="020B0604020202020204" pitchFamily="34" charset="0"/>
              <a:cs typeface="Arial" panose="020B0604020202020204" pitchFamily="34" charset="0"/>
            </a:rPr>
            <a:t>Pre-IVCO </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2"/>
              </a:solidFill>
              <a:latin typeface="Arial" panose="020B0604020202020204" pitchFamily="34" charset="0"/>
              <a:cs typeface="Arial" panose="020B0604020202020204" pitchFamily="34" charset="0"/>
            </a:rPr>
            <a:t>During IVCO</a:t>
          </a:r>
          <a:endParaRPr lang="en-US" sz="1400" kern="1200" dirty="0">
            <a:solidFill>
              <a:schemeClr val="accent2"/>
            </a:solidFill>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n-US" sz="1400" kern="1200">
              <a:solidFill>
                <a:schemeClr val="accent6"/>
              </a:solidFill>
              <a:latin typeface="Arial" panose="020B0604020202020204" pitchFamily="34" charset="0"/>
              <a:cs typeface="Arial" panose="020B0604020202020204" pitchFamily="34" charset="0"/>
            </a:rPr>
            <a:t>Post-IVCO</a:t>
          </a:r>
          <a:endParaRPr lang="en-US" sz="1400" kern="1200" dirty="0">
            <a:solidFill>
              <a:schemeClr val="accent2"/>
            </a:solidFill>
            <a:latin typeface="Arial" panose="020B0604020202020204" pitchFamily="34" charset="0"/>
            <a:cs typeface="Arial" panose="020B0604020202020204" pitchFamily="34" charset="0"/>
          </a:endParaRPr>
        </a:p>
      </dsp:txBody>
      <dsp:txXfrm>
        <a:off x="3599" y="2249221"/>
        <a:ext cx="1438985" cy="1152000"/>
      </dsp:txXfrm>
    </dsp:sp>
    <dsp:sp modelId="{DD10D35C-DCFF-3A40-BF8B-6C53CE516B11}">
      <dsp:nvSpPr>
        <dsp:cNvPr id="0" name=""/>
        <dsp:cNvSpPr/>
      </dsp:nvSpPr>
      <dsp:spPr>
        <a:xfrm>
          <a:off x="1586330" y="1439791"/>
          <a:ext cx="1798731" cy="719492"/>
        </a:xfrm>
        <a:prstGeom prst="chevron">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t" anchorCtr="0">
          <a:noAutofit/>
        </a:bodyPr>
        <a:lstStyle/>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T30 </a:t>
          </a:r>
        </a:p>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End of </a:t>
          </a:r>
        </a:p>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Hemorrhage</a:t>
          </a:r>
        </a:p>
      </dsp:txBody>
      <dsp:txXfrm>
        <a:off x="1946076" y="1439791"/>
        <a:ext cx="1079239" cy="719492"/>
      </dsp:txXfrm>
    </dsp:sp>
    <dsp:sp modelId="{F704F149-4863-7540-B184-15E16FFC0EA5}">
      <dsp:nvSpPr>
        <dsp:cNvPr id="0" name=""/>
        <dsp:cNvSpPr/>
      </dsp:nvSpPr>
      <dsp:spPr>
        <a:xfrm>
          <a:off x="1586330" y="2249221"/>
          <a:ext cx="1438985" cy="115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chemeClr val="accent1"/>
              </a:solidFill>
              <a:latin typeface="Arial" panose="020B0604020202020204" pitchFamily="34" charset="0"/>
              <a:cs typeface="Arial" panose="020B0604020202020204" pitchFamily="34" charset="0"/>
            </a:rPr>
            <a:t>Pre-IVCO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2"/>
              </a:solidFill>
              <a:latin typeface="Arial" panose="020B0604020202020204" pitchFamily="34" charset="0"/>
              <a:cs typeface="Arial" panose="020B0604020202020204" pitchFamily="34" charset="0"/>
            </a:rPr>
            <a:t>During 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6"/>
              </a:solidFill>
              <a:latin typeface="Arial" panose="020B0604020202020204" pitchFamily="34" charset="0"/>
              <a:cs typeface="Arial" panose="020B0604020202020204" pitchFamily="34" charset="0"/>
            </a:rPr>
            <a:t>Post-IVCO </a:t>
          </a:r>
          <a:endParaRPr lang="en-US" sz="1400" kern="1200" dirty="0"/>
        </a:p>
      </dsp:txBody>
      <dsp:txXfrm>
        <a:off x="1586330" y="2249221"/>
        <a:ext cx="1438985" cy="1152000"/>
      </dsp:txXfrm>
    </dsp:sp>
    <dsp:sp modelId="{93187B7B-0F25-464B-B546-EF1E3BD51664}">
      <dsp:nvSpPr>
        <dsp:cNvPr id="0" name=""/>
        <dsp:cNvSpPr/>
      </dsp:nvSpPr>
      <dsp:spPr>
        <a:xfrm>
          <a:off x="3169062" y="1439791"/>
          <a:ext cx="1798731" cy="719492"/>
        </a:xfrm>
        <a:prstGeom prst="chevr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t" anchorCtr="0">
          <a:noAutofit/>
        </a:bodyPr>
        <a:lstStyle/>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T74 </a:t>
          </a:r>
        </a:p>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End of </a:t>
          </a:r>
        </a:p>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Intervention</a:t>
          </a:r>
        </a:p>
      </dsp:txBody>
      <dsp:txXfrm>
        <a:off x="3528808" y="1439791"/>
        <a:ext cx="1079239" cy="719492"/>
      </dsp:txXfrm>
    </dsp:sp>
    <dsp:sp modelId="{5A0C64A5-6F87-B641-B6BB-D340FDA49CBB}">
      <dsp:nvSpPr>
        <dsp:cNvPr id="0" name=""/>
        <dsp:cNvSpPr/>
      </dsp:nvSpPr>
      <dsp:spPr>
        <a:xfrm>
          <a:off x="3169062" y="2249221"/>
          <a:ext cx="1438985" cy="115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chemeClr val="accent1"/>
              </a:solidFill>
              <a:latin typeface="Arial" panose="020B0604020202020204" pitchFamily="34" charset="0"/>
              <a:cs typeface="Arial" panose="020B0604020202020204" pitchFamily="34" charset="0"/>
            </a:rPr>
            <a:t>Pre-IVCO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2"/>
              </a:solidFill>
              <a:latin typeface="Arial" panose="020B0604020202020204" pitchFamily="34" charset="0"/>
              <a:cs typeface="Arial" panose="020B0604020202020204" pitchFamily="34" charset="0"/>
            </a:rPr>
            <a:t>During 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6"/>
              </a:solidFill>
              <a:latin typeface="Arial" panose="020B0604020202020204" pitchFamily="34" charset="0"/>
              <a:cs typeface="Arial" panose="020B0604020202020204" pitchFamily="34" charset="0"/>
            </a:rPr>
            <a:t>Post-IVCO</a:t>
          </a:r>
          <a:endParaRPr lang="en-US" sz="1400" kern="1200" dirty="0">
            <a:solidFill>
              <a:schemeClr val="accent6"/>
            </a:solidFill>
            <a:latin typeface="Arial" panose="020B0604020202020204" pitchFamily="34" charset="0"/>
            <a:cs typeface="Arial" panose="020B0604020202020204" pitchFamily="34" charset="0"/>
          </a:endParaRPr>
        </a:p>
      </dsp:txBody>
      <dsp:txXfrm>
        <a:off x="3169062" y="2249221"/>
        <a:ext cx="1438985" cy="115200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173324-ABA7-4D50-9D9C-E40C4D66B645}" type="datetimeFigureOut">
              <a:rPr lang="en-US" smtClean="0"/>
              <a:t>7/18/2023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18AAD-1954-40B7-B90A-836C4AAE0D89}" type="slidenum">
              <a:rPr lang="en-US" smtClean="0"/>
              <a:t>‹#›</a:t>
            </a:fld>
            <a:endParaRPr lang="en-US"/>
          </a:p>
        </p:txBody>
      </p:sp>
    </p:spTree>
    <p:extLst>
      <p:ext uri="{BB962C8B-B14F-4D97-AF65-F5344CB8AC3E}">
        <p14:creationId xmlns:p14="http://schemas.microsoft.com/office/powerpoint/2010/main" val="2177126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 ESV CO</a:t>
            </a:r>
          </a:p>
        </p:txBody>
      </p:sp>
      <p:sp>
        <p:nvSpPr>
          <p:cNvPr id="4" name="Slide Number Placeholder 3"/>
          <p:cNvSpPr>
            <a:spLocks noGrp="1"/>
          </p:cNvSpPr>
          <p:nvPr>
            <p:ph type="sldNum" sz="quarter" idx="10"/>
          </p:nvPr>
        </p:nvSpPr>
        <p:spPr/>
        <p:txBody>
          <a:bodyPr/>
          <a:lstStyle/>
          <a:p>
            <a:fld id="{5EF18AAD-1954-40B7-B90A-836C4AAE0D89}" type="slidenum">
              <a:rPr lang="en-US" smtClean="0"/>
              <a:t>6</a:t>
            </a:fld>
            <a:endParaRPr lang="en-US"/>
          </a:p>
        </p:txBody>
      </p:sp>
    </p:spTree>
    <p:extLst>
      <p:ext uri="{BB962C8B-B14F-4D97-AF65-F5344CB8AC3E}">
        <p14:creationId xmlns:p14="http://schemas.microsoft.com/office/powerpoint/2010/main" val="1588310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6C09B-A1BB-2C3D-408B-263274B462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CAC3B1-5414-A8BE-FD67-E9546701CA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975F0B-F088-7782-5DA3-2A7BE1E41A2C}"/>
              </a:ext>
            </a:extLst>
          </p:cNvPr>
          <p:cNvSpPr>
            <a:spLocks noGrp="1"/>
          </p:cNvSpPr>
          <p:nvPr>
            <p:ph type="dt" sz="half" idx="10"/>
          </p:nvPr>
        </p:nvSpPr>
        <p:spPr/>
        <p:txBody>
          <a:bodyPr/>
          <a:lstStyle/>
          <a:p>
            <a:fld id="{B6017DB1-095A-3048-955D-3F93E1115C69}" type="datetimeFigureOut">
              <a:rPr lang="en-US" smtClean="0"/>
              <a:t>7/18/2023</a:t>
            </a:fld>
            <a:endParaRPr lang="en-US"/>
          </a:p>
        </p:txBody>
      </p:sp>
      <p:sp>
        <p:nvSpPr>
          <p:cNvPr id="5" name="Footer Placeholder 4">
            <a:extLst>
              <a:ext uri="{FF2B5EF4-FFF2-40B4-BE49-F238E27FC236}">
                <a16:creationId xmlns:a16="http://schemas.microsoft.com/office/drawing/2014/main" id="{379C4912-C6C0-F3A6-8896-97E4F1FE26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58783-865F-D40A-C6DC-27DEE1C4C721}"/>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4277715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E5154-B2D5-14E4-DA34-77F57A0F89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1131E-A339-D6F4-C7B8-380B339019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0EDD14-FD69-09F5-C392-CF8B93B49F59}"/>
              </a:ext>
            </a:extLst>
          </p:cNvPr>
          <p:cNvSpPr>
            <a:spLocks noGrp="1"/>
          </p:cNvSpPr>
          <p:nvPr>
            <p:ph type="dt" sz="half" idx="10"/>
          </p:nvPr>
        </p:nvSpPr>
        <p:spPr/>
        <p:txBody>
          <a:bodyPr/>
          <a:lstStyle/>
          <a:p>
            <a:fld id="{B6017DB1-095A-3048-955D-3F93E1115C69}" type="datetimeFigureOut">
              <a:rPr lang="en-US" smtClean="0"/>
              <a:t>7/18/2023</a:t>
            </a:fld>
            <a:endParaRPr lang="en-US"/>
          </a:p>
        </p:txBody>
      </p:sp>
      <p:sp>
        <p:nvSpPr>
          <p:cNvPr id="5" name="Footer Placeholder 4">
            <a:extLst>
              <a:ext uri="{FF2B5EF4-FFF2-40B4-BE49-F238E27FC236}">
                <a16:creationId xmlns:a16="http://schemas.microsoft.com/office/drawing/2014/main" id="{75C20910-3820-7B89-8428-4B5CC454C9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CD9EB0-3D4E-411B-4D90-9216B04A3C54}"/>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397659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7A4A1-46A3-9368-CA41-65EC9B0006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EF541A-9975-8057-64E9-854A1A1CC7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25858B-28FE-8C72-CF92-CC2DA50F76CE}"/>
              </a:ext>
            </a:extLst>
          </p:cNvPr>
          <p:cNvSpPr>
            <a:spLocks noGrp="1"/>
          </p:cNvSpPr>
          <p:nvPr>
            <p:ph type="dt" sz="half" idx="10"/>
          </p:nvPr>
        </p:nvSpPr>
        <p:spPr/>
        <p:txBody>
          <a:bodyPr/>
          <a:lstStyle/>
          <a:p>
            <a:fld id="{B6017DB1-095A-3048-955D-3F93E1115C69}" type="datetimeFigureOut">
              <a:rPr lang="en-US" smtClean="0"/>
              <a:t>7/18/2023</a:t>
            </a:fld>
            <a:endParaRPr lang="en-US"/>
          </a:p>
        </p:txBody>
      </p:sp>
      <p:sp>
        <p:nvSpPr>
          <p:cNvPr id="5" name="Footer Placeholder 4">
            <a:extLst>
              <a:ext uri="{FF2B5EF4-FFF2-40B4-BE49-F238E27FC236}">
                <a16:creationId xmlns:a16="http://schemas.microsoft.com/office/drawing/2014/main" id="{EA4CCF86-95D8-B984-E002-7AC556EE4A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B93B27-AE8D-B489-19B8-42D3AE0FBB4C}"/>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4099636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54062-9184-24F5-3859-C8CD17190D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B9290E-D399-DD38-A0B2-9E99DD5627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50F39A-75B3-9D86-FABD-48833BD824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A95B0B-3926-4458-D7E0-A016E2D19ECF}"/>
              </a:ext>
            </a:extLst>
          </p:cNvPr>
          <p:cNvSpPr>
            <a:spLocks noGrp="1"/>
          </p:cNvSpPr>
          <p:nvPr>
            <p:ph type="dt" sz="half" idx="10"/>
          </p:nvPr>
        </p:nvSpPr>
        <p:spPr/>
        <p:txBody>
          <a:bodyPr/>
          <a:lstStyle/>
          <a:p>
            <a:fld id="{B6017DB1-095A-3048-955D-3F93E1115C69}" type="datetimeFigureOut">
              <a:rPr lang="en-US" smtClean="0"/>
              <a:t>7/18/2023</a:t>
            </a:fld>
            <a:endParaRPr lang="en-US"/>
          </a:p>
        </p:txBody>
      </p:sp>
      <p:sp>
        <p:nvSpPr>
          <p:cNvPr id="6" name="Footer Placeholder 5">
            <a:extLst>
              <a:ext uri="{FF2B5EF4-FFF2-40B4-BE49-F238E27FC236}">
                <a16:creationId xmlns:a16="http://schemas.microsoft.com/office/drawing/2014/main" id="{E1F274CC-B781-F448-408F-8F4784768A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F126AA-611E-7758-2C07-19CE027562EC}"/>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3218325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A96AC-AA48-8A3A-0DC3-94426654C4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02944-BA90-A034-F1DC-655108A6B1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0F69DD-41E2-58CF-ABE2-839695A4D7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16CF85-D6AB-FD89-576A-05A4ACD91D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E11334-A96B-DCB5-B409-7C85BB289E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76147B-8C5E-ECB5-3E52-BA60AD739D62}"/>
              </a:ext>
            </a:extLst>
          </p:cNvPr>
          <p:cNvSpPr>
            <a:spLocks noGrp="1"/>
          </p:cNvSpPr>
          <p:nvPr>
            <p:ph type="dt" sz="half" idx="10"/>
          </p:nvPr>
        </p:nvSpPr>
        <p:spPr/>
        <p:txBody>
          <a:bodyPr/>
          <a:lstStyle/>
          <a:p>
            <a:fld id="{B6017DB1-095A-3048-955D-3F93E1115C69}" type="datetimeFigureOut">
              <a:rPr lang="en-US" smtClean="0"/>
              <a:t>7/18/2023</a:t>
            </a:fld>
            <a:endParaRPr lang="en-US"/>
          </a:p>
        </p:txBody>
      </p:sp>
      <p:sp>
        <p:nvSpPr>
          <p:cNvPr id="8" name="Footer Placeholder 7">
            <a:extLst>
              <a:ext uri="{FF2B5EF4-FFF2-40B4-BE49-F238E27FC236}">
                <a16:creationId xmlns:a16="http://schemas.microsoft.com/office/drawing/2014/main" id="{B243CB02-DF04-9BB0-ACE2-1C23E9A5EE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AD1C9B-57DC-A40C-7FC7-108A79571AD1}"/>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4175584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9F94E-6FC6-C8C8-2A66-7770A7E7D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964254-B6A6-D6EB-79AD-7B2320D7C10F}"/>
              </a:ext>
            </a:extLst>
          </p:cNvPr>
          <p:cNvSpPr>
            <a:spLocks noGrp="1"/>
          </p:cNvSpPr>
          <p:nvPr>
            <p:ph type="dt" sz="half" idx="10"/>
          </p:nvPr>
        </p:nvSpPr>
        <p:spPr/>
        <p:txBody>
          <a:bodyPr/>
          <a:lstStyle/>
          <a:p>
            <a:fld id="{B6017DB1-095A-3048-955D-3F93E1115C69}" type="datetimeFigureOut">
              <a:rPr lang="en-US" smtClean="0"/>
              <a:t>7/18/2023</a:t>
            </a:fld>
            <a:endParaRPr lang="en-US"/>
          </a:p>
        </p:txBody>
      </p:sp>
      <p:sp>
        <p:nvSpPr>
          <p:cNvPr id="4" name="Footer Placeholder 3">
            <a:extLst>
              <a:ext uri="{FF2B5EF4-FFF2-40B4-BE49-F238E27FC236}">
                <a16:creationId xmlns:a16="http://schemas.microsoft.com/office/drawing/2014/main" id="{FA2BC0FE-EA42-DC01-4F7B-9A883E798A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E8A7A7-B5BF-0BF1-D666-5E3EDD16A144}"/>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1528679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9120E3-1449-0CC6-7B53-D8E83F5F4A78}"/>
              </a:ext>
            </a:extLst>
          </p:cNvPr>
          <p:cNvSpPr>
            <a:spLocks noGrp="1"/>
          </p:cNvSpPr>
          <p:nvPr>
            <p:ph type="dt" sz="half" idx="10"/>
          </p:nvPr>
        </p:nvSpPr>
        <p:spPr/>
        <p:txBody>
          <a:bodyPr/>
          <a:lstStyle/>
          <a:p>
            <a:fld id="{B6017DB1-095A-3048-955D-3F93E1115C69}" type="datetimeFigureOut">
              <a:rPr lang="en-US" smtClean="0"/>
              <a:t>7/18/2023</a:t>
            </a:fld>
            <a:endParaRPr lang="en-US"/>
          </a:p>
        </p:txBody>
      </p:sp>
      <p:sp>
        <p:nvSpPr>
          <p:cNvPr id="3" name="Footer Placeholder 2">
            <a:extLst>
              <a:ext uri="{FF2B5EF4-FFF2-40B4-BE49-F238E27FC236}">
                <a16:creationId xmlns:a16="http://schemas.microsoft.com/office/drawing/2014/main" id="{280F94D0-5355-78D0-AD9C-C9E2BBFCA3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6F103C-4E05-FB2B-29C8-A3B8830994F0}"/>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1892962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A1CA5-1A69-2237-79E9-0D5996E0DC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3E3B9C-0828-FA6D-B106-495D086F01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BB323D-78CE-74D8-71FF-E97647AB0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4D8B3B-05F0-0B45-6C0A-5EE42B31C87A}"/>
              </a:ext>
            </a:extLst>
          </p:cNvPr>
          <p:cNvSpPr>
            <a:spLocks noGrp="1"/>
          </p:cNvSpPr>
          <p:nvPr>
            <p:ph type="dt" sz="half" idx="10"/>
          </p:nvPr>
        </p:nvSpPr>
        <p:spPr/>
        <p:txBody>
          <a:bodyPr/>
          <a:lstStyle/>
          <a:p>
            <a:fld id="{B6017DB1-095A-3048-955D-3F93E1115C69}" type="datetimeFigureOut">
              <a:rPr lang="en-US" smtClean="0"/>
              <a:t>7/18/2023</a:t>
            </a:fld>
            <a:endParaRPr lang="en-US"/>
          </a:p>
        </p:txBody>
      </p:sp>
      <p:sp>
        <p:nvSpPr>
          <p:cNvPr id="6" name="Footer Placeholder 5">
            <a:extLst>
              <a:ext uri="{FF2B5EF4-FFF2-40B4-BE49-F238E27FC236}">
                <a16:creationId xmlns:a16="http://schemas.microsoft.com/office/drawing/2014/main" id="{61B41000-BB60-A508-834F-3961F36546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1546B9-F7E4-A8FA-8EFF-DE594C39BE74}"/>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2865437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E0E98-1A08-7D9E-2E71-7A425DE33A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8B5D25-A9FC-58BD-1992-CA2AE0361B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E882DD-BA41-55F5-5817-422EFCFC6B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83D686-B095-6417-E278-CBFDB3221021}"/>
              </a:ext>
            </a:extLst>
          </p:cNvPr>
          <p:cNvSpPr>
            <a:spLocks noGrp="1"/>
          </p:cNvSpPr>
          <p:nvPr>
            <p:ph type="dt" sz="half" idx="10"/>
          </p:nvPr>
        </p:nvSpPr>
        <p:spPr/>
        <p:txBody>
          <a:bodyPr/>
          <a:lstStyle/>
          <a:p>
            <a:fld id="{B6017DB1-095A-3048-955D-3F93E1115C69}" type="datetimeFigureOut">
              <a:rPr lang="en-US" smtClean="0"/>
              <a:t>7/18/2023</a:t>
            </a:fld>
            <a:endParaRPr lang="en-US"/>
          </a:p>
        </p:txBody>
      </p:sp>
      <p:sp>
        <p:nvSpPr>
          <p:cNvPr id="6" name="Footer Placeholder 5">
            <a:extLst>
              <a:ext uri="{FF2B5EF4-FFF2-40B4-BE49-F238E27FC236}">
                <a16:creationId xmlns:a16="http://schemas.microsoft.com/office/drawing/2014/main" id="{75C64767-1E0B-14EA-E1A5-8F51A943FB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B151A6-0E05-90E8-D266-F53AE1D3A371}"/>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229639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4CB7D-3AEA-5B16-F16A-2C967EF3B9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158B66-1F22-A77D-CD9B-98FAE10A9F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8DC03-E249-A306-C97A-D48C6413BD20}"/>
              </a:ext>
            </a:extLst>
          </p:cNvPr>
          <p:cNvSpPr>
            <a:spLocks noGrp="1"/>
          </p:cNvSpPr>
          <p:nvPr>
            <p:ph type="dt" sz="half" idx="10"/>
          </p:nvPr>
        </p:nvSpPr>
        <p:spPr/>
        <p:txBody>
          <a:bodyPr/>
          <a:lstStyle/>
          <a:p>
            <a:fld id="{B6017DB1-095A-3048-955D-3F93E1115C69}" type="datetimeFigureOut">
              <a:rPr lang="en-US" smtClean="0"/>
              <a:t>7/18/2023</a:t>
            </a:fld>
            <a:endParaRPr lang="en-US"/>
          </a:p>
        </p:txBody>
      </p:sp>
      <p:sp>
        <p:nvSpPr>
          <p:cNvPr id="5" name="Footer Placeholder 4">
            <a:extLst>
              <a:ext uri="{FF2B5EF4-FFF2-40B4-BE49-F238E27FC236}">
                <a16:creationId xmlns:a16="http://schemas.microsoft.com/office/drawing/2014/main" id="{15243A65-2993-25C3-DAE5-A4375BD679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6A31A-BB08-C177-E9BA-A2AFCAC06EA6}"/>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675857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CA5472-5C00-E25A-F991-A7A0B10CE4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BF3A74-CD59-9212-B854-F87CCA19EB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68C534-6B95-F563-9B8C-4D4F70F18AF8}"/>
              </a:ext>
            </a:extLst>
          </p:cNvPr>
          <p:cNvSpPr>
            <a:spLocks noGrp="1"/>
          </p:cNvSpPr>
          <p:nvPr>
            <p:ph type="dt" sz="half" idx="10"/>
          </p:nvPr>
        </p:nvSpPr>
        <p:spPr/>
        <p:txBody>
          <a:bodyPr/>
          <a:lstStyle/>
          <a:p>
            <a:fld id="{B6017DB1-095A-3048-955D-3F93E1115C69}" type="datetimeFigureOut">
              <a:rPr lang="en-US" smtClean="0"/>
              <a:t>7/18/2023</a:t>
            </a:fld>
            <a:endParaRPr lang="en-US"/>
          </a:p>
        </p:txBody>
      </p:sp>
      <p:sp>
        <p:nvSpPr>
          <p:cNvPr id="5" name="Footer Placeholder 4">
            <a:extLst>
              <a:ext uri="{FF2B5EF4-FFF2-40B4-BE49-F238E27FC236}">
                <a16:creationId xmlns:a16="http://schemas.microsoft.com/office/drawing/2014/main" id="{D0D7F93D-4BA3-9C78-5979-21D1BF9749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5C57E1-00D1-86D0-453D-F38988E9D0A0}"/>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753258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55563D-20DE-F641-E207-E6AF7668CC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E87AFC-C472-A85F-4EE0-D8FBBF23F0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98237-037B-5105-98BC-69C246EE23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017DB1-095A-3048-955D-3F93E1115C69}" type="datetimeFigureOut">
              <a:rPr lang="en-US" smtClean="0"/>
              <a:t>7/18/2023</a:t>
            </a:fld>
            <a:endParaRPr lang="en-US"/>
          </a:p>
        </p:txBody>
      </p:sp>
      <p:sp>
        <p:nvSpPr>
          <p:cNvPr id="5" name="Footer Placeholder 4">
            <a:extLst>
              <a:ext uri="{FF2B5EF4-FFF2-40B4-BE49-F238E27FC236}">
                <a16:creationId xmlns:a16="http://schemas.microsoft.com/office/drawing/2014/main" id="{79315F23-E9C4-F653-64AD-3A9C8B807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4FFDABF-605F-C701-F2D3-70C61B1411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90407-6505-4D4E-81E9-DA7247B31479}" type="slidenum">
              <a:rPr lang="en-US" smtClean="0"/>
              <a:t>‹#›</a:t>
            </a:fld>
            <a:endParaRPr lang="en-US"/>
          </a:p>
        </p:txBody>
      </p:sp>
    </p:spTree>
    <p:extLst>
      <p:ext uri="{BB962C8B-B14F-4D97-AF65-F5344CB8AC3E}">
        <p14:creationId xmlns:p14="http://schemas.microsoft.com/office/powerpoint/2010/main" val="3552210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microsoft.com/office/2018/10/relationships/comments" Target="../comments/modernComment_100_2E66402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microsoft.com/office/2018/10/relationships/comments" Target="../comments/modernComment_108_C2C44EA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microsoft.com/office/2018/10/relationships/comments" Target="../comments/modernComment_102_A385E5E8.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microsoft.com/office/2018/10/relationships/comments" Target="../comments/modernComment_107_51D495B5.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 Id="rId5" Type="http://schemas.microsoft.com/office/2018/10/relationships/comments" Target="../comments/modernComment_109_91AA927F.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333752" y="157829"/>
            <a:ext cx="6327937" cy="1600438"/>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Figure 1. Experimental timeline and raw P-V loop data extraction timepoints. </a:t>
            </a:r>
            <a:r>
              <a:rPr lang="en-US" sz="1400" dirty="0">
                <a:latin typeface="Arial" panose="020B0604020202020204" pitchFamily="34" charset="0"/>
                <a:cs typeface="Arial" panose="020B0604020202020204" pitchFamily="34" charset="0"/>
              </a:rPr>
              <a:t>P-V data was extracted from baseline (T0), at the end of 25% hemorrhage (i.e., 30 minutes after baseline, T30) and after 44 minutes of intervention with REBOA or EVAC (i.e., T74). During each experimental timepoint, data was extracted from the pre-inferior vena cava occlusion (IVCO), during IVCO and post-IVCO. Average time of IVCO was 15 seconds. For pre- and post-IVCO segments, data was sampled over 1 minute.</a:t>
            </a:r>
            <a:endParaRPr lang="en-US" sz="1400" b="1" dirty="0">
              <a:latin typeface="Arial" panose="020B0604020202020204" pitchFamily="34" charset="0"/>
              <a:cs typeface="Arial" panose="020B0604020202020204" pitchFamily="34" charset="0"/>
            </a:endParaRPr>
          </a:p>
        </p:txBody>
      </p:sp>
      <p:grpSp>
        <p:nvGrpSpPr>
          <p:cNvPr id="10" name="Group 9"/>
          <p:cNvGrpSpPr/>
          <p:nvPr/>
        </p:nvGrpSpPr>
        <p:grpSpPr>
          <a:xfrm>
            <a:off x="7380514" y="1578428"/>
            <a:ext cx="3001813" cy="5128185"/>
            <a:chOff x="8507291" y="1198589"/>
            <a:chExt cx="2952750" cy="5222920"/>
          </a:xfrm>
        </p:grpSpPr>
        <p:pic>
          <p:nvPicPr>
            <p:cNvPr id="2" name="Picture 1">
              <a:extLst>
                <a:ext uri="{FF2B5EF4-FFF2-40B4-BE49-F238E27FC236}">
                  <a16:creationId xmlns:a16="http://schemas.microsoft.com/office/drawing/2014/main" id="{EC1A1F4B-D98F-B0FB-5454-F4AE456FC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7291" y="1198589"/>
              <a:ext cx="2952750" cy="2152650"/>
            </a:xfrm>
            <a:prstGeom prst="rect">
              <a:avLst/>
            </a:prstGeom>
          </p:spPr>
        </p:pic>
        <p:pic>
          <p:nvPicPr>
            <p:cNvPr id="3" name="Picture 2">
              <a:extLst>
                <a:ext uri="{FF2B5EF4-FFF2-40B4-BE49-F238E27FC236}">
                  <a16:creationId xmlns:a16="http://schemas.microsoft.com/office/drawing/2014/main" id="{8D97272A-DDA6-5F90-71E8-B61533B5CD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7291" y="4268859"/>
              <a:ext cx="2952750" cy="2152650"/>
            </a:xfrm>
            <a:prstGeom prst="rect">
              <a:avLst/>
            </a:prstGeom>
          </p:spPr>
        </p:pic>
        <p:grpSp>
          <p:nvGrpSpPr>
            <p:cNvPr id="9" name="Group 8">
              <a:extLst>
                <a:ext uri="{FF2B5EF4-FFF2-40B4-BE49-F238E27FC236}">
                  <a16:creationId xmlns:a16="http://schemas.microsoft.com/office/drawing/2014/main" id="{1D08576B-2A80-84AC-FE23-7F229D5C04E8}"/>
                </a:ext>
              </a:extLst>
            </p:cNvPr>
            <p:cNvGrpSpPr/>
            <p:nvPr/>
          </p:nvGrpSpPr>
          <p:grpSpPr>
            <a:xfrm>
              <a:off x="8829463" y="1381750"/>
              <a:ext cx="2587385" cy="4749556"/>
              <a:chOff x="8986262" y="1201788"/>
              <a:chExt cx="2587385" cy="5098428"/>
            </a:xfrm>
          </p:grpSpPr>
          <p:sp>
            <p:nvSpPr>
              <p:cNvPr id="6" name="Rectangle 5">
                <a:extLst>
                  <a:ext uri="{FF2B5EF4-FFF2-40B4-BE49-F238E27FC236}">
                    <a16:creationId xmlns:a16="http://schemas.microsoft.com/office/drawing/2014/main" id="{6458F3EB-78A3-1368-70C7-D05AF058E1CD}"/>
                  </a:ext>
                </a:extLst>
              </p:cNvPr>
              <p:cNvSpPr/>
              <p:nvPr/>
            </p:nvSpPr>
            <p:spPr>
              <a:xfrm>
                <a:off x="8986262" y="1201788"/>
                <a:ext cx="969264" cy="5098428"/>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prstDash val="dashDot"/>
                  </a:ln>
                </a:endParaRPr>
              </a:p>
            </p:txBody>
          </p:sp>
          <p:sp>
            <p:nvSpPr>
              <p:cNvPr id="7" name="Rectangle 6">
                <a:extLst>
                  <a:ext uri="{FF2B5EF4-FFF2-40B4-BE49-F238E27FC236}">
                    <a16:creationId xmlns:a16="http://schemas.microsoft.com/office/drawing/2014/main" id="{5408DDAF-BF7A-6944-60D1-3278438922E5}"/>
                  </a:ext>
                </a:extLst>
              </p:cNvPr>
              <p:cNvSpPr/>
              <p:nvPr/>
            </p:nvSpPr>
            <p:spPr>
              <a:xfrm>
                <a:off x="10277698" y="1201788"/>
                <a:ext cx="1295949" cy="5098428"/>
              </a:xfrm>
              <a:prstGeom prst="rect">
                <a:avLst/>
              </a:prstGeom>
              <a:noFill/>
              <a:ln w="2857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prstDash val="dashDot"/>
                  </a:ln>
                </a:endParaRPr>
              </a:p>
            </p:txBody>
          </p:sp>
        </p:grpSp>
        <p:cxnSp>
          <p:nvCxnSpPr>
            <p:cNvPr id="12" name="Straight Arrow Connector 11">
              <a:extLst>
                <a:ext uri="{FF2B5EF4-FFF2-40B4-BE49-F238E27FC236}">
                  <a16:creationId xmlns:a16="http://schemas.microsoft.com/office/drawing/2014/main" id="{7BF974F5-3C0A-A339-5684-C9C069140BC7}"/>
                </a:ext>
              </a:extLst>
            </p:cNvPr>
            <p:cNvCxnSpPr>
              <a:cxnSpLocks/>
            </p:cNvCxnSpPr>
            <p:nvPr/>
          </p:nvCxnSpPr>
          <p:spPr>
            <a:xfrm flipH="1" flipV="1">
              <a:off x="8838353" y="3790186"/>
              <a:ext cx="941832" cy="1"/>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A4C6101-CD2C-B304-E7FB-6396D82445DA}"/>
                </a:ext>
              </a:extLst>
            </p:cNvPr>
            <p:cNvCxnSpPr>
              <a:cxnSpLocks/>
            </p:cNvCxnSpPr>
            <p:nvPr/>
          </p:nvCxnSpPr>
          <p:spPr>
            <a:xfrm flipH="1">
              <a:off x="10138879" y="3790185"/>
              <a:ext cx="1259236" cy="1"/>
            </a:xfrm>
            <a:prstGeom prst="straightConnector1">
              <a:avLst/>
            </a:prstGeom>
            <a:ln w="28575">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44035CB-81FA-2CBC-85FF-42F7CC846FA6}"/>
                </a:ext>
              </a:extLst>
            </p:cNvPr>
            <p:cNvCxnSpPr>
              <a:cxnSpLocks/>
            </p:cNvCxnSpPr>
            <p:nvPr/>
          </p:nvCxnSpPr>
          <p:spPr>
            <a:xfrm flipH="1" flipV="1">
              <a:off x="9813427" y="3790187"/>
              <a:ext cx="314809" cy="2"/>
            </a:xfrm>
            <a:prstGeom prst="straightConnector1">
              <a:avLst/>
            </a:prstGeom>
            <a:ln w="28575">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DBA3AF7-183C-54BD-10A2-BEA27189E8E4}"/>
                </a:ext>
              </a:extLst>
            </p:cNvPr>
            <p:cNvSpPr txBox="1"/>
            <p:nvPr/>
          </p:nvSpPr>
          <p:spPr>
            <a:xfrm>
              <a:off x="8838353" y="3556304"/>
              <a:ext cx="941832" cy="461665"/>
            </a:xfrm>
            <a:prstGeom prst="rect">
              <a:avLst/>
            </a:prstGeom>
            <a:noFill/>
          </p:spPr>
          <p:txBody>
            <a:bodyPr wrap="square" rtlCol="0">
              <a:spAutoFit/>
            </a:bodyPr>
            <a:lstStyle/>
            <a:p>
              <a:pPr algn="ctr"/>
              <a:r>
                <a:rPr lang="en-US" sz="1200" dirty="0">
                  <a:solidFill>
                    <a:schemeClr val="accent1"/>
                  </a:solidFill>
                </a:rPr>
                <a:t>Pre-</a:t>
              </a:r>
            </a:p>
            <a:p>
              <a:pPr algn="ctr"/>
              <a:r>
                <a:rPr lang="en-US" sz="1200" dirty="0">
                  <a:solidFill>
                    <a:schemeClr val="accent1"/>
                  </a:solidFill>
                </a:rPr>
                <a:t>IVCO</a:t>
              </a:r>
            </a:p>
          </p:txBody>
        </p:sp>
        <p:sp>
          <p:nvSpPr>
            <p:cNvPr id="25" name="TextBox 24">
              <a:extLst>
                <a:ext uri="{FF2B5EF4-FFF2-40B4-BE49-F238E27FC236}">
                  <a16:creationId xmlns:a16="http://schemas.microsoft.com/office/drawing/2014/main" id="{65722907-345A-46C1-D5F1-75F40EBB383E}"/>
                </a:ext>
              </a:extLst>
            </p:cNvPr>
            <p:cNvSpPr txBox="1"/>
            <p:nvPr/>
          </p:nvSpPr>
          <p:spPr>
            <a:xfrm rot="16200000">
              <a:off x="9440663" y="3713784"/>
              <a:ext cx="1019184" cy="272472"/>
            </a:xfrm>
            <a:prstGeom prst="rect">
              <a:avLst/>
            </a:prstGeom>
            <a:noFill/>
          </p:spPr>
          <p:txBody>
            <a:bodyPr wrap="square" rtlCol="0">
              <a:spAutoFit/>
            </a:bodyPr>
            <a:lstStyle/>
            <a:p>
              <a:pPr algn="ctr"/>
              <a:r>
                <a:rPr lang="en-US" sz="1200" dirty="0">
                  <a:solidFill>
                    <a:schemeClr val="accent2"/>
                  </a:solidFill>
                </a:rPr>
                <a:t>During  IVCO</a:t>
              </a:r>
            </a:p>
          </p:txBody>
        </p:sp>
        <p:sp>
          <p:nvSpPr>
            <p:cNvPr id="26" name="TextBox 25">
              <a:extLst>
                <a:ext uri="{FF2B5EF4-FFF2-40B4-BE49-F238E27FC236}">
                  <a16:creationId xmlns:a16="http://schemas.microsoft.com/office/drawing/2014/main" id="{4FEEA11F-BBDD-BAA5-14DD-51095A94DCAE}"/>
                </a:ext>
              </a:extLst>
            </p:cNvPr>
            <p:cNvSpPr txBox="1"/>
            <p:nvPr/>
          </p:nvSpPr>
          <p:spPr>
            <a:xfrm>
              <a:off x="10450640" y="3556303"/>
              <a:ext cx="629126" cy="461665"/>
            </a:xfrm>
            <a:prstGeom prst="rect">
              <a:avLst/>
            </a:prstGeom>
            <a:noFill/>
          </p:spPr>
          <p:txBody>
            <a:bodyPr wrap="square" rtlCol="0">
              <a:spAutoFit/>
            </a:bodyPr>
            <a:lstStyle/>
            <a:p>
              <a:pPr algn="ctr"/>
              <a:r>
                <a:rPr lang="en-US" sz="1200" dirty="0">
                  <a:solidFill>
                    <a:schemeClr val="accent6"/>
                  </a:solidFill>
                </a:rPr>
                <a:t>Post-</a:t>
              </a:r>
            </a:p>
            <a:p>
              <a:pPr algn="ctr"/>
              <a:r>
                <a:rPr lang="en-US" sz="1200" dirty="0">
                  <a:solidFill>
                    <a:schemeClr val="accent6"/>
                  </a:solidFill>
                </a:rPr>
                <a:t>IVCO</a:t>
              </a:r>
            </a:p>
          </p:txBody>
        </p:sp>
        <p:sp>
          <p:nvSpPr>
            <p:cNvPr id="27" name="Rectangle 26">
              <a:extLst>
                <a:ext uri="{FF2B5EF4-FFF2-40B4-BE49-F238E27FC236}">
                  <a16:creationId xmlns:a16="http://schemas.microsoft.com/office/drawing/2014/main" id="{21FB875F-E113-BA6F-B107-B308A0DE1654}"/>
                </a:ext>
              </a:extLst>
            </p:cNvPr>
            <p:cNvSpPr/>
            <p:nvPr/>
          </p:nvSpPr>
          <p:spPr>
            <a:xfrm>
              <a:off x="9798503" y="1381750"/>
              <a:ext cx="322395" cy="4749556"/>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prstDash val="dashDot"/>
                </a:ln>
              </a:endParaRPr>
            </a:p>
          </p:txBody>
        </p:sp>
      </p:grpSp>
      <p:graphicFrame>
        <p:nvGraphicFramePr>
          <p:cNvPr id="8" name="Diagram 7"/>
          <p:cNvGraphicFramePr/>
          <p:nvPr>
            <p:extLst>
              <p:ext uri="{D42A27DB-BD31-4B8C-83A1-F6EECF244321}">
                <p14:modId xmlns:p14="http://schemas.microsoft.com/office/powerpoint/2010/main" val="2937262168"/>
              </p:ext>
            </p:extLst>
          </p:nvPr>
        </p:nvGraphicFramePr>
        <p:xfrm>
          <a:off x="6705600" y="-1382215"/>
          <a:ext cx="4971393" cy="48410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78453031"/>
      </p:ext>
    </p:extLst>
  </p:cSld>
  <p:clrMapOvr>
    <a:masterClrMapping/>
  </p:clrMapOvr>
  <p:extLst>
    <p:ext uri="{6950BFC3-D8DA-4A85-94F7-54DA5524770B}">
      <p188:commentRel xmlns:p188="http://schemas.microsoft.com/office/powerpoint/2018/8/main" xmlns="" r:id="rId9"/>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5F0A0EC-A179-3187-A05B-400FDE5C0898}"/>
              </a:ext>
            </a:extLst>
          </p:cNvPr>
          <p:cNvPicPr>
            <a:picLocks noChangeAspect="1" noChangeArrowheads="1"/>
          </p:cNvPicPr>
          <p:nvPr/>
        </p:nvPicPr>
        <p:blipFill>
          <a:blip r:embed="rId2"/>
          <a:stretch>
            <a:fillRect/>
          </a:stretch>
        </p:blipFill>
        <p:spPr bwMode="auto">
          <a:xfrm>
            <a:off x="7193249" y="18090"/>
            <a:ext cx="4429154" cy="22756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A8A8D31-1B00-3F4C-B543-5C9C738958CA}"/>
              </a:ext>
            </a:extLst>
          </p:cNvPr>
          <p:cNvSpPr txBox="1"/>
          <p:nvPr/>
        </p:nvSpPr>
        <p:spPr>
          <a:xfrm>
            <a:off x="447040" y="111314"/>
            <a:ext cx="6066755" cy="2462213"/>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Figure 2. Ensemble average P-V loops. </a:t>
            </a:r>
            <a:r>
              <a:rPr lang="en-US" sz="1400" dirty="0">
                <a:latin typeface="Arial" panose="020B0604020202020204" pitchFamily="34" charset="0"/>
                <a:cs typeface="Arial" panose="020B0604020202020204" pitchFamily="34" charset="0"/>
              </a:rPr>
              <a:t>Pressure-volume loops were averaged for all pigs in the three intervention groups: Control (blue), REBOA (red) and EVAC (purple) (n=6/group). These figures illustrate the ensemble averaged P-V loops at A) baseline, B) end of hemorrhage and C) end of intervention for each group. As expected, P-V loops get smaller at the end of hemorrhage, reflective of lower pressures and volumes, followed by a significant increase in pressure and volume with the REBOA intervention. Panel C illustrates the averaged P-V loops each group as well as one of the REBOA pigs (red-dotted line), which illustrates a major deviation from the “averaged” P-V response. A significant amount of variability was observed in the REBOA group.</a:t>
            </a:r>
          </a:p>
        </p:txBody>
      </p:sp>
      <p:sp>
        <p:nvSpPr>
          <p:cNvPr id="4" name="TextBox 3">
            <a:extLst>
              <a:ext uri="{FF2B5EF4-FFF2-40B4-BE49-F238E27FC236}">
                <a16:creationId xmlns:a16="http://schemas.microsoft.com/office/drawing/2014/main" id="{DA359974-E3A8-2F72-0034-E98F76E396F2}"/>
              </a:ext>
            </a:extLst>
          </p:cNvPr>
          <p:cNvSpPr txBox="1"/>
          <p:nvPr/>
        </p:nvSpPr>
        <p:spPr>
          <a:xfrm>
            <a:off x="6738530" y="111314"/>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11" name="TextBox 10">
            <a:extLst>
              <a:ext uri="{FF2B5EF4-FFF2-40B4-BE49-F238E27FC236}">
                <a16:creationId xmlns:a16="http://schemas.microsoft.com/office/drawing/2014/main" id="{0C6527C3-C415-D503-F5D4-8AF7212EAC7C}"/>
              </a:ext>
            </a:extLst>
          </p:cNvPr>
          <p:cNvSpPr txBox="1"/>
          <p:nvPr/>
        </p:nvSpPr>
        <p:spPr>
          <a:xfrm>
            <a:off x="6738530" y="2561893"/>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pic>
        <p:nvPicPr>
          <p:cNvPr id="1028" name="Picture 4">
            <a:extLst>
              <a:ext uri="{FF2B5EF4-FFF2-40B4-BE49-F238E27FC236}">
                <a16:creationId xmlns:a16="http://schemas.microsoft.com/office/drawing/2014/main" id="{F3561105-690E-F0B9-F010-127B1B4E4F2C}"/>
              </a:ext>
            </a:extLst>
          </p:cNvPr>
          <p:cNvPicPr>
            <a:picLocks noChangeAspect="1" noChangeArrowheads="1"/>
          </p:cNvPicPr>
          <p:nvPr/>
        </p:nvPicPr>
        <p:blipFill>
          <a:blip r:embed="rId3"/>
          <a:stretch>
            <a:fillRect/>
          </a:stretch>
        </p:blipFill>
        <p:spPr bwMode="auto">
          <a:xfrm>
            <a:off x="7188000" y="2293353"/>
            <a:ext cx="4439652" cy="22810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iagram&#10;&#10;Description automatically generated">
            <a:extLst>
              <a:ext uri="{FF2B5EF4-FFF2-40B4-BE49-F238E27FC236}">
                <a16:creationId xmlns:a16="http://schemas.microsoft.com/office/drawing/2014/main" id="{8335DC1B-C0A0-90FB-E407-0523A6316BE0}"/>
              </a:ext>
            </a:extLst>
          </p:cNvPr>
          <p:cNvPicPr>
            <a:picLocks noChangeAspect="1" noChangeArrowheads="1"/>
          </p:cNvPicPr>
          <p:nvPr/>
        </p:nvPicPr>
        <p:blipFill>
          <a:blip r:embed="rId4"/>
          <a:stretch>
            <a:fillRect/>
          </a:stretch>
        </p:blipFill>
        <p:spPr bwMode="auto">
          <a:xfrm>
            <a:off x="7188000" y="4567780"/>
            <a:ext cx="4439652" cy="228108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94ECFC1-C867-4884-E81F-51CC9E013CE1}"/>
              </a:ext>
            </a:extLst>
          </p:cNvPr>
          <p:cNvSpPr txBox="1"/>
          <p:nvPr/>
        </p:nvSpPr>
        <p:spPr>
          <a:xfrm>
            <a:off x="6738530" y="4673918"/>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Tree>
    <p:extLst>
      <p:ext uri="{BB962C8B-B14F-4D97-AF65-F5344CB8AC3E}">
        <p14:creationId xmlns:p14="http://schemas.microsoft.com/office/powerpoint/2010/main" val="3267645091"/>
      </p:ext>
    </p:extLst>
  </p:cSld>
  <p:clrMapOvr>
    <a:masterClrMapping/>
  </p:clrMapOvr>
  <p:extLst>
    <p:ext uri="{6950BFC3-D8DA-4A85-94F7-54DA5524770B}">
      <p188:commentRel xmlns:p188="http://schemas.microsoft.com/office/powerpoint/2018/8/main" xmlns="" r:id="rId5"/>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1" y="-30032"/>
            <a:ext cx="6561538" cy="6771084"/>
          </a:xfrm>
          <a:prstGeom prst="rect">
            <a:avLst/>
          </a:prstGeom>
          <a:noFill/>
        </p:spPr>
        <p:txBody>
          <a:bodyPr wrap="square" lIns="91440" tIns="45720" rIns="91440" bIns="45720" rtlCol="0" anchor="t">
            <a:spAutoFit/>
          </a:bodyPr>
          <a:lstStyle/>
          <a:p>
            <a:r>
              <a:rPr lang="en-US" sz="1400" b="1" dirty="0">
                <a:latin typeface="Arial"/>
                <a:cs typeface="Arial"/>
              </a:rPr>
              <a:t>Figure 3. Comparison of end-systolic and end-diastolic pressures and volumes by intervention group. </a:t>
            </a:r>
            <a:r>
              <a:rPr lang="en-US" sz="1400" dirty="0">
                <a:latin typeface="Arial"/>
                <a:cs typeface="Arial"/>
              </a:rPr>
              <a:t>Average End-Systolic A) Pressure (ESP) and B) Volume (ESV) as well as End-Diastolic C) Pressure (EDP) and D) Volume (EDV) are plotted over time by group (n=6/group). </a:t>
            </a:r>
            <a:r>
              <a:rPr lang="en-US" sz="1400" dirty="0" smtClean="0">
                <a:latin typeface="Arial"/>
                <a:cs typeface="Arial"/>
              </a:rPr>
              <a:t>Asterisks (*) represent statistically significant differences between time, where T0 is the referent time, significant effects between groups are illustrated with psi (</a:t>
            </a:r>
            <a:r>
              <a:rPr lang="el-GR" sz="1400" dirty="0" smtClean="0">
                <a:latin typeface="Arial"/>
                <a:cs typeface="Arial"/>
              </a:rPr>
              <a:t>ψ</a:t>
            </a:r>
            <a:r>
              <a:rPr lang="en-US" sz="1400" dirty="0" smtClean="0">
                <a:latin typeface="Arial"/>
                <a:cs typeface="Arial"/>
              </a:rPr>
              <a:t>) symbol, where the control group is the referent group, and the diamond shaped crosses are extreme data points from each group. </a:t>
            </a:r>
          </a:p>
          <a:p>
            <a:endParaRPr lang="en-US" sz="1400" dirty="0" smtClean="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3A</a:t>
            </a:r>
            <a:r>
              <a:rPr lang="en-US" sz="1400" b="1" dirty="0">
                <a:latin typeface="Arial" panose="020B0604020202020204" pitchFamily="34" charset="0"/>
                <a:cs typeface="Arial" panose="020B0604020202020204" pitchFamily="34" charset="0"/>
              </a:rPr>
              <a:t>)</a:t>
            </a:r>
            <a:r>
              <a:rPr lang="en-US" sz="1400" dirty="0">
                <a:latin typeface="Arial" panose="020B0604020202020204" pitchFamily="34" charset="0"/>
                <a:cs typeface="Arial" panose="020B0604020202020204" pitchFamily="34" charset="0"/>
              </a:rPr>
              <a:t> After hemorrhage in all treatment groups,</a:t>
            </a:r>
          </a:p>
          <a:p>
            <a:r>
              <a:rPr lang="en-US" sz="1400" dirty="0">
                <a:latin typeface="Arial" panose="020B0604020202020204" pitchFamily="34" charset="0"/>
                <a:cs typeface="Arial" panose="020B0604020202020204" pitchFamily="34" charset="0"/>
              </a:rPr>
              <a:t>ESP significantly decreased by an average of 50.7 mmHg with a 95% Confidence Interval (CI) [-58.4, -41.7 mmHg], p&lt;0.001. </a:t>
            </a:r>
          </a:p>
          <a:p>
            <a:r>
              <a:rPr lang="en-US" sz="1400" dirty="0">
                <a:latin typeface="Arial" panose="020B0604020202020204" pitchFamily="34" charset="0"/>
                <a:cs typeface="Arial" panose="020B0604020202020204" pitchFamily="34" charset="0"/>
              </a:rPr>
              <a:t>At T74, the REBOA group experienced an average increase in ESP by 140.2 mmHg (95%CI [102.7, 184.6 mmHg], p&lt;0.001), while EVAC was associated with an average increase of 76.4 mmHg (95%CI [47.5, 110.9 mmHg], p&lt;0.001).</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3B)</a:t>
            </a:r>
            <a:r>
              <a:rPr lang="en-US" sz="1400" dirty="0">
                <a:latin typeface="Arial" panose="020B0604020202020204" pitchFamily="34" charset="0"/>
                <a:cs typeface="Arial" panose="020B0604020202020204" pitchFamily="34" charset="0"/>
              </a:rPr>
              <a:t> ESV was found to have significantly decreased after hemorrhage in all groups, with an average decreased by 57.7 mL (95%CI [-63.7, -50.7 mL], p&lt;0.001). In all groups at T74, however, there were no significant differences with the baseline conditions.</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3C)</a:t>
            </a:r>
            <a:r>
              <a:rPr lang="en-US" sz="1400" dirty="0">
                <a:latin typeface="Arial" panose="020B0604020202020204" pitchFamily="34" charset="0"/>
                <a:cs typeface="Arial" panose="020B0604020202020204" pitchFamily="34" charset="0"/>
              </a:rPr>
              <a:t> There were no significant differences in EDP when compared to baseline conditions in all groups, with the exception of the REBOA group at T30; however the average across all groups at T30 was not significantly decreased when compared to the baseline state, with a pooled decrease of 2.35 mmHg (95%CI [-4.8, .13 mmHg], p=0.064).</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3D)</a:t>
            </a:r>
            <a:r>
              <a:rPr lang="en-US" sz="1400" dirty="0">
                <a:latin typeface="Arial" panose="020B0604020202020204" pitchFamily="34" charset="0"/>
                <a:cs typeface="Arial" panose="020B0604020202020204" pitchFamily="34" charset="0"/>
              </a:rPr>
              <a:t> EDV was found to have significantly decreased after hemorrhage in all groups, with an average decreased by 42.7 mL (95%CI [-56.0, -29.7 mL], p&lt;0.001). In all groups at T74, however, there were no significant differences with the baseline conditions.</a:t>
            </a:r>
          </a:p>
        </p:txBody>
      </p:sp>
      <p:grpSp>
        <p:nvGrpSpPr>
          <p:cNvPr id="8" name="Group 7"/>
          <p:cNvGrpSpPr/>
          <p:nvPr/>
        </p:nvGrpSpPr>
        <p:grpSpPr>
          <a:xfrm>
            <a:off x="6459291" y="1079731"/>
            <a:ext cx="5723131" cy="4843028"/>
            <a:chOff x="3288003" y="1622358"/>
            <a:chExt cx="5723131" cy="4843028"/>
          </a:xfrm>
        </p:grpSpPr>
        <p:grpSp>
          <p:nvGrpSpPr>
            <p:cNvPr id="24" name="Group 23">
              <a:extLst>
                <a:ext uri="{FF2B5EF4-FFF2-40B4-BE49-F238E27FC236}">
                  <a16:creationId xmlns:a16="http://schemas.microsoft.com/office/drawing/2014/main" id="{06E2C270-52FC-8F58-99ED-8D0023570BA6}"/>
                </a:ext>
              </a:extLst>
            </p:cNvPr>
            <p:cNvGrpSpPr/>
            <p:nvPr/>
          </p:nvGrpSpPr>
          <p:grpSpPr>
            <a:xfrm>
              <a:off x="3864098" y="1622358"/>
              <a:ext cx="5147036" cy="4843028"/>
              <a:chOff x="4978813" y="1506209"/>
              <a:chExt cx="5147036" cy="4843028"/>
            </a:xfrm>
          </p:grpSpPr>
          <p:pic>
            <p:nvPicPr>
              <p:cNvPr id="13" name="Picture 12">
                <a:extLst>
                  <a:ext uri="{FF2B5EF4-FFF2-40B4-BE49-F238E27FC236}">
                    <a16:creationId xmlns:a16="http://schemas.microsoft.com/office/drawing/2014/main" id="{2046B38C-DDB4-3BA1-7F6F-E4B8583964C7}"/>
                  </a:ext>
                </a:extLst>
              </p:cNvPr>
              <p:cNvPicPr>
                <a:picLocks noChangeAspect="1"/>
              </p:cNvPicPr>
              <p:nvPr/>
            </p:nvPicPr>
            <p:blipFill rotWithShape="1">
              <a:blip r:embed="rId2">
                <a:extLst>
                  <a:ext uri="{28A0092B-C50C-407E-A947-70E740481C1C}">
                    <a14:useLocalDpi xmlns:a14="http://schemas.microsoft.com/office/drawing/2010/main" val="0"/>
                  </a:ext>
                </a:extLst>
              </a:blip>
              <a:srcRect r="18249" b="10682"/>
              <a:stretch/>
            </p:blipFill>
            <p:spPr>
              <a:xfrm>
                <a:off x="7697707" y="3991129"/>
                <a:ext cx="2428142" cy="2358108"/>
              </a:xfrm>
              <a:prstGeom prst="rect">
                <a:avLst/>
              </a:prstGeom>
            </p:spPr>
          </p:pic>
          <p:pic>
            <p:nvPicPr>
              <p:cNvPr id="15" name="Picture 14">
                <a:extLst>
                  <a:ext uri="{FF2B5EF4-FFF2-40B4-BE49-F238E27FC236}">
                    <a16:creationId xmlns:a16="http://schemas.microsoft.com/office/drawing/2014/main" id="{A8C2B1F2-63DE-2FE3-DC94-38AC19F25024}"/>
                  </a:ext>
                </a:extLst>
              </p:cNvPr>
              <p:cNvPicPr>
                <a:picLocks noChangeAspect="1"/>
              </p:cNvPicPr>
              <p:nvPr/>
            </p:nvPicPr>
            <p:blipFill rotWithShape="1">
              <a:blip r:embed="rId3">
                <a:extLst>
                  <a:ext uri="{28A0092B-C50C-407E-A947-70E740481C1C}">
                    <a14:useLocalDpi xmlns:a14="http://schemas.microsoft.com/office/drawing/2010/main" val="0"/>
                  </a:ext>
                </a:extLst>
              </a:blip>
              <a:srcRect r="19801" b="12863"/>
              <a:stretch/>
            </p:blipFill>
            <p:spPr>
              <a:xfrm>
                <a:off x="5055619" y="3991607"/>
                <a:ext cx="2280128" cy="2258559"/>
              </a:xfrm>
              <a:prstGeom prst="rect">
                <a:avLst/>
              </a:prstGeom>
            </p:spPr>
          </p:pic>
          <p:pic>
            <p:nvPicPr>
              <p:cNvPr id="17" name="Picture 16">
                <a:extLst>
                  <a:ext uri="{FF2B5EF4-FFF2-40B4-BE49-F238E27FC236}">
                    <a16:creationId xmlns:a16="http://schemas.microsoft.com/office/drawing/2014/main" id="{E1AA4835-26B7-6C42-70DE-E690D1070630}"/>
                  </a:ext>
                </a:extLst>
              </p:cNvPr>
              <p:cNvPicPr>
                <a:picLocks noChangeAspect="1"/>
              </p:cNvPicPr>
              <p:nvPr/>
            </p:nvPicPr>
            <p:blipFill rotWithShape="1">
              <a:blip r:embed="rId4">
                <a:extLst>
                  <a:ext uri="{28A0092B-C50C-407E-A947-70E740481C1C}">
                    <a14:useLocalDpi xmlns:a14="http://schemas.microsoft.com/office/drawing/2010/main" val="0"/>
                  </a:ext>
                </a:extLst>
              </a:blip>
              <a:srcRect r="19019" b="12174"/>
              <a:stretch/>
            </p:blipFill>
            <p:spPr>
              <a:xfrm>
                <a:off x="7697769" y="1506209"/>
                <a:ext cx="2396482" cy="2310282"/>
              </a:xfrm>
              <a:prstGeom prst="rect">
                <a:avLst/>
              </a:prstGeom>
            </p:spPr>
          </p:pic>
          <p:pic>
            <p:nvPicPr>
              <p:cNvPr id="19" name="Picture 18">
                <a:extLst>
                  <a:ext uri="{FF2B5EF4-FFF2-40B4-BE49-F238E27FC236}">
                    <a16:creationId xmlns:a16="http://schemas.microsoft.com/office/drawing/2014/main" id="{65916D12-071B-BB18-3AC4-299F83134F42}"/>
                  </a:ext>
                </a:extLst>
              </p:cNvPr>
              <p:cNvPicPr>
                <a:picLocks noChangeAspect="1"/>
              </p:cNvPicPr>
              <p:nvPr/>
            </p:nvPicPr>
            <p:blipFill rotWithShape="1">
              <a:blip r:embed="rId5">
                <a:extLst>
                  <a:ext uri="{28A0092B-C50C-407E-A947-70E740481C1C}">
                    <a14:useLocalDpi xmlns:a14="http://schemas.microsoft.com/office/drawing/2010/main" val="0"/>
                  </a:ext>
                </a:extLst>
              </a:blip>
              <a:srcRect r="18502" b="13112"/>
              <a:stretch/>
            </p:blipFill>
            <p:spPr>
              <a:xfrm>
                <a:off x="4978813" y="1509336"/>
                <a:ext cx="2385512" cy="2260695"/>
              </a:xfrm>
              <a:prstGeom prst="rect">
                <a:avLst/>
              </a:prstGeom>
            </p:spPr>
          </p:pic>
        </p:grpSp>
        <p:sp>
          <p:nvSpPr>
            <p:cNvPr id="7" name="TextBox 6"/>
            <p:cNvSpPr txBox="1"/>
            <p:nvPr/>
          </p:nvSpPr>
          <p:spPr>
            <a:xfrm rot="16200000">
              <a:off x="2571457" y="2431324"/>
              <a:ext cx="1802423"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End-Systole</a:t>
              </a:r>
            </a:p>
          </p:txBody>
        </p:sp>
        <p:sp>
          <p:nvSpPr>
            <p:cNvPr id="14" name="TextBox 13"/>
            <p:cNvSpPr txBox="1"/>
            <p:nvPr/>
          </p:nvSpPr>
          <p:spPr>
            <a:xfrm rot="16200000">
              <a:off x="2571457" y="4933087"/>
              <a:ext cx="1802423"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End-Diastole</a:t>
              </a:r>
            </a:p>
          </p:txBody>
        </p:sp>
      </p:grpSp>
      <p:sp>
        <p:nvSpPr>
          <p:cNvPr id="2" name="TextBox 1">
            <a:extLst>
              <a:ext uri="{FF2B5EF4-FFF2-40B4-BE49-F238E27FC236}">
                <a16:creationId xmlns:a16="http://schemas.microsoft.com/office/drawing/2014/main" id="{44502008-0A12-BE98-95CB-5FC1A01FB9F8}"/>
              </a:ext>
            </a:extLst>
          </p:cNvPr>
          <p:cNvSpPr txBox="1"/>
          <p:nvPr/>
        </p:nvSpPr>
        <p:spPr>
          <a:xfrm>
            <a:off x="6744441" y="70694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3" name="TextBox 2">
            <a:extLst>
              <a:ext uri="{FF2B5EF4-FFF2-40B4-BE49-F238E27FC236}">
                <a16:creationId xmlns:a16="http://schemas.microsoft.com/office/drawing/2014/main" id="{FCEC8FF7-D77B-882C-3963-FF7A3C215F5F}"/>
              </a:ext>
            </a:extLst>
          </p:cNvPr>
          <p:cNvSpPr txBox="1"/>
          <p:nvPr/>
        </p:nvSpPr>
        <p:spPr>
          <a:xfrm>
            <a:off x="9503614" y="70694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sp>
        <p:nvSpPr>
          <p:cNvPr id="4" name="TextBox 3">
            <a:extLst>
              <a:ext uri="{FF2B5EF4-FFF2-40B4-BE49-F238E27FC236}">
                <a16:creationId xmlns:a16="http://schemas.microsoft.com/office/drawing/2014/main" id="{034F03E9-AAD0-A131-1FDF-E8FAA4FB172F}"/>
              </a:ext>
            </a:extLst>
          </p:cNvPr>
          <p:cNvSpPr txBox="1"/>
          <p:nvPr/>
        </p:nvSpPr>
        <p:spPr>
          <a:xfrm>
            <a:off x="6744441" y="3162691"/>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
        <p:nvSpPr>
          <p:cNvPr id="6" name="TextBox 5">
            <a:extLst>
              <a:ext uri="{FF2B5EF4-FFF2-40B4-BE49-F238E27FC236}">
                <a16:creationId xmlns:a16="http://schemas.microsoft.com/office/drawing/2014/main" id="{4E23A5A6-C960-F900-7887-36894A7C6CA5}"/>
              </a:ext>
            </a:extLst>
          </p:cNvPr>
          <p:cNvSpPr txBox="1"/>
          <p:nvPr/>
        </p:nvSpPr>
        <p:spPr>
          <a:xfrm>
            <a:off x="9503614" y="3162691"/>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
            </a:r>
          </a:p>
        </p:txBody>
      </p:sp>
      <p:pic>
        <p:nvPicPr>
          <p:cNvPr id="18" name="Picture 17"/>
          <p:cNvPicPr>
            <a:picLocks noChangeAspect="1"/>
          </p:cNvPicPr>
          <p:nvPr/>
        </p:nvPicPr>
        <p:blipFill rotWithShape="1">
          <a:blip r:embed="rId6">
            <a:extLst>
              <a:ext uri="{28A0092B-C50C-407E-A947-70E740481C1C}">
                <a14:useLocalDpi xmlns:a14="http://schemas.microsoft.com/office/drawing/2010/main" val="0"/>
              </a:ext>
            </a:extLst>
          </a:blip>
          <a:srcRect l="4805" t="87810"/>
          <a:stretch/>
        </p:blipFill>
        <p:spPr>
          <a:xfrm>
            <a:off x="7436537" y="5762288"/>
            <a:ext cx="4134154" cy="495344"/>
          </a:xfrm>
          <a:prstGeom prst="rect">
            <a:avLst/>
          </a:prstGeom>
        </p:spPr>
      </p:pic>
      <p:sp>
        <p:nvSpPr>
          <p:cNvPr id="9" name="TextBox 8">
            <a:extLst>
              <a:ext uri="{FF2B5EF4-FFF2-40B4-BE49-F238E27FC236}">
                <a16:creationId xmlns:a16="http://schemas.microsoft.com/office/drawing/2014/main" id="{496214DA-ED88-9018-9922-338AC6F6DC01}"/>
              </a:ext>
            </a:extLst>
          </p:cNvPr>
          <p:cNvSpPr txBox="1"/>
          <p:nvPr/>
        </p:nvSpPr>
        <p:spPr>
          <a:xfrm>
            <a:off x="8131894" y="2420592"/>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0" name="TextBox 9">
            <a:extLst>
              <a:ext uri="{FF2B5EF4-FFF2-40B4-BE49-F238E27FC236}">
                <a16:creationId xmlns:a16="http://schemas.microsoft.com/office/drawing/2014/main" id="{30781A58-D061-1E12-2C57-4764360C808A}"/>
              </a:ext>
            </a:extLst>
          </p:cNvPr>
          <p:cNvSpPr txBox="1"/>
          <p:nvPr/>
        </p:nvSpPr>
        <p:spPr>
          <a:xfrm>
            <a:off x="8288424" y="2414374"/>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1" name="TextBox 10">
            <a:extLst>
              <a:ext uri="{FF2B5EF4-FFF2-40B4-BE49-F238E27FC236}">
                <a16:creationId xmlns:a16="http://schemas.microsoft.com/office/drawing/2014/main" id="{2FCACC71-C51A-3AF0-9B17-A393BBD47E89}"/>
              </a:ext>
            </a:extLst>
          </p:cNvPr>
          <p:cNvSpPr txBox="1"/>
          <p:nvPr/>
        </p:nvSpPr>
        <p:spPr>
          <a:xfrm>
            <a:off x="8455146" y="239625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0" name="TextBox 19">
            <a:extLst>
              <a:ext uri="{FF2B5EF4-FFF2-40B4-BE49-F238E27FC236}">
                <a16:creationId xmlns:a16="http://schemas.microsoft.com/office/drawing/2014/main" id="{93FEAE6F-26E5-262E-358C-8D84BF566C2F}"/>
              </a:ext>
            </a:extLst>
          </p:cNvPr>
          <p:cNvSpPr txBox="1"/>
          <p:nvPr/>
        </p:nvSpPr>
        <p:spPr>
          <a:xfrm>
            <a:off x="10877818" y="2326798"/>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1" name="TextBox 20">
            <a:extLst>
              <a:ext uri="{FF2B5EF4-FFF2-40B4-BE49-F238E27FC236}">
                <a16:creationId xmlns:a16="http://schemas.microsoft.com/office/drawing/2014/main" id="{09EC1CAA-06C9-1911-C72E-61740D933CC6}"/>
              </a:ext>
            </a:extLst>
          </p:cNvPr>
          <p:cNvSpPr txBox="1"/>
          <p:nvPr/>
        </p:nvSpPr>
        <p:spPr>
          <a:xfrm>
            <a:off x="11038561" y="2193171"/>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2" name="TextBox 21">
            <a:extLst>
              <a:ext uri="{FF2B5EF4-FFF2-40B4-BE49-F238E27FC236}">
                <a16:creationId xmlns:a16="http://schemas.microsoft.com/office/drawing/2014/main" id="{DE029340-B0C1-09FE-E231-26967893A530}"/>
              </a:ext>
            </a:extLst>
          </p:cNvPr>
          <p:cNvSpPr txBox="1"/>
          <p:nvPr/>
        </p:nvSpPr>
        <p:spPr>
          <a:xfrm>
            <a:off x="11198635" y="2266988"/>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3" name="TextBox 22">
            <a:extLst>
              <a:ext uri="{FF2B5EF4-FFF2-40B4-BE49-F238E27FC236}">
                <a16:creationId xmlns:a16="http://schemas.microsoft.com/office/drawing/2014/main" id="{0F13F4A5-72D8-A7B7-EB00-6DEFF427FE6D}"/>
              </a:ext>
            </a:extLst>
          </p:cNvPr>
          <p:cNvSpPr txBox="1"/>
          <p:nvPr/>
        </p:nvSpPr>
        <p:spPr>
          <a:xfrm>
            <a:off x="11481100" y="205289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5" name="TextBox 24">
            <a:extLst>
              <a:ext uri="{FF2B5EF4-FFF2-40B4-BE49-F238E27FC236}">
                <a16:creationId xmlns:a16="http://schemas.microsoft.com/office/drawing/2014/main" id="{54C21628-84A9-B4C9-E1D2-0F5FB700C763}"/>
              </a:ext>
            </a:extLst>
          </p:cNvPr>
          <p:cNvSpPr txBox="1"/>
          <p:nvPr/>
        </p:nvSpPr>
        <p:spPr>
          <a:xfrm>
            <a:off x="8304971" y="503605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7" name="TextBox 26">
            <a:extLst>
              <a:ext uri="{FF2B5EF4-FFF2-40B4-BE49-F238E27FC236}">
                <a16:creationId xmlns:a16="http://schemas.microsoft.com/office/drawing/2014/main" id="{6A0FE7E7-EDA3-1BA7-EAF2-58898EC8069D}"/>
              </a:ext>
            </a:extLst>
          </p:cNvPr>
          <p:cNvSpPr txBox="1"/>
          <p:nvPr/>
        </p:nvSpPr>
        <p:spPr>
          <a:xfrm>
            <a:off x="10870105" y="464626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8" name="TextBox 27">
            <a:extLst>
              <a:ext uri="{FF2B5EF4-FFF2-40B4-BE49-F238E27FC236}">
                <a16:creationId xmlns:a16="http://schemas.microsoft.com/office/drawing/2014/main" id="{92E916CC-9426-9EC9-E08D-1D93A1B5B540}"/>
              </a:ext>
            </a:extLst>
          </p:cNvPr>
          <p:cNvSpPr txBox="1"/>
          <p:nvPr/>
        </p:nvSpPr>
        <p:spPr>
          <a:xfrm>
            <a:off x="11032697" y="4402619"/>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9" name="TextBox 28">
            <a:extLst>
              <a:ext uri="{FF2B5EF4-FFF2-40B4-BE49-F238E27FC236}">
                <a16:creationId xmlns:a16="http://schemas.microsoft.com/office/drawing/2014/main" id="{A150A18B-E307-B15B-90A0-B2D01FCFAA2A}"/>
              </a:ext>
            </a:extLst>
          </p:cNvPr>
          <p:cNvSpPr txBox="1"/>
          <p:nvPr/>
        </p:nvSpPr>
        <p:spPr>
          <a:xfrm>
            <a:off x="11192857" y="479138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grpSp>
        <p:nvGrpSpPr>
          <p:cNvPr id="34" name="Group 33"/>
          <p:cNvGrpSpPr/>
          <p:nvPr/>
        </p:nvGrpSpPr>
        <p:grpSpPr>
          <a:xfrm>
            <a:off x="8871379" y="1236578"/>
            <a:ext cx="394124" cy="276999"/>
            <a:chOff x="8907096" y="1227054"/>
            <a:chExt cx="394124" cy="276999"/>
          </a:xfrm>
        </p:grpSpPr>
        <p:sp>
          <p:nvSpPr>
            <p:cNvPr id="12" name="TextBox 11">
              <a:extLst>
                <a:ext uri="{FF2B5EF4-FFF2-40B4-BE49-F238E27FC236}">
                  <a16:creationId xmlns:a16="http://schemas.microsoft.com/office/drawing/2014/main" id="{70F618E7-B28D-906F-26F4-10B2AA4C3CF1}"/>
                </a:ext>
              </a:extLst>
            </p:cNvPr>
            <p:cNvSpPr txBox="1"/>
            <p:nvPr/>
          </p:nvSpPr>
          <p:spPr>
            <a:xfrm>
              <a:off x="8907096" y="1227054"/>
              <a:ext cx="246150" cy="276999"/>
            </a:xfrm>
            <a:prstGeom prst="rect">
              <a:avLst/>
            </a:prstGeom>
            <a:noFill/>
          </p:spPr>
          <p:txBody>
            <a:bodyPr wrap="square" rtlCol="0">
              <a:spAutoFit/>
            </a:bodyPr>
            <a:lstStyle/>
            <a:p>
              <a:r>
                <a:rPr lang="en-US" sz="1200" dirty="0" smtClean="0">
                  <a:solidFill>
                    <a:srgbClr val="FF0000"/>
                  </a:solidFill>
                </a:rPr>
                <a:t>*</a:t>
              </a:r>
              <a:endParaRPr lang="en-US" dirty="0">
                <a:solidFill>
                  <a:srgbClr val="FF0000"/>
                </a:solidFill>
              </a:endParaRPr>
            </a:p>
          </p:txBody>
        </p:sp>
        <p:sp>
          <p:nvSpPr>
            <p:cNvPr id="26" name="TextBox 25"/>
            <p:cNvSpPr txBox="1"/>
            <p:nvPr/>
          </p:nvSpPr>
          <p:spPr>
            <a:xfrm>
              <a:off x="8976697" y="1239573"/>
              <a:ext cx="324523" cy="184666"/>
            </a:xfrm>
            <a:prstGeom prst="rect">
              <a:avLst/>
            </a:prstGeom>
            <a:noFill/>
          </p:spPr>
          <p:txBody>
            <a:bodyPr wrap="square" rtlCol="0">
              <a:spAutoFit/>
            </a:bodyPr>
            <a:lstStyle/>
            <a:p>
              <a:r>
                <a:rPr lang="el-GR" sz="600" dirty="0" smtClean="0">
                  <a:solidFill>
                    <a:srgbClr val="00B050"/>
                  </a:solidFill>
                </a:rPr>
                <a:t>ψ</a:t>
              </a:r>
              <a:endParaRPr lang="en-US" sz="800" dirty="0">
                <a:solidFill>
                  <a:srgbClr val="00B050"/>
                </a:solidFill>
              </a:endParaRPr>
            </a:p>
          </p:txBody>
        </p:sp>
      </p:grpSp>
      <p:grpSp>
        <p:nvGrpSpPr>
          <p:cNvPr id="35" name="Group 34"/>
          <p:cNvGrpSpPr/>
          <p:nvPr/>
        </p:nvGrpSpPr>
        <p:grpSpPr>
          <a:xfrm>
            <a:off x="9031536" y="1528163"/>
            <a:ext cx="394124" cy="276999"/>
            <a:chOff x="8907096" y="1227054"/>
            <a:chExt cx="394124" cy="276999"/>
          </a:xfrm>
        </p:grpSpPr>
        <p:sp>
          <p:nvSpPr>
            <p:cNvPr id="36" name="TextBox 35">
              <a:extLst>
                <a:ext uri="{FF2B5EF4-FFF2-40B4-BE49-F238E27FC236}">
                  <a16:creationId xmlns:a16="http://schemas.microsoft.com/office/drawing/2014/main" id="{70F618E7-B28D-906F-26F4-10B2AA4C3CF1}"/>
                </a:ext>
              </a:extLst>
            </p:cNvPr>
            <p:cNvSpPr txBox="1"/>
            <p:nvPr/>
          </p:nvSpPr>
          <p:spPr>
            <a:xfrm>
              <a:off x="8907096" y="1227054"/>
              <a:ext cx="246150" cy="276999"/>
            </a:xfrm>
            <a:prstGeom prst="rect">
              <a:avLst/>
            </a:prstGeom>
            <a:noFill/>
          </p:spPr>
          <p:txBody>
            <a:bodyPr wrap="square" rtlCol="0">
              <a:spAutoFit/>
            </a:bodyPr>
            <a:lstStyle/>
            <a:p>
              <a:r>
                <a:rPr lang="en-US" sz="1200" dirty="0" smtClean="0">
                  <a:solidFill>
                    <a:srgbClr val="FF0000"/>
                  </a:solidFill>
                </a:rPr>
                <a:t>*</a:t>
              </a:r>
              <a:endParaRPr lang="en-US" dirty="0">
                <a:solidFill>
                  <a:srgbClr val="FF0000"/>
                </a:solidFill>
              </a:endParaRPr>
            </a:p>
          </p:txBody>
        </p:sp>
        <p:sp>
          <p:nvSpPr>
            <p:cNvPr id="37" name="TextBox 36"/>
            <p:cNvSpPr txBox="1"/>
            <p:nvPr/>
          </p:nvSpPr>
          <p:spPr>
            <a:xfrm>
              <a:off x="8976697" y="1239573"/>
              <a:ext cx="324523" cy="184666"/>
            </a:xfrm>
            <a:prstGeom prst="rect">
              <a:avLst/>
            </a:prstGeom>
            <a:noFill/>
          </p:spPr>
          <p:txBody>
            <a:bodyPr wrap="square" rtlCol="0">
              <a:spAutoFit/>
            </a:bodyPr>
            <a:lstStyle/>
            <a:p>
              <a:r>
                <a:rPr lang="el-GR" sz="600" dirty="0" smtClean="0">
                  <a:solidFill>
                    <a:srgbClr val="00B050"/>
                  </a:solidFill>
                </a:rPr>
                <a:t>ψ</a:t>
              </a:r>
              <a:endParaRPr lang="en-US" sz="800" dirty="0">
                <a:solidFill>
                  <a:srgbClr val="00B050"/>
                </a:solidFill>
              </a:endParaRPr>
            </a:p>
          </p:txBody>
        </p:sp>
      </p:grpSp>
      <p:sp>
        <p:nvSpPr>
          <p:cNvPr id="40" name="TextBox 39"/>
          <p:cNvSpPr txBox="1"/>
          <p:nvPr/>
        </p:nvSpPr>
        <p:spPr>
          <a:xfrm>
            <a:off x="11652197" y="1562592"/>
            <a:ext cx="324523" cy="184666"/>
          </a:xfrm>
          <a:prstGeom prst="rect">
            <a:avLst/>
          </a:prstGeom>
          <a:noFill/>
        </p:spPr>
        <p:txBody>
          <a:bodyPr wrap="square" rtlCol="0">
            <a:spAutoFit/>
          </a:bodyPr>
          <a:lstStyle/>
          <a:p>
            <a:r>
              <a:rPr lang="el-GR" sz="600" dirty="0" smtClean="0">
                <a:solidFill>
                  <a:srgbClr val="00B050"/>
                </a:solidFill>
              </a:rPr>
              <a:t>ψ</a:t>
            </a:r>
            <a:endParaRPr lang="en-US" sz="800" dirty="0">
              <a:solidFill>
                <a:srgbClr val="00B050"/>
              </a:solidFill>
            </a:endParaRPr>
          </a:p>
        </p:txBody>
      </p:sp>
      <p:sp>
        <p:nvSpPr>
          <p:cNvPr id="41" name="TextBox 40"/>
          <p:cNvSpPr txBox="1"/>
          <p:nvPr/>
        </p:nvSpPr>
        <p:spPr>
          <a:xfrm>
            <a:off x="11656959" y="3799591"/>
            <a:ext cx="324523" cy="184666"/>
          </a:xfrm>
          <a:prstGeom prst="rect">
            <a:avLst/>
          </a:prstGeom>
          <a:noFill/>
        </p:spPr>
        <p:txBody>
          <a:bodyPr wrap="square" rtlCol="0">
            <a:spAutoFit/>
          </a:bodyPr>
          <a:lstStyle/>
          <a:p>
            <a:r>
              <a:rPr lang="el-GR" sz="600" dirty="0" smtClean="0">
                <a:solidFill>
                  <a:srgbClr val="00B050"/>
                </a:solidFill>
              </a:rPr>
              <a:t>ψ</a:t>
            </a:r>
            <a:endParaRPr lang="en-US" sz="800" dirty="0">
              <a:solidFill>
                <a:srgbClr val="00B050"/>
              </a:solidFill>
            </a:endParaRPr>
          </a:p>
        </p:txBody>
      </p:sp>
    </p:spTree>
    <p:extLst>
      <p:ext uri="{BB962C8B-B14F-4D97-AF65-F5344CB8AC3E}">
        <p14:creationId xmlns:p14="http://schemas.microsoft.com/office/powerpoint/2010/main" val="2743461352"/>
      </p:ext>
    </p:extLst>
  </p:cSld>
  <p:clrMapOvr>
    <a:masterClrMapping/>
  </p:clrMapOvr>
  <p:extLst mod="1">
    <p:ext uri="{6950BFC3-D8DA-4A85-94F7-54DA5524770B}">
      <p188:commentRel xmlns:p188="http://schemas.microsoft.com/office/powerpoint/2018/8/main" xmlns="" r:id="rId7"/>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6341884" y="861004"/>
            <a:ext cx="5383392" cy="4713703"/>
            <a:chOff x="6341884" y="861004"/>
            <a:chExt cx="5383392" cy="4713703"/>
          </a:xfrm>
        </p:grpSpPr>
        <p:grpSp>
          <p:nvGrpSpPr>
            <p:cNvPr id="30" name="Group 29">
              <a:extLst>
                <a:ext uri="{FF2B5EF4-FFF2-40B4-BE49-F238E27FC236}">
                  <a16:creationId xmlns:a16="http://schemas.microsoft.com/office/drawing/2014/main" id="{A17B6206-B96F-0559-58FF-5F9CE68267FC}"/>
                </a:ext>
              </a:extLst>
            </p:cNvPr>
            <p:cNvGrpSpPr/>
            <p:nvPr/>
          </p:nvGrpSpPr>
          <p:grpSpPr>
            <a:xfrm>
              <a:off x="6365733" y="861004"/>
              <a:ext cx="5359543" cy="4713703"/>
              <a:chOff x="4341001" y="1028174"/>
              <a:chExt cx="4830228" cy="4348181"/>
            </a:xfrm>
          </p:grpSpPr>
          <p:pic>
            <p:nvPicPr>
              <p:cNvPr id="13" name="Picture 12">
                <a:extLst>
                  <a:ext uri="{FF2B5EF4-FFF2-40B4-BE49-F238E27FC236}">
                    <a16:creationId xmlns:a16="http://schemas.microsoft.com/office/drawing/2014/main" id="{2046B38C-DDB4-3BA1-7F6F-E4B8583964C7}"/>
                  </a:ext>
                </a:extLst>
              </p:cNvPr>
              <p:cNvPicPr>
                <a:picLocks noChangeAspect="1"/>
              </p:cNvPicPr>
              <p:nvPr/>
            </p:nvPicPr>
            <p:blipFill rotWithShape="1">
              <a:blip r:embed="rId2">
                <a:extLst>
                  <a:ext uri="{28A0092B-C50C-407E-A947-70E740481C1C}">
                    <a14:useLocalDpi xmlns:a14="http://schemas.microsoft.com/office/drawing/2010/main" val="0"/>
                  </a:ext>
                </a:extLst>
              </a:blip>
              <a:srcRect r="15458" b="15458"/>
              <a:stretch/>
            </p:blipFill>
            <p:spPr>
              <a:xfrm>
                <a:off x="6804628" y="3271289"/>
                <a:ext cx="2338247" cy="2103994"/>
              </a:xfrm>
              <a:prstGeom prst="rect">
                <a:avLst/>
              </a:prstGeom>
            </p:spPr>
          </p:pic>
          <p:pic>
            <p:nvPicPr>
              <p:cNvPr id="15" name="Picture 14">
                <a:extLst>
                  <a:ext uri="{FF2B5EF4-FFF2-40B4-BE49-F238E27FC236}">
                    <a16:creationId xmlns:a16="http://schemas.microsoft.com/office/drawing/2014/main" id="{A8C2B1F2-63DE-2FE3-DC94-38AC19F25024}"/>
                  </a:ext>
                </a:extLst>
              </p:cNvPr>
              <p:cNvPicPr>
                <a:picLocks noChangeAspect="1"/>
              </p:cNvPicPr>
              <p:nvPr/>
            </p:nvPicPr>
            <p:blipFill rotWithShape="1">
              <a:blip r:embed="rId3">
                <a:extLst>
                  <a:ext uri="{28A0092B-C50C-407E-A947-70E740481C1C}">
                    <a14:useLocalDpi xmlns:a14="http://schemas.microsoft.com/office/drawing/2010/main" val="0"/>
                  </a:ext>
                </a:extLst>
              </a:blip>
              <a:srcRect r="20189" b="16278"/>
              <a:stretch/>
            </p:blipFill>
            <p:spPr>
              <a:xfrm>
                <a:off x="4345584" y="3275582"/>
                <a:ext cx="2201151" cy="2100773"/>
              </a:xfrm>
              <a:prstGeom prst="rect">
                <a:avLst/>
              </a:prstGeom>
            </p:spPr>
          </p:pic>
          <p:pic>
            <p:nvPicPr>
              <p:cNvPr id="28" name="Picture 27">
                <a:extLst>
                  <a:ext uri="{FF2B5EF4-FFF2-40B4-BE49-F238E27FC236}">
                    <a16:creationId xmlns:a16="http://schemas.microsoft.com/office/drawing/2014/main" id="{F8DE877A-9A23-F915-F594-A7D34C6BC950}"/>
                  </a:ext>
                </a:extLst>
              </p:cNvPr>
              <p:cNvPicPr>
                <a:picLocks noChangeAspect="1"/>
              </p:cNvPicPr>
              <p:nvPr/>
            </p:nvPicPr>
            <p:blipFill rotWithShape="1">
              <a:blip r:embed="rId4">
                <a:extLst>
                  <a:ext uri="{28A0092B-C50C-407E-A947-70E740481C1C}">
                    <a14:useLocalDpi xmlns:a14="http://schemas.microsoft.com/office/drawing/2010/main" val="0"/>
                  </a:ext>
                </a:extLst>
              </a:blip>
              <a:srcRect r="16159" b="16159"/>
              <a:stretch/>
            </p:blipFill>
            <p:spPr>
              <a:xfrm>
                <a:off x="6784358" y="1040321"/>
                <a:ext cx="2386871" cy="2171610"/>
              </a:xfrm>
              <a:prstGeom prst="rect">
                <a:avLst/>
              </a:prstGeom>
            </p:spPr>
          </p:pic>
          <p:pic>
            <p:nvPicPr>
              <p:cNvPr id="29" name="Picture 28">
                <a:extLst>
                  <a:ext uri="{FF2B5EF4-FFF2-40B4-BE49-F238E27FC236}">
                    <a16:creationId xmlns:a16="http://schemas.microsoft.com/office/drawing/2014/main" id="{E147E4C1-B042-29CE-F8E0-C160C05202C7}"/>
                  </a:ext>
                </a:extLst>
              </p:cNvPr>
              <p:cNvPicPr>
                <a:picLocks noChangeAspect="1"/>
              </p:cNvPicPr>
              <p:nvPr/>
            </p:nvPicPr>
            <p:blipFill rotWithShape="1">
              <a:blip r:embed="rId5">
                <a:extLst>
                  <a:ext uri="{28A0092B-C50C-407E-A947-70E740481C1C}">
                    <a14:useLocalDpi xmlns:a14="http://schemas.microsoft.com/office/drawing/2010/main" val="0"/>
                  </a:ext>
                </a:extLst>
              </a:blip>
              <a:srcRect r="21366" b="15064"/>
              <a:stretch/>
            </p:blipFill>
            <p:spPr>
              <a:xfrm>
                <a:off x="4341001" y="1028174"/>
                <a:ext cx="2201441" cy="2218904"/>
              </a:xfrm>
              <a:prstGeom prst="rect">
                <a:avLst/>
              </a:prstGeom>
            </p:spPr>
          </p:pic>
        </p:grpSp>
        <p:pic>
          <p:nvPicPr>
            <p:cNvPr id="7" name="Picture 6"/>
            <p:cNvPicPr>
              <a:picLocks noChangeAspect="1"/>
            </p:cNvPicPr>
            <p:nvPr/>
          </p:nvPicPr>
          <p:blipFill rotWithShape="1">
            <a:blip r:embed="rId6"/>
            <a:srcRect t="14968" b="-13819"/>
            <a:stretch/>
          </p:blipFill>
          <p:spPr>
            <a:xfrm>
              <a:off x="6388894" y="2171699"/>
              <a:ext cx="172720" cy="158751"/>
            </a:xfrm>
            <a:prstGeom prst="rect">
              <a:avLst/>
            </a:prstGeom>
          </p:spPr>
        </p:pic>
        <p:pic>
          <p:nvPicPr>
            <p:cNvPr id="22" name="Picture 21"/>
            <p:cNvPicPr>
              <a:picLocks noChangeAspect="1"/>
            </p:cNvPicPr>
            <p:nvPr/>
          </p:nvPicPr>
          <p:blipFill>
            <a:blip r:embed="rId7"/>
            <a:stretch>
              <a:fillRect/>
            </a:stretch>
          </p:blipFill>
          <p:spPr>
            <a:xfrm>
              <a:off x="6341884" y="2274496"/>
              <a:ext cx="199851" cy="189514"/>
            </a:xfrm>
            <a:prstGeom prst="rect">
              <a:avLst/>
            </a:prstGeom>
          </p:spPr>
        </p:pic>
      </p:grpSp>
      <p:sp>
        <p:nvSpPr>
          <p:cNvPr id="5" name="TextBox 4">
            <a:extLst>
              <a:ext uri="{FF2B5EF4-FFF2-40B4-BE49-F238E27FC236}">
                <a16:creationId xmlns:a16="http://schemas.microsoft.com/office/drawing/2014/main" id="{BA8A8D31-1B00-3F4C-B543-5C9C738958CA}"/>
              </a:ext>
            </a:extLst>
          </p:cNvPr>
          <p:cNvSpPr txBox="1"/>
          <p:nvPr/>
        </p:nvSpPr>
        <p:spPr>
          <a:xfrm>
            <a:off x="71361" y="77096"/>
            <a:ext cx="6170951" cy="6771084"/>
          </a:xfrm>
          <a:prstGeom prst="rect">
            <a:avLst/>
          </a:prstGeom>
          <a:noFill/>
        </p:spPr>
        <p:txBody>
          <a:bodyPr wrap="square" lIns="91440" tIns="45720" rIns="91440" bIns="45720" rtlCol="0" anchor="t">
            <a:spAutoFit/>
          </a:bodyPr>
          <a:lstStyle/>
          <a:p>
            <a:r>
              <a:rPr lang="en-US" sz="1400" b="1" dirty="0">
                <a:latin typeface="Arial"/>
                <a:cs typeface="Arial"/>
              </a:rPr>
              <a:t>Figure 4. Summary of cardiac performance metrics by intervention group over time. </a:t>
            </a:r>
            <a:r>
              <a:rPr lang="en-US" sz="1400" dirty="0">
                <a:latin typeface="Arial"/>
                <a:cs typeface="Arial"/>
              </a:rPr>
              <a:t>Box plots of A) Ejection Fraction (EF), B) Heart Rate (HR), C) Stroke Volume (SV), and D) Cardiac Output (CO) at pre-IVCO time periods are illustrated over time and group. </a:t>
            </a:r>
            <a:r>
              <a:rPr lang="en-US" sz="1400" dirty="0">
                <a:latin typeface="Arial"/>
                <a:cs typeface="Arial"/>
              </a:rPr>
              <a:t>Asterisks (*) represent statistically significant differences between time, where T0 is the referent time, significant effects between groups are illustrated with psi (</a:t>
            </a:r>
            <a:r>
              <a:rPr lang="el-GR" sz="1400" dirty="0">
                <a:latin typeface="Arial"/>
                <a:cs typeface="Arial"/>
              </a:rPr>
              <a:t>ψ</a:t>
            </a:r>
            <a:r>
              <a:rPr lang="en-US" sz="1400" dirty="0">
                <a:latin typeface="Arial"/>
                <a:cs typeface="Arial"/>
              </a:rPr>
              <a:t>) symbol, where the control group is the referent group, and the diamond shaped crosses are extreme data points from each group. </a:t>
            </a:r>
          </a:p>
          <a:p>
            <a:endParaRPr lang="en-US" sz="1400" dirty="0">
              <a:latin typeface="Arial"/>
              <a:cs typeface="Arial"/>
            </a:endParaRPr>
          </a:p>
          <a:p>
            <a:endParaRPr lang="en-US" sz="1400" dirty="0">
              <a:highlight>
                <a:srgbClr val="FFFF00"/>
              </a:highlight>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4A)</a:t>
            </a:r>
            <a:r>
              <a:rPr lang="en-US" sz="1400" dirty="0">
                <a:latin typeface="Arial" panose="020B0604020202020204" pitchFamily="34" charset="0"/>
                <a:cs typeface="Arial" panose="020B0604020202020204" pitchFamily="34" charset="0"/>
              </a:rPr>
              <a:t> EF was found to have significantly increased  after hemorrhage in all groups by an average of 16.8% with 95%CI [8.0, 25.6%]), p&lt;0.001).  At T74, while EF did decrease when compared to the hemorrhage state, it was still significantly higher than that observed in the baseline state by 11.6% with 95%CI [2.8, 20.4%]), p=0.01). The REBOA and EVAC groups, on the other hand, did not lead to significant decrease in EF at T74 compared to the baseline conditions for both groups (p=0.460 and p=0.206, respectively).</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4B)</a:t>
            </a:r>
            <a:r>
              <a:rPr lang="en-US" sz="1400" dirty="0">
                <a:latin typeface="Arial" panose="020B0604020202020204" pitchFamily="34" charset="0"/>
                <a:cs typeface="Arial" panose="020B0604020202020204" pitchFamily="34" charset="0"/>
              </a:rPr>
              <a:t> HR was found to have significantly increased after hemorrhage by an average of 38.4 bpm with 95%CI [19.7, 60.1 bpm]), p&lt;0.001. At T74, HR was elevated in in all three intervention groups. HR in the REBOA group increased by an average of 83.2 bpm in HR (95%CI [58.5,111.9  bpm], p&lt;0.001). The EVAC group was associated with an average increase of 55.4 bpm in HR (95%CI [33.1, 81.5 bpm], p&lt;0.001) compared to baseline. By comparison, the control group experienced an increase of 50.8 bpm in HR (95%CI [30.4, 74.4 bpm], p&lt;0.001) compared to baseline. </a:t>
            </a:r>
          </a:p>
          <a:p>
            <a:endParaRPr lang="en-US" sz="1400" dirty="0">
              <a:highlight>
                <a:srgbClr val="FFFF00"/>
              </a:highlight>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4C&amp;4D)</a:t>
            </a:r>
            <a:r>
              <a:rPr lang="en-US" sz="1400" dirty="0">
                <a:latin typeface="Arial" panose="020B0604020202020204" pitchFamily="34" charset="0"/>
                <a:cs typeface="Arial" panose="020B0604020202020204" pitchFamily="34" charset="0"/>
              </a:rPr>
              <a:t> There were no significant differences in SV and CO when compared to baseline baseline across the three intervention groups. </a:t>
            </a: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C4336F5-A2DC-E7D0-79BA-A31F80DF3681}"/>
              </a:ext>
            </a:extLst>
          </p:cNvPr>
          <p:cNvSpPr txBox="1"/>
          <p:nvPr/>
        </p:nvSpPr>
        <p:spPr>
          <a:xfrm>
            <a:off x="6505248" y="727445"/>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10" name="TextBox 9">
            <a:extLst>
              <a:ext uri="{FF2B5EF4-FFF2-40B4-BE49-F238E27FC236}">
                <a16:creationId xmlns:a16="http://schemas.microsoft.com/office/drawing/2014/main" id="{19813343-4810-9C87-8C41-4686DE56F6DE}"/>
              </a:ext>
            </a:extLst>
          </p:cNvPr>
          <p:cNvSpPr txBox="1"/>
          <p:nvPr/>
        </p:nvSpPr>
        <p:spPr>
          <a:xfrm>
            <a:off x="9264421" y="727445"/>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sp>
        <p:nvSpPr>
          <p:cNvPr id="11" name="TextBox 10">
            <a:extLst>
              <a:ext uri="{FF2B5EF4-FFF2-40B4-BE49-F238E27FC236}">
                <a16:creationId xmlns:a16="http://schemas.microsoft.com/office/drawing/2014/main" id="{680D30CB-1DDF-3F08-E4CA-63B7EF404B3D}"/>
              </a:ext>
            </a:extLst>
          </p:cNvPr>
          <p:cNvSpPr txBox="1"/>
          <p:nvPr/>
        </p:nvSpPr>
        <p:spPr>
          <a:xfrm>
            <a:off x="6505248" y="318319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
        <p:nvSpPr>
          <p:cNvPr id="12" name="TextBox 11">
            <a:extLst>
              <a:ext uri="{FF2B5EF4-FFF2-40B4-BE49-F238E27FC236}">
                <a16:creationId xmlns:a16="http://schemas.microsoft.com/office/drawing/2014/main" id="{1098D93C-E909-0209-1FBB-E5BC3EA233BC}"/>
              </a:ext>
            </a:extLst>
          </p:cNvPr>
          <p:cNvSpPr txBox="1"/>
          <p:nvPr/>
        </p:nvSpPr>
        <p:spPr>
          <a:xfrm>
            <a:off x="9264421" y="318319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
            </a:r>
          </a:p>
        </p:txBody>
      </p:sp>
      <p:pic>
        <p:nvPicPr>
          <p:cNvPr id="14" name="Picture 13"/>
          <p:cNvPicPr>
            <a:picLocks noChangeAspect="1"/>
          </p:cNvPicPr>
          <p:nvPr/>
        </p:nvPicPr>
        <p:blipFill rotWithShape="1">
          <a:blip r:embed="rId8">
            <a:extLst>
              <a:ext uri="{28A0092B-C50C-407E-A947-70E740481C1C}">
                <a14:useLocalDpi xmlns:a14="http://schemas.microsoft.com/office/drawing/2010/main" val="0"/>
              </a:ext>
            </a:extLst>
          </a:blip>
          <a:srcRect l="4805" t="87810"/>
          <a:stretch/>
        </p:blipFill>
        <p:spPr>
          <a:xfrm>
            <a:off x="7009766" y="5696862"/>
            <a:ext cx="4134154" cy="495344"/>
          </a:xfrm>
          <a:prstGeom prst="rect">
            <a:avLst/>
          </a:prstGeom>
        </p:spPr>
      </p:pic>
      <p:sp>
        <p:nvSpPr>
          <p:cNvPr id="2" name="TextBox 1">
            <a:extLst>
              <a:ext uri="{FF2B5EF4-FFF2-40B4-BE49-F238E27FC236}">
                <a16:creationId xmlns:a16="http://schemas.microsoft.com/office/drawing/2014/main" id="{EBD906CD-C9C3-C700-2493-46B09E61B4DE}"/>
              </a:ext>
            </a:extLst>
          </p:cNvPr>
          <p:cNvSpPr txBox="1"/>
          <p:nvPr/>
        </p:nvSpPr>
        <p:spPr>
          <a:xfrm>
            <a:off x="7483049" y="118469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3" name="TextBox 2">
            <a:extLst>
              <a:ext uri="{FF2B5EF4-FFF2-40B4-BE49-F238E27FC236}">
                <a16:creationId xmlns:a16="http://schemas.microsoft.com/office/drawing/2014/main" id="{E9E4FB29-56EB-66C5-C3CF-B43589E6D2FA}"/>
              </a:ext>
            </a:extLst>
          </p:cNvPr>
          <p:cNvSpPr txBox="1"/>
          <p:nvPr/>
        </p:nvSpPr>
        <p:spPr>
          <a:xfrm>
            <a:off x="7669739" y="103991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4" name="TextBox 3">
            <a:extLst>
              <a:ext uri="{FF2B5EF4-FFF2-40B4-BE49-F238E27FC236}">
                <a16:creationId xmlns:a16="http://schemas.microsoft.com/office/drawing/2014/main" id="{0B7B61EB-E1D0-2C00-CFA8-7910AD4CF641}"/>
              </a:ext>
            </a:extLst>
          </p:cNvPr>
          <p:cNvSpPr txBox="1"/>
          <p:nvPr/>
        </p:nvSpPr>
        <p:spPr>
          <a:xfrm>
            <a:off x="7852619" y="103610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6" name="TextBox 5">
            <a:extLst>
              <a:ext uri="{FF2B5EF4-FFF2-40B4-BE49-F238E27FC236}">
                <a16:creationId xmlns:a16="http://schemas.microsoft.com/office/drawing/2014/main" id="{8A84ED0F-2BF2-CF01-6760-D39734FCFFCD}"/>
              </a:ext>
            </a:extLst>
          </p:cNvPr>
          <p:cNvSpPr txBox="1"/>
          <p:nvPr/>
        </p:nvSpPr>
        <p:spPr>
          <a:xfrm>
            <a:off x="8157419" y="137138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8" name="TextBox 7">
            <a:extLst>
              <a:ext uri="{FF2B5EF4-FFF2-40B4-BE49-F238E27FC236}">
                <a16:creationId xmlns:a16="http://schemas.microsoft.com/office/drawing/2014/main" id="{62E38690-EE0D-A4ED-68BC-0755D3DE648E}"/>
              </a:ext>
            </a:extLst>
          </p:cNvPr>
          <p:cNvSpPr txBox="1"/>
          <p:nvPr/>
        </p:nvSpPr>
        <p:spPr>
          <a:xfrm>
            <a:off x="10273499" y="1781419"/>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6" name="TextBox 15">
            <a:extLst>
              <a:ext uri="{FF2B5EF4-FFF2-40B4-BE49-F238E27FC236}">
                <a16:creationId xmlns:a16="http://schemas.microsoft.com/office/drawing/2014/main" id="{582E9C29-7FD8-0F40-577B-BDDF177C1217}"/>
              </a:ext>
            </a:extLst>
          </p:cNvPr>
          <p:cNvSpPr txBox="1"/>
          <p:nvPr/>
        </p:nvSpPr>
        <p:spPr>
          <a:xfrm>
            <a:off x="10451039" y="194627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7" name="TextBox 16">
            <a:extLst>
              <a:ext uri="{FF2B5EF4-FFF2-40B4-BE49-F238E27FC236}">
                <a16:creationId xmlns:a16="http://schemas.microsoft.com/office/drawing/2014/main" id="{1FF52CD7-997F-085F-D596-736262B7B896}"/>
              </a:ext>
            </a:extLst>
          </p:cNvPr>
          <p:cNvSpPr txBox="1"/>
          <p:nvPr/>
        </p:nvSpPr>
        <p:spPr>
          <a:xfrm>
            <a:off x="10626299" y="128445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8" name="TextBox 17">
            <a:extLst>
              <a:ext uri="{FF2B5EF4-FFF2-40B4-BE49-F238E27FC236}">
                <a16:creationId xmlns:a16="http://schemas.microsoft.com/office/drawing/2014/main" id="{CAF1A938-7587-A2A9-9136-8A68B23B8EDA}"/>
              </a:ext>
            </a:extLst>
          </p:cNvPr>
          <p:cNvSpPr txBox="1"/>
          <p:nvPr/>
        </p:nvSpPr>
        <p:spPr>
          <a:xfrm>
            <a:off x="10924566" y="1801168"/>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0" name="TextBox 19">
            <a:extLst>
              <a:ext uri="{FF2B5EF4-FFF2-40B4-BE49-F238E27FC236}">
                <a16:creationId xmlns:a16="http://schemas.microsoft.com/office/drawing/2014/main" id="{75B3A4AB-B97F-0AFB-6DE8-0F1C8C29DC20}"/>
              </a:ext>
            </a:extLst>
          </p:cNvPr>
          <p:cNvSpPr txBox="1"/>
          <p:nvPr/>
        </p:nvSpPr>
        <p:spPr>
          <a:xfrm>
            <a:off x="11293124" y="127740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39" name="TextBox 38">
            <a:extLst>
              <a:ext uri="{FF2B5EF4-FFF2-40B4-BE49-F238E27FC236}">
                <a16:creationId xmlns:a16="http://schemas.microsoft.com/office/drawing/2014/main" id="{EBD906CD-C9C3-C700-2493-46B09E61B4DE}"/>
              </a:ext>
            </a:extLst>
          </p:cNvPr>
          <p:cNvSpPr txBox="1"/>
          <p:nvPr/>
        </p:nvSpPr>
        <p:spPr>
          <a:xfrm>
            <a:off x="10904429" y="418697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40" name="TextBox 39">
            <a:extLst>
              <a:ext uri="{FF2B5EF4-FFF2-40B4-BE49-F238E27FC236}">
                <a16:creationId xmlns:a16="http://schemas.microsoft.com/office/drawing/2014/main" id="{E9E4FB29-56EB-66C5-C3CF-B43589E6D2FA}"/>
              </a:ext>
            </a:extLst>
          </p:cNvPr>
          <p:cNvSpPr txBox="1"/>
          <p:nvPr/>
        </p:nvSpPr>
        <p:spPr>
          <a:xfrm>
            <a:off x="11083499" y="344783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grpSp>
        <p:nvGrpSpPr>
          <p:cNvPr id="33" name="Group 32"/>
          <p:cNvGrpSpPr/>
          <p:nvPr/>
        </p:nvGrpSpPr>
        <p:grpSpPr>
          <a:xfrm>
            <a:off x="11069211" y="1339312"/>
            <a:ext cx="394124" cy="276999"/>
            <a:chOff x="8907096" y="1227054"/>
            <a:chExt cx="394124" cy="276999"/>
          </a:xfrm>
        </p:grpSpPr>
        <p:sp>
          <p:nvSpPr>
            <p:cNvPr id="35" name="TextBox 34">
              <a:extLst>
                <a:ext uri="{FF2B5EF4-FFF2-40B4-BE49-F238E27FC236}">
                  <a16:creationId xmlns:a16="http://schemas.microsoft.com/office/drawing/2014/main" id="{70F618E7-B28D-906F-26F4-10B2AA4C3CF1}"/>
                </a:ext>
              </a:extLst>
            </p:cNvPr>
            <p:cNvSpPr txBox="1"/>
            <p:nvPr/>
          </p:nvSpPr>
          <p:spPr>
            <a:xfrm>
              <a:off x="8907096" y="1227054"/>
              <a:ext cx="246150" cy="276999"/>
            </a:xfrm>
            <a:prstGeom prst="rect">
              <a:avLst/>
            </a:prstGeom>
            <a:noFill/>
          </p:spPr>
          <p:txBody>
            <a:bodyPr wrap="square" rtlCol="0">
              <a:spAutoFit/>
            </a:bodyPr>
            <a:lstStyle/>
            <a:p>
              <a:r>
                <a:rPr lang="en-US" sz="1200" dirty="0" smtClean="0">
                  <a:solidFill>
                    <a:srgbClr val="FF0000"/>
                  </a:solidFill>
                </a:rPr>
                <a:t>*</a:t>
              </a:r>
              <a:endParaRPr lang="en-US" dirty="0">
                <a:solidFill>
                  <a:srgbClr val="FF0000"/>
                </a:solidFill>
              </a:endParaRPr>
            </a:p>
          </p:txBody>
        </p:sp>
        <p:sp>
          <p:nvSpPr>
            <p:cNvPr id="37" name="TextBox 36"/>
            <p:cNvSpPr txBox="1"/>
            <p:nvPr/>
          </p:nvSpPr>
          <p:spPr>
            <a:xfrm>
              <a:off x="8976697" y="1239573"/>
              <a:ext cx="324523" cy="184666"/>
            </a:xfrm>
            <a:prstGeom prst="rect">
              <a:avLst/>
            </a:prstGeom>
            <a:noFill/>
          </p:spPr>
          <p:txBody>
            <a:bodyPr wrap="square" rtlCol="0">
              <a:spAutoFit/>
            </a:bodyPr>
            <a:lstStyle/>
            <a:p>
              <a:r>
                <a:rPr lang="el-GR" sz="600" dirty="0" smtClean="0">
                  <a:solidFill>
                    <a:srgbClr val="00B050"/>
                  </a:solidFill>
                </a:rPr>
                <a:t>ψ</a:t>
              </a:r>
              <a:endParaRPr lang="en-US" sz="800" dirty="0">
                <a:solidFill>
                  <a:srgbClr val="00B050"/>
                </a:solidFill>
              </a:endParaRPr>
            </a:p>
          </p:txBody>
        </p:sp>
      </p:grpSp>
      <p:sp>
        <p:nvSpPr>
          <p:cNvPr id="41" name="TextBox 40"/>
          <p:cNvSpPr txBox="1"/>
          <p:nvPr/>
        </p:nvSpPr>
        <p:spPr>
          <a:xfrm>
            <a:off x="8516444" y="2089830"/>
            <a:ext cx="324523" cy="184666"/>
          </a:xfrm>
          <a:prstGeom prst="rect">
            <a:avLst/>
          </a:prstGeom>
          <a:noFill/>
        </p:spPr>
        <p:txBody>
          <a:bodyPr wrap="square" rtlCol="0">
            <a:spAutoFit/>
          </a:bodyPr>
          <a:lstStyle/>
          <a:p>
            <a:r>
              <a:rPr lang="el-GR" sz="600" dirty="0" smtClean="0">
                <a:solidFill>
                  <a:srgbClr val="00B050"/>
                </a:solidFill>
              </a:rPr>
              <a:t>ψ</a:t>
            </a:r>
            <a:endParaRPr lang="en-US" sz="800" dirty="0">
              <a:solidFill>
                <a:srgbClr val="00B050"/>
              </a:solidFill>
            </a:endParaRPr>
          </a:p>
        </p:txBody>
      </p:sp>
      <p:sp>
        <p:nvSpPr>
          <p:cNvPr id="42" name="TextBox 41"/>
          <p:cNvSpPr txBox="1"/>
          <p:nvPr/>
        </p:nvSpPr>
        <p:spPr>
          <a:xfrm>
            <a:off x="8510094" y="4902684"/>
            <a:ext cx="324523" cy="184666"/>
          </a:xfrm>
          <a:prstGeom prst="rect">
            <a:avLst/>
          </a:prstGeom>
          <a:noFill/>
        </p:spPr>
        <p:txBody>
          <a:bodyPr wrap="square" rtlCol="0">
            <a:spAutoFit/>
          </a:bodyPr>
          <a:lstStyle/>
          <a:p>
            <a:r>
              <a:rPr lang="el-GR" sz="600" dirty="0" smtClean="0">
                <a:solidFill>
                  <a:srgbClr val="00B050"/>
                </a:solidFill>
              </a:rPr>
              <a:t>ψ</a:t>
            </a:r>
            <a:endParaRPr lang="en-US" sz="800" dirty="0">
              <a:solidFill>
                <a:srgbClr val="00B050"/>
              </a:solidFill>
            </a:endParaRPr>
          </a:p>
        </p:txBody>
      </p:sp>
      <p:sp>
        <p:nvSpPr>
          <p:cNvPr id="43" name="TextBox 42"/>
          <p:cNvSpPr txBox="1"/>
          <p:nvPr/>
        </p:nvSpPr>
        <p:spPr>
          <a:xfrm>
            <a:off x="11258699" y="4617947"/>
            <a:ext cx="324523" cy="184666"/>
          </a:xfrm>
          <a:prstGeom prst="rect">
            <a:avLst/>
          </a:prstGeom>
          <a:noFill/>
        </p:spPr>
        <p:txBody>
          <a:bodyPr wrap="square" rtlCol="0">
            <a:spAutoFit/>
          </a:bodyPr>
          <a:lstStyle/>
          <a:p>
            <a:r>
              <a:rPr lang="el-GR" sz="600" dirty="0" smtClean="0">
                <a:solidFill>
                  <a:srgbClr val="00B050"/>
                </a:solidFill>
              </a:rPr>
              <a:t>ψ</a:t>
            </a:r>
            <a:endParaRPr lang="en-US" sz="800" dirty="0">
              <a:solidFill>
                <a:srgbClr val="00B050"/>
              </a:solidFill>
            </a:endParaRPr>
          </a:p>
        </p:txBody>
      </p:sp>
    </p:spTree>
    <p:extLst>
      <p:ext uri="{BB962C8B-B14F-4D97-AF65-F5344CB8AC3E}">
        <p14:creationId xmlns:p14="http://schemas.microsoft.com/office/powerpoint/2010/main" val="3079592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3114295" y="4144429"/>
            <a:ext cx="6675747" cy="2677656"/>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Figure 5. Arterial elastance varies significantly after REBOA intervention. </a:t>
            </a:r>
            <a:r>
              <a:rPr lang="en-US" sz="1400" dirty="0">
                <a:latin typeface="Arial" panose="020B0604020202020204" pitchFamily="34" charset="0"/>
                <a:cs typeface="Arial" panose="020B0604020202020204" pitchFamily="34" charset="0"/>
              </a:rPr>
              <a:t> The average arterial elastance was calculated as the ratio of end systolic pressure to stroke volume. As expected, arterial elastance is comparable between pigs in all three intervention groups at baseline (T0) and at the end of 25% hemorrhage (T30). However, the introduction of REBOA and EVAC significantly increased the calculated arterial elastance to levels nearly 3 times higher than baseline. Data presented is from the pre-IVCO period. </a:t>
            </a:r>
            <a:r>
              <a:rPr lang="en-US" sz="1400" dirty="0">
                <a:latin typeface="Arial"/>
                <a:cs typeface="Arial"/>
              </a:rPr>
              <a:t>Asterisks (*) represent statistically significant differences between time, where T0 is the referent time, significant effects between groups are illustrated with psi (</a:t>
            </a:r>
            <a:r>
              <a:rPr lang="el-GR" sz="1400" dirty="0">
                <a:latin typeface="Arial"/>
                <a:cs typeface="Arial"/>
              </a:rPr>
              <a:t>ψ</a:t>
            </a:r>
            <a:r>
              <a:rPr lang="en-US" sz="1400" dirty="0">
                <a:latin typeface="Arial"/>
                <a:cs typeface="Arial"/>
              </a:rPr>
              <a:t>) symbol, where the control group is the referent group, and the diamond shaped crosses are extreme data points from each group. </a:t>
            </a:r>
          </a:p>
          <a:p>
            <a:endParaRPr lang="en-US" sz="1400" b="1" dirty="0">
              <a:latin typeface="Arial" panose="020B0604020202020204" pitchFamily="34" charset="0"/>
              <a:cs typeface="Arial" panose="020B0604020202020204" pitchFamily="34" charset="0"/>
            </a:endParaRPr>
          </a:p>
        </p:txBody>
      </p:sp>
      <p:grpSp>
        <p:nvGrpSpPr>
          <p:cNvPr id="7" name="Group 6"/>
          <p:cNvGrpSpPr/>
          <p:nvPr/>
        </p:nvGrpSpPr>
        <p:grpSpPr>
          <a:xfrm>
            <a:off x="4292731" y="122501"/>
            <a:ext cx="4134154" cy="3976468"/>
            <a:chOff x="4292731" y="122501"/>
            <a:chExt cx="4134154" cy="3976468"/>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r="19587" b="13213"/>
            <a:stretch/>
          </p:blipFill>
          <p:spPr>
            <a:xfrm>
              <a:off x="4384002" y="122501"/>
              <a:ext cx="3492230" cy="3526584"/>
            </a:xfrm>
            <a:prstGeom prst="rect">
              <a:avLst/>
            </a:prstGeom>
          </p:spPr>
        </p:pic>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4805" t="87810"/>
            <a:stretch/>
          </p:blipFill>
          <p:spPr>
            <a:xfrm>
              <a:off x="4292731" y="3603625"/>
              <a:ext cx="4134154" cy="495344"/>
            </a:xfrm>
            <a:prstGeom prst="rect">
              <a:avLst/>
            </a:prstGeom>
          </p:spPr>
        </p:pic>
      </p:grpSp>
      <p:grpSp>
        <p:nvGrpSpPr>
          <p:cNvPr id="11" name="Group 10"/>
          <p:cNvGrpSpPr/>
          <p:nvPr/>
        </p:nvGrpSpPr>
        <p:grpSpPr>
          <a:xfrm>
            <a:off x="7121038" y="426047"/>
            <a:ext cx="394124" cy="276999"/>
            <a:chOff x="8907096" y="1227054"/>
            <a:chExt cx="394124" cy="276999"/>
          </a:xfrm>
        </p:grpSpPr>
        <p:sp>
          <p:nvSpPr>
            <p:cNvPr id="12" name="TextBox 11">
              <a:extLst>
                <a:ext uri="{FF2B5EF4-FFF2-40B4-BE49-F238E27FC236}">
                  <a16:creationId xmlns:a16="http://schemas.microsoft.com/office/drawing/2014/main" id="{70F618E7-B28D-906F-26F4-10B2AA4C3CF1}"/>
                </a:ext>
              </a:extLst>
            </p:cNvPr>
            <p:cNvSpPr txBox="1"/>
            <p:nvPr/>
          </p:nvSpPr>
          <p:spPr>
            <a:xfrm>
              <a:off x="8907096" y="1227054"/>
              <a:ext cx="246150" cy="276999"/>
            </a:xfrm>
            <a:prstGeom prst="rect">
              <a:avLst/>
            </a:prstGeom>
            <a:noFill/>
          </p:spPr>
          <p:txBody>
            <a:bodyPr wrap="square" rtlCol="0">
              <a:spAutoFit/>
            </a:bodyPr>
            <a:lstStyle/>
            <a:p>
              <a:r>
                <a:rPr lang="en-US" sz="1200" dirty="0" smtClean="0">
                  <a:solidFill>
                    <a:srgbClr val="FF0000"/>
                  </a:solidFill>
                </a:rPr>
                <a:t>*</a:t>
              </a:r>
              <a:endParaRPr lang="en-US" dirty="0">
                <a:solidFill>
                  <a:srgbClr val="FF0000"/>
                </a:solidFill>
              </a:endParaRPr>
            </a:p>
          </p:txBody>
        </p:sp>
        <p:sp>
          <p:nvSpPr>
            <p:cNvPr id="13" name="TextBox 12"/>
            <p:cNvSpPr txBox="1"/>
            <p:nvPr/>
          </p:nvSpPr>
          <p:spPr>
            <a:xfrm>
              <a:off x="8976697" y="1239573"/>
              <a:ext cx="324523" cy="184666"/>
            </a:xfrm>
            <a:prstGeom prst="rect">
              <a:avLst/>
            </a:prstGeom>
            <a:noFill/>
          </p:spPr>
          <p:txBody>
            <a:bodyPr wrap="square" rtlCol="0">
              <a:spAutoFit/>
            </a:bodyPr>
            <a:lstStyle/>
            <a:p>
              <a:r>
                <a:rPr lang="el-GR" sz="600" dirty="0" smtClean="0">
                  <a:solidFill>
                    <a:srgbClr val="00B050"/>
                  </a:solidFill>
                </a:rPr>
                <a:t>ψ</a:t>
              </a:r>
              <a:endParaRPr lang="en-US" sz="800" dirty="0">
                <a:solidFill>
                  <a:srgbClr val="00B050"/>
                </a:solidFill>
              </a:endParaRPr>
            </a:p>
          </p:txBody>
        </p:sp>
      </p:grpSp>
      <p:grpSp>
        <p:nvGrpSpPr>
          <p:cNvPr id="14" name="Group 13"/>
          <p:cNvGrpSpPr/>
          <p:nvPr/>
        </p:nvGrpSpPr>
        <p:grpSpPr>
          <a:xfrm>
            <a:off x="7367188" y="1084178"/>
            <a:ext cx="394124" cy="276999"/>
            <a:chOff x="8907096" y="1227054"/>
            <a:chExt cx="394124" cy="276999"/>
          </a:xfrm>
        </p:grpSpPr>
        <p:sp>
          <p:nvSpPr>
            <p:cNvPr id="15" name="TextBox 14">
              <a:extLst>
                <a:ext uri="{FF2B5EF4-FFF2-40B4-BE49-F238E27FC236}">
                  <a16:creationId xmlns:a16="http://schemas.microsoft.com/office/drawing/2014/main" id="{70F618E7-B28D-906F-26F4-10B2AA4C3CF1}"/>
                </a:ext>
              </a:extLst>
            </p:cNvPr>
            <p:cNvSpPr txBox="1"/>
            <p:nvPr/>
          </p:nvSpPr>
          <p:spPr>
            <a:xfrm>
              <a:off x="8907096" y="1227054"/>
              <a:ext cx="246150" cy="276999"/>
            </a:xfrm>
            <a:prstGeom prst="rect">
              <a:avLst/>
            </a:prstGeom>
            <a:noFill/>
          </p:spPr>
          <p:txBody>
            <a:bodyPr wrap="square" rtlCol="0">
              <a:spAutoFit/>
            </a:bodyPr>
            <a:lstStyle/>
            <a:p>
              <a:r>
                <a:rPr lang="en-US" sz="1200" dirty="0" smtClean="0">
                  <a:solidFill>
                    <a:srgbClr val="FF0000"/>
                  </a:solidFill>
                </a:rPr>
                <a:t>*</a:t>
              </a:r>
              <a:endParaRPr lang="en-US" dirty="0">
                <a:solidFill>
                  <a:srgbClr val="FF0000"/>
                </a:solidFill>
              </a:endParaRPr>
            </a:p>
          </p:txBody>
        </p:sp>
        <p:sp>
          <p:nvSpPr>
            <p:cNvPr id="16" name="TextBox 15"/>
            <p:cNvSpPr txBox="1"/>
            <p:nvPr/>
          </p:nvSpPr>
          <p:spPr>
            <a:xfrm>
              <a:off x="8976697" y="1239573"/>
              <a:ext cx="324523" cy="184666"/>
            </a:xfrm>
            <a:prstGeom prst="rect">
              <a:avLst/>
            </a:prstGeom>
            <a:noFill/>
          </p:spPr>
          <p:txBody>
            <a:bodyPr wrap="square" rtlCol="0">
              <a:spAutoFit/>
            </a:bodyPr>
            <a:lstStyle/>
            <a:p>
              <a:r>
                <a:rPr lang="el-GR" sz="600" dirty="0" smtClean="0">
                  <a:solidFill>
                    <a:srgbClr val="00B050"/>
                  </a:solidFill>
                </a:rPr>
                <a:t>ψ</a:t>
              </a:r>
              <a:endParaRPr lang="en-US" sz="800" dirty="0">
                <a:solidFill>
                  <a:srgbClr val="00B050"/>
                </a:solidFill>
              </a:endParaRPr>
            </a:p>
          </p:txBody>
        </p:sp>
      </p:grpSp>
    </p:spTree>
    <p:extLst>
      <p:ext uri="{BB962C8B-B14F-4D97-AF65-F5344CB8AC3E}">
        <p14:creationId xmlns:p14="http://schemas.microsoft.com/office/powerpoint/2010/main" val="1181524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498257" y="547586"/>
            <a:ext cx="3896783" cy="3323987"/>
          </a:xfrm>
          <a:prstGeom prst="rect">
            <a:avLst/>
          </a:prstGeom>
          <a:noFill/>
        </p:spPr>
        <p:txBody>
          <a:bodyPr wrap="square" lIns="91440" tIns="45720" rIns="91440" bIns="45720" rtlCol="0" anchor="t">
            <a:spAutoFit/>
          </a:bodyPr>
          <a:lstStyle/>
          <a:p>
            <a:r>
              <a:rPr lang="en-US" sz="1400" b="1" dirty="0">
                <a:latin typeface="Arial"/>
                <a:cs typeface="Arial"/>
              </a:rPr>
              <a:t>Figure 6. A summary of key cardiac performance metrics pre-IVCO, during IVCO and post-IVCO. </a:t>
            </a:r>
            <a:r>
              <a:rPr lang="en-US" sz="1400" dirty="0">
                <a:latin typeface="Arial"/>
                <a:cs typeface="Arial"/>
              </a:rPr>
              <a:t>We summarize the key cardiac parameters: (A-C) end-systolic volume (ESV), (D-F) stroke volume (SV), and (G-I) cardiac output (CO) for each intervention group during the pre-IVCO (blue), during-IVCO (orange) and post-IVCO (green) periods. As illustrated, we observed a high degree of variation in ESV at baseline. Stroke volume was most variable at T74 across all intervention groups. We did not observe any statistically significant differences in ESV, SV or CO values between pre-IVCO </a:t>
            </a:r>
            <a:r>
              <a:rPr lang="en-US" sz="1400">
                <a:latin typeface="Arial"/>
                <a:cs typeface="Arial"/>
              </a:rPr>
              <a:t>and post-</a:t>
            </a:r>
            <a:r>
              <a:rPr lang="en-US" sz="1400" dirty="0">
                <a:latin typeface="Arial"/>
                <a:cs typeface="Arial"/>
              </a:rPr>
              <a:t>IVCO periods.</a:t>
            </a:r>
          </a:p>
        </p:txBody>
      </p:sp>
      <p:grpSp>
        <p:nvGrpSpPr>
          <p:cNvPr id="53" name="Group 52"/>
          <p:cNvGrpSpPr/>
          <p:nvPr/>
        </p:nvGrpSpPr>
        <p:grpSpPr>
          <a:xfrm>
            <a:off x="4632209" y="544236"/>
            <a:ext cx="7289790" cy="6059658"/>
            <a:chOff x="4632209" y="544236"/>
            <a:chExt cx="7289790" cy="6059658"/>
          </a:xfrm>
        </p:grpSpPr>
        <p:pic>
          <p:nvPicPr>
            <p:cNvPr id="18" name="Picture 17">
              <a:extLst>
                <a:ext uri="{FF2B5EF4-FFF2-40B4-BE49-F238E27FC236}">
                  <a16:creationId xmlns:a16="http://schemas.microsoft.com/office/drawing/2014/main" id="{FC4FE458-3F12-A028-477E-8C8149C75E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2209" y="625081"/>
              <a:ext cx="7086600" cy="1985351"/>
            </a:xfrm>
            <a:prstGeom prst="rect">
              <a:avLst/>
            </a:prstGeom>
          </p:spPr>
        </p:pic>
        <p:pic>
          <p:nvPicPr>
            <p:cNvPr id="20" name="Picture 19">
              <a:extLst>
                <a:ext uri="{FF2B5EF4-FFF2-40B4-BE49-F238E27FC236}">
                  <a16:creationId xmlns:a16="http://schemas.microsoft.com/office/drawing/2014/main" id="{DC549852-70FF-1140-63EF-50E55F78B8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7144" y="4574207"/>
              <a:ext cx="7244855" cy="2029687"/>
            </a:xfrm>
            <a:prstGeom prst="rect">
              <a:avLst/>
            </a:prstGeom>
          </p:spPr>
        </p:pic>
        <p:pic>
          <p:nvPicPr>
            <p:cNvPr id="16" name="Picture 15">
              <a:extLst>
                <a:ext uri="{FF2B5EF4-FFF2-40B4-BE49-F238E27FC236}">
                  <a16:creationId xmlns:a16="http://schemas.microsoft.com/office/drawing/2014/main" id="{07085E47-EC64-4072-877A-818DE6B5A3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2209" y="2610432"/>
              <a:ext cx="7086600" cy="1985350"/>
            </a:xfrm>
            <a:prstGeom prst="rect">
              <a:avLst/>
            </a:prstGeom>
          </p:spPr>
        </p:pic>
        <p:grpSp>
          <p:nvGrpSpPr>
            <p:cNvPr id="34" name="Group 33"/>
            <p:cNvGrpSpPr/>
            <p:nvPr/>
          </p:nvGrpSpPr>
          <p:grpSpPr>
            <a:xfrm>
              <a:off x="4921887" y="544236"/>
              <a:ext cx="5450838" cy="387003"/>
              <a:chOff x="4921887" y="544236"/>
              <a:chExt cx="5450838" cy="387003"/>
            </a:xfrm>
          </p:grpSpPr>
          <p:sp>
            <p:nvSpPr>
              <p:cNvPr id="6" name="TextBox 5">
                <a:extLst>
                  <a:ext uri="{FF2B5EF4-FFF2-40B4-BE49-F238E27FC236}">
                    <a16:creationId xmlns:a16="http://schemas.microsoft.com/office/drawing/2014/main" id="{19813343-4810-9C87-8C41-4686DE56F6DE}"/>
                  </a:ext>
                </a:extLst>
              </p:cNvPr>
              <p:cNvSpPr txBox="1"/>
              <p:nvPr/>
            </p:nvSpPr>
            <p:spPr>
              <a:xfrm>
                <a:off x="4921887"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grpSp>
            <p:nvGrpSpPr>
              <p:cNvPr id="31" name="Group 30"/>
              <p:cNvGrpSpPr/>
              <p:nvPr/>
            </p:nvGrpSpPr>
            <p:grpSpPr>
              <a:xfrm>
                <a:off x="5326338" y="631287"/>
                <a:ext cx="5046387" cy="299952"/>
                <a:chOff x="5326338" y="613625"/>
                <a:chExt cx="5046387" cy="299952"/>
              </a:xfrm>
            </p:grpSpPr>
            <p:sp>
              <p:nvSpPr>
                <p:cNvPr id="30" name="Rectangle 29"/>
                <p:cNvSpPr/>
                <p:nvPr/>
              </p:nvSpPr>
              <p:spPr>
                <a:xfrm>
                  <a:off x="5326338" y="613625"/>
                  <a:ext cx="5046387" cy="2577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rotWithShape="1">
                <a:blip r:embed="rId6"/>
                <a:srcRect l="83479" r="1300"/>
                <a:stretch/>
              </p:blipFill>
              <p:spPr>
                <a:xfrm>
                  <a:off x="9290893" y="682212"/>
                  <a:ext cx="758826" cy="231365"/>
                </a:xfrm>
                <a:prstGeom prst="rect">
                  <a:avLst/>
                </a:prstGeom>
              </p:spPr>
            </p:pic>
            <p:pic>
              <p:nvPicPr>
                <p:cNvPr id="28" name="Picture 27"/>
                <p:cNvPicPr>
                  <a:picLocks noChangeAspect="1"/>
                </p:cNvPicPr>
                <p:nvPr/>
              </p:nvPicPr>
              <p:blipFill rotWithShape="1">
                <a:blip r:embed="rId6"/>
                <a:srcRect l="43613" r="42759"/>
                <a:stretch/>
              </p:blipFill>
              <p:spPr>
                <a:xfrm>
                  <a:off x="7494552" y="682212"/>
                  <a:ext cx="679451" cy="231365"/>
                </a:xfrm>
                <a:prstGeom prst="rect">
                  <a:avLst/>
                </a:prstGeom>
              </p:spPr>
            </p:pic>
            <p:pic>
              <p:nvPicPr>
                <p:cNvPr id="29" name="Picture 28"/>
                <p:cNvPicPr>
                  <a:picLocks noChangeAspect="1"/>
                </p:cNvPicPr>
                <p:nvPr/>
              </p:nvPicPr>
              <p:blipFill rotWithShape="1">
                <a:blip r:embed="rId6"/>
                <a:srcRect l="3609" r="84864"/>
                <a:stretch/>
              </p:blipFill>
              <p:spPr>
                <a:xfrm>
                  <a:off x="5653758" y="682212"/>
                  <a:ext cx="574675" cy="231365"/>
                </a:xfrm>
                <a:prstGeom prst="rect">
                  <a:avLst/>
                </a:prstGeom>
              </p:spPr>
            </p:pic>
          </p:grpSp>
          <p:sp>
            <p:nvSpPr>
              <p:cNvPr id="7" name="TextBox 6">
                <a:extLst>
                  <a:ext uri="{FF2B5EF4-FFF2-40B4-BE49-F238E27FC236}">
                    <a16:creationId xmlns:a16="http://schemas.microsoft.com/office/drawing/2014/main" id="{680D30CB-1DDF-3F08-E4CA-63B7EF404B3D}"/>
                  </a:ext>
                </a:extLst>
              </p:cNvPr>
              <p:cNvSpPr txBox="1"/>
              <p:nvPr/>
            </p:nvSpPr>
            <p:spPr>
              <a:xfrm>
                <a:off x="6785580"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sp>
            <p:nvSpPr>
              <p:cNvPr id="8" name="TextBox 7">
                <a:extLst>
                  <a:ext uri="{FF2B5EF4-FFF2-40B4-BE49-F238E27FC236}">
                    <a16:creationId xmlns:a16="http://schemas.microsoft.com/office/drawing/2014/main" id="{1098D93C-E909-0209-1FBB-E5BC3EA233BC}"/>
                  </a:ext>
                </a:extLst>
              </p:cNvPr>
              <p:cNvSpPr txBox="1"/>
              <p:nvPr/>
            </p:nvSpPr>
            <p:spPr>
              <a:xfrm>
                <a:off x="8649273"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grpSp>
        <p:grpSp>
          <p:nvGrpSpPr>
            <p:cNvPr id="35" name="Group 34"/>
            <p:cNvGrpSpPr/>
            <p:nvPr/>
          </p:nvGrpSpPr>
          <p:grpSpPr>
            <a:xfrm>
              <a:off x="4921887" y="2508011"/>
              <a:ext cx="5450838" cy="400176"/>
              <a:chOff x="4921887" y="544236"/>
              <a:chExt cx="5450838" cy="400176"/>
            </a:xfrm>
          </p:grpSpPr>
          <p:sp>
            <p:nvSpPr>
              <p:cNvPr id="36" name="TextBox 35">
                <a:extLst>
                  <a:ext uri="{FF2B5EF4-FFF2-40B4-BE49-F238E27FC236}">
                    <a16:creationId xmlns:a16="http://schemas.microsoft.com/office/drawing/2014/main" id="{19813343-4810-9C87-8C41-4686DE56F6DE}"/>
                  </a:ext>
                </a:extLst>
              </p:cNvPr>
              <p:cNvSpPr txBox="1"/>
              <p:nvPr/>
            </p:nvSpPr>
            <p:spPr>
              <a:xfrm>
                <a:off x="4921887"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
                </a:r>
              </a:p>
            </p:txBody>
          </p:sp>
          <p:grpSp>
            <p:nvGrpSpPr>
              <p:cNvPr id="37" name="Group 36"/>
              <p:cNvGrpSpPr/>
              <p:nvPr/>
            </p:nvGrpSpPr>
            <p:grpSpPr>
              <a:xfrm>
                <a:off x="5326338" y="686703"/>
                <a:ext cx="5046387" cy="257709"/>
                <a:chOff x="5326338" y="669041"/>
                <a:chExt cx="5046387" cy="257709"/>
              </a:xfrm>
            </p:grpSpPr>
            <p:sp>
              <p:nvSpPr>
                <p:cNvPr id="40" name="Rectangle 39"/>
                <p:cNvSpPr/>
                <p:nvPr/>
              </p:nvSpPr>
              <p:spPr>
                <a:xfrm>
                  <a:off x="5326338" y="669041"/>
                  <a:ext cx="5046387" cy="2577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p:cNvPicPr>
                  <a:picLocks noChangeAspect="1"/>
                </p:cNvPicPr>
                <p:nvPr/>
              </p:nvPicPr>
              <p:blipFill rotWithShape="1">
                <a:blip r:embed="rId6"/>
                <a:srcRect l="83479" r="1300"/>
                <a:stretch/>
              </p:blipFill>
              <p:spPr>
                <a:xfrm>
                  <a:off x="9290893" y="682212"/>
                  <a:ext cx="758826" cy="231365"/>
                </a:xfrm>
                <a:prstGeom prst="rect">
                  <a:avLst/>
                </a:prstGeom>
              </p:spPr>
            </p:pic>
            <p:pic>
              <p:nvPicPr>
                <p:cNvPr id="42" name="Picture 41"/>
                <p:cNvPicPr>
                  <a:picLocks noChangeAspect="1"/>
                </p:cNvPicPr>
                <p:nvPr/>
              </p:nvPicPr>
              <p:blipFill rotWithShape="1">
                <a:blip r:embed="rId6"/>
                <a:srcRect l="43613" r="42759"/>
                <a:stretch/>
              </p:blipFill>
              <p:spPr>
                <a:xfrm>
                  <a:off x="7494552" y="682212"/>
                  <a:ext cx="679451" cy="231365"/>
                </a:xfrm>
                <a:prstGeom prst="rect">
                  <a:avLst/>
                </a:prstGeom>
              </p:spPr>
            </p:pic>
            <p:pic>
              <p:nvPicPr>
                <p:cNvPr id="43" name="Picture 42"/>
                <p:cNvPicPr>
                  <a:picLocks noChangeAspect="1"/>
                </p:cNvPicPr>
                <p:nvPr/>
              </p:nvPicPr>
              <p:blipFill rotWithShape="1">
                <a:blip r:embed="rId6"/>
                <a:srcRect l="3609" r="84864"/>
                <a:stretch/>
              </p:blipFill>
              <p:spPr>
                <a:xfrm>
                  <a:off x="5653758" y="682212"/>
                  <a:ext cx="574675" cy="231365"/>
                </a:xfrm>
                <a:prstGeom prst="rect">
                  <a:avLst/>
                </a:prstGeom>
              </p:spPr>
            </p:pic>
          </p:grpSp>
          <p:sp>
            <p:nvSpPr>
              <p:cNvPr id="38" name="TextBox 37">
                <a:extLst>
                  <a:ext uri="{FF2B5EF4-FFF2-40B4-BE49-F238E27FC236}">
                    <a16:creationId xmlns:a16="http://schemas.microsoft.com/office/drawing/2014/main" id="{680D30CB-1DDF-3F08-E4CA-63B7EF404B3D}"/>
                  </a:ext>
                </a:extLst>
              </p:cNvPr>
              <p:cNvSpPr txBox="1"/>
              <p:nvPr/>
            </p:nvSpPr>
            <p:spPr>
              <a:xfrm>
                <a:off x="6785580"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E.</a:t>
                </a:r>
              </a:p>
            </p:txBody>
          </p:sp>
          <p:sp>
            <p:nvSpPr>
              <p:cNvPr id="39" name="TextBox 38">
                <a:extLst>
                  <a:ext uri="{FF2B5EF4-FFF2-40B4-BE49-F238E27FC236}">
                    <a16:creationId xmlns:a16="http://schemas.microsoft.com/office/drawing/2014/main" id="{1098D93C-E909-0209-1FBB-E5BC3EA233BC}"/>
                  </a:ext>
                </a:extLst>
              </p:cNvPr>
              <p:cNvSpPr txBox="1"/>
              <p:nvPr/>
            </p:nvSpPr>
            <p:spPr>
              <a:xfrm>
                <a:off x="8649273"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F.</a:t>
                </a:r>
              </a:p>
            </p:txBody>
          </p:sp>
        </p:grpSp>
        <p:grpSp>
          <p:nvGrpSpPr>
            <p:cNvPr id="44" name="Group 43"/>
            <p:cNvGrpSpPr/>
            <p:nvPr/>
          </p:nvGrpSpPr>
          <p:grpSpPr>
            <a:xfrm>
              <a:off x="4921887" y="4454797"/>
              <a:ext cx="5450838" cy="400176"/>
              <a:chOff x="4921887" y="544236"/>
              <a:chExt cx="5450838" cy="400176"/>
            </a:xfrm>
          </p:grpSpPr>
          <p:sp>
            <p:nvSpPr>
              <p:cNvPr id="45" name="TextBox 44">
                <a:extLst>
                  <a:ext uri="{FF2B5EF4-FFF2-40B4-BE49-F238E27FC236}">
                    <a16:creationId xmlns:a16="http://schemas.microsoft.com/office/drawing/2014/main" id="{19813343-4810-9C87-8C41-4686DE56F6DE}"/>
                  </a:ext>
                </a:extLst>
              </p:cNvPr>
              <p:cNvSpPr txBox="1"/>
              <p:nvPr/>
            </p:nvSpPr>
            <p:spPr>
              <a:xfrm>
                <a:off x="4921887"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G.</a:t>
                </a:r>
              </a:p>
            </p:txBody>
          </p:sp>
          <p:grpSp>
            <p:nvGrpSpPr>
              <p:cNvPr id="46" name="Group 45"/>
              <p:cNvGrpSpPr/>
              <p:nvPr/>
            </p:nvGrpSpPr>
            <p:grpSpPr>
              <a:xfrm>
                <a:off x="5326338" y="686703"/>
                <a:ext cx="5046387" cy="257709"/>
                <a:chOff x="5326338" y="669041"/>
                <a:chExt cx="5046387" cy="257709"/>
              </a:xfrm>
            </p:grpSpPr>
            <p:sp>
              <p:nvSpPr>
                <p:cNvPr id="49" name="Rectangle 48"/>
                <p:cNvSpPr/>
                <p:nvPr/>
              </p:nvSpPr>
              <p:spPr>
                <a:xfrm>
                  <a:off x="5326338" y="669041"/>
                  <a:ext cx="5046387" cy="2577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p:cNvPicPr>
                  <a:picLocks noChangeAspect="1"/>
                </p:cNvPicPr>
                <p:nvPr/>
              </p:nvPicPr>
              <p:blipFill rotWithShape="1">
                <a:blip r:embed="rId6"/>
                <a:srcRect l="83479" r="1300"/>
                <a:stretch/>
              </p:blipFill>
              <p:spPr>
                <a:xfrm>
                  <a:off x="9290893" y="682212"/>
                  <a:ext cx="758826" cy="231365"/>
                </a:xfrm>
                <a:prstGeom prst="rect">
                  <a:avLst/>
                </a:prstGeom>
              </p:spPr>
            </p:pic>
            <p:pic>
              <p:nvPicPr>
                <p:cNvPr id="51" name="Picture 50"/>
                <p:cNvPicPr>
                  <a:picLocks noChangeAspect="1"/>
                </p:cNvPicPr>
                <p:nvPr/>
              </p:nvPicPr>
              <p:blipFill rotWithShape="1">
                <a:blip r:embed="rId6"/>
                <a:srcRect l="43613" r="42759"/>
                <a:stretch/>
              </p:blipFill>
              <p:spPr>
                <a:xfrm>
                  <a:off x="7494552" y="682212"/>
                  <a:ext cx="679451" cy="231365"/>
                </a:xfrm>
                <a:prstGeom prst="rect">
                  <a:avLst/>
                </a:prstGeom>
              </p:spPr>
            </p:pic>
            <p:pic>
              <p:nvPicPr>
                <p:cNvPr id="52" name="Picture 51"/>
                <p:cNvPicPr>
                  <a:picLocks noChangeAspect="1"/>
                </p:cNvPicPr>
                <p:nvPr/>
              </p:nvPicPr>
              <p:blipFill rotWithShape="1">
                <a:blip r:embed="rId6"/>
                <a:srcRect l="3609" r="84864"/>
                <a:stretch/>
              </p:blipFill>
              <p:spPr>
                <a:xfrm>
                  <a:off x="5653758" y="682212"/>
                  <a:ext cx="574675" cy="231365"/>
                </a:xfrm>
                <a:prstGeom prst="rect">
                  <a:avLst/>
                </a:prstGeom>
              </p:spPr>
            </p:pic>
          </p:grpSp>
          <p:sp>
            <p:nvSpPr>
              <p:cNvPr id="47" name="TextBox 46">
                <a:extLst>
                  <a:ext uri="{FF2B5EF4-FFF2-40B4-BE49-F238E27FC236}">
                    <a16:creationId xmlns:a16="http://schemas.microsoft.com/office/drawing/2014/main" id="{680D30CB-1DDF-3F08-E4CA-63B7EF404B3D}"/>
                  </a:ext>
                </a:extLst>
              </p:cNvPr>
              <p:cNvSpPr txBox="1"/>
              <p:nvPr/>
            </p:nvSpPr>
            <p:spPr>
              <a:xfrm>
                <a:off x="6785580"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H.</a:t>
                </a:r>
              </a:p>
            </p:txBody>
          </p:sp>
          <p:sp>
            <p:nvSpPr>
              <p:cNvPr id="48" name="TextBox 47">
                <a:extLst>
                  <a:ext uri="{FF2B5EF4-FFF2-40B4-BE49-F238E27FC236}">
                    <a16:creationId xmlns:a16="http://schemas.microsoft.com/office/drawing/2014/main" id="{1098D93C-E909-0209-1FBB-E5BC3EA233BC}"/>
                  </a:ext>
                </a:extLst>
              </p:cNvPr>
              <p:cNvSpPr txBox="1"/>
              <p:nvPr/>
            </p:nvSpPr>
            <p:spPr>
              <a:xfrm>
                <a:off x="8649273"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I.</a:t>
                </a:r>
              </a:p>
            </p:txBody>
          </p:sp>
        </p:grpSp>
      </p:grpSp>
    </p:spTree>
    <p:extLst>
      <p:ext uri="{BB962C8B-B14F-4D97-AF65-F5344CB8AC3E}">
        <p14:creationId xmlns:p14="http://schemas.microsoft.com/office/powerpoint/2010/main" val="1372886453"/>
      </p:ext>
    </p:extLst>
  </p:cSld>
  <p:clrMapOvr>
    <a:masterClrMapping/>
  </p:clrMapOvr>
  <p:extLst>
    <p:ext uri="{6950BFC3-D8DA-4A85-94F7-54DA5524770B}">
      <p188:commentRel xmlns:p188="http://schemas.microsoft.com/office/powerpoint/2018/8/main" xmlns="" r:id="rId7"/>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991810" y="111314"/>
            <a:ext cx="4582160" cy="674668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A8A8D31-1B00-3F4C-B543-5C9C738958CA}"/>
                  </a:ext>
                </a:extLst>
              </p:cNvPr>
              <p:cNvSpPr txBox="1"/>
              <p:nvPr/>
            </p:nvSpPr>
            <p:spPr>
              <a:xfrm>
                <a:off x="467139" y="580237"/>
                <a:ext cx="6271391" cy="5491311"/>
              </a:xfrm>
              <a:prstGeom prst="rect">
                <a:avLst/>
              </a:prstGeom>
              <a:noFill/>
            </p:spPr>
            <p:txBody>
              <a:bodyPr wrap="square" lIns="91440" tIns="45720" rIns="91440" bIns="45720" rtlCol="0" anchor="t">
                <a:spAutoFit/>
              </a:bodyPr>
              <a:lstStyle/>
              <a:p>
                <a:r>
                  <a:rPr lang="en-US" sz="1400" b="1" dirty="0">
                    <a:latin typeface="Arial" panose="020B0604020202020204" pitchFamily="34" charset="0"/>
                    <a:cs typeface="Arial" panose="020B0604020202020204" pitchFamily="34" charset="0"/>
                  </a:rPr>
                  <a:t>Figure 7. End Systolic Pressure-Volume Relationship (ESPVR) and End Diastolic Pressure-Volume Relationship (EDPVR) by intervention group. </a:t>
                </a:r>
                <a:r>
                  <a:rPr lang="en-US" sz="1400" dirty="0">
                    <a:latin typeface="Arial" panose="020B0604020202020204" pitchFamily="34" charset="0"/>
                    <a:cs typeface="Arial" panose="020B0604020202020204" pitchFamily="34" charset="0"/>
                  </a:rPr>
                  <a:t>The ESPVR and EDPVR for each group was applied to the ensemble averages for at A) baseline, B) end of hemorrhage and C) end of intervention. For all cases, a linear </a:t>
                </a:r>
                <a:r>
                  <a:rPr lang="en-US" sz="1400" dirty="0">
                    <a:solidFill>
                      <a:schemeClr val="tx1"/>
                    </a:solidFill>
                    <a:latin typeface="Arial" panose="020B0604020202020204" pitchFamily="34" charset="0"/>
                    <a:cs typeface="Arial" panose="020B0604020202020204" pitchFamily="34" charset="0"/>
                  </a:rPr>
                  <a:t>ESPVR was fitted using the equation </a:t>
                </a:r>
                <a14:m>
                  <m:oMath xmlns:m="http://schemas.openxmlformats.org/officeDocument/2006/math">
                    <m:sSub>
                      <m:sSubPr>
                        <m:ctrlPr>
                          <a:rPr lang="en-US" sz="1400" i="1" smtClean="0">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𝑃</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d>
                      <m:dPr>
                        <m:ctrlPr>
                          <a:rPr lang="en-US" sz="1400" i="1">
                            <a:solidFill>
                              <a:schemeClr val="tx1"/>
                            </a:solidFill>
                            <a:effectLst/>
                            <a:latin typeface="Cambria Math" panose="02040503050406030204" pitchFamily="18" charset="0"/>
                          </a:rPr>
                        </m:ctrlPr>
                      </m:dPr>
                      <m:e>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𝑉</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𝑉</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0</m:t>
                            </m:r>
                          </m:sub>
                        </m:sSub>
                      </m:e>
                    </m:d>
                  </m:oMath>
                </a14:m>
                <a:r>
                  <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The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ea typeface="Calibri" panose="020F0502020204030204" pitchFamily="34" charset="0"/>
                            <a:cs typeface="Arial" panose="020B0604020202020204" pitchFamily="34" charset="0"/>
                          </a:rPr>
                          <m:t>𝑉</m:t>
                        </m:r>
                      </m:e>
                      <m:sub>
                        <m:r>
                          <a:rPr lang="en-US" sz="1400" i="1">
                            <a:latin typeface="Cambria Math" panose="02040503050406030204" pitchFamily="18" charset="0"/>
                            <a:ea typeface="Calibri" panose="020F0502020204030204" pitchFamily="34" charset="0"/>
                            <a:cs typeface="Arial" panose="020B0604020202020204" pitchFamily="34" charset="0"/>
                          </a:rPr>
                          <m:t>0</m:t>
                        </m:r>
                      </m:sub>
                    </m:sSub>
                  </m:oMath>
                </a14:m>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 term was </a:t>
                </a:r>
                <a:r>
                  <a:rPr lang="en-US" sz="1400" dirty="0">
                    <a:latin typeface="Arial" panose="020B0604020202020204" pitchFamily="34" charset="0"/>
                    <a:ea typeface="Calibri" panose="020F0502020204030204" pitchFamily="34" charset="0"/>
                    <a:cs typeface="Arial" panose="020B0604020202020204" pitchFamily="34" charset="0"/>
                  </a:rPr>
                  <a:t>constrained</a:t>
                </a: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 in each individual pig across all time points based on the value observed during T30, wherein the blood volume was already depleted due to hemorrhage</a:t>
                </a:r>
                <a:r>
                  <a:rPr lang="en-US" sz="1400" dirty="0">
                    <a:latin typeface="Arial" panose="020B0604020202020204" pitchFamily="34" charset="0"/>
                    <a:ea typeface="Calibri" panose="020F0502020204030204" pitchFamily="34" charset="0"/>
                    <a:cs typeface="Arial" panose="020B0604020202020204" pitchFamily="34" charset="0"/>
                  </a:rPr>
                  <a:t>. </a:t>
                </a: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The EDPVR was fitted using in a cubic equation </a:t>
                </a:r>
                <a14:m>
                  <m:oMath xmlns:m="http://schemas.openxmlformats.org/officeDocument/2006/math">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𝑃</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𝑒𝑑</m:t>
                        </m:r>
                      </m:sub>
                    </m:sSub>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𝐷</m:t>
                    </m:r>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m:t>
                    </m:r>
                    <m:sSup>
                      <m:sSupPr>
                        <m:ctrlPr>
                          <a:rPr lang="en-US" sz="1400" i="1">
                            <a:solidFill>
                              <a:schemeClr val="tx1"/>
                            </a:solidFill>
                            <a:effectLst/>
                            <a:latin typeface="Cambria Math" panose="02040503050406030204" pitchFamily="18" charset="0"/>
                            <a:cs typeface="Times New Roman" panose="02020603050405020304" pitchFamily="18" charset="0"/>
                          </a:rPr>
                        </m:ctrlPr>
                      </m:sSupPr>
                      <m:e>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𝑉</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𝑒𝑑</m:t>
                            </m:r>
                          </m:sub>
                        </m:sSub>
                      </m:e>
                      <m:sup>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sup>
                    </m:sSup>
                  </m:oMath>
                </a14:m>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As expected, the left ventricular elastance (i.e., </a:t>
                </a:r>
                <a14:m>
                  <m:oMath xmlns:m="http://schemas.openxmlformats.org/officeDocument/2006/math">
                    <m:sSub>
                      <m:sSubPr>
                        <m:ctrlPr>
                          <a:rPr lang="en-US" sz="1400" i="1" smtClean="0">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oMath>
                </a14:m>
                <a:r>
                  <a:rPr lang="en-US" sz="1400" dirty="0">
                    <a:solidFill>
                      <a:schemeClr val="tx1"/>
                    </a:solidFill>
                    <a:latin typeface="Arial" panose="020B0604020202020204" pitchFamily="34" charset="0"/>
                    <a:cs typeface="Arial" panose="020B0604020202020204" pitchFamily="34" charset="0"/>
                  </a:rPr>
                  <a:t>, slope of ESPVR) increased after the hemorrhage state when compared to baseline. After the intervention was performed, the ESPVR slopes in the control and EVAC groups decreased, while the slope in the REBOA group increased, implying increased cardiac contractility.</a:t>
                </a:r>
              </a:p>
              <a:p>
                <a:endParaRPr lang="en-US" sz="1400" dirty="0">
                  <a:solidFill>
                    <a:schemeClr val="tx1"/>
                  </a:solidFill>
                  <a:latin typeface="Arial" panose="020B0604020202020204" pitchFamily="34" charset="0"/>
                  <a:cs typeface="Arial" panose="020B0604020202020204" pitchFamily="34" charset="0"/>
                </a:endParaRPr>
              </a:p>
              <a:p>
                <a:r>
                  <a:rPr lang="en-US" sz="1400" dirty="0">
                    <a:solidFill>
                      <a:schemeClr val="tx1"/>
                    </a:solidFill>
                    <a:latin typeface="Arial" panose="020B0604020202020204" pitchFamily="34" charset="0"/>
                    <a:cs typeface="Arial" panose="020B0604020202020204" pitchFamily="34" charset="0"/>
                  </a:rPr>
                  <a:t>During hemorrhage, increases in </a:t>
                </a:r>
                <a14:m>
                  <m:oMath xmlns:m="http://schemas.openxmlformats.org/officeDocument/2006/math">
                    <m:sSub>
                      <m:sSubPr>
                        <m:ctrlPr>
                          <a:rPr lang="en-US" sz="1400" i="1" smtClean="0">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oMath>
                </a14:m>
                <a:r>
                  <a:rPr lang="en-US" sz="1400" dirty="0">
                    <a:solidFill>
                      <a:schemeClr val="tx1"/>
                    </a:solidFill>
                    <a:latin typeface="Arial" panose="020B0604020202020204" pitchFamily="34" charset="0"/>
                    <a:cs typeface="Arial" panose="020B0604020202020204" pitchFamily="34" charset="0"/>
                  </a:rPr>
                  <a:t> were observed in all groups, with the average increase from baseline to hemorrhage was observed to be </a:t>
                </a:r>
                <a:r>
                  <a:rPr lang="en-US" sz="1400" dirty="0">
                    <a:latin typeface="Arial" panose="020B0604020202020204" pitchFamily="34" charset="0"/>
                    <a:cs typeface="Arial" panose="020B0604020202020204" pitchFamily="34" charset="0"/>
                  </a:rPr>
                  <a:t>1.21</a:t>
                </a:r>
                <a:r>
                  <a:rPr lang="en-US" sz="1400" dirty="0">
                    <a:solidFill>
                      <a:schemeClr val="tx1"/>
                    </a:solidFill>
                    <a:latin typeface="Arial" panose="020B0604020202020204" pitchFamily="34" charset="0"/>
                    <a:cs typeface="Arial" panose="020B0604020202020204" pitchFamily="34" charset="0"/>
                  </a:rPr>
                  <a:t> mmHg/mL (95%CI [0.30, 2.13 mmHg/mL], p=0.009). At  T74,</a:t>
                </a:r>
                <a:r>
                  <a:rPr lang="en-US" sz="1400" dirty="0">
                    <a:solidFill>
                      <a:schemeClr val="tx1"/>
                    </a:solidFill>
                  </a:rPr>
                  <a:t>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𝑒𝑠</m:t>
                        </m:r>
                      </m:sub>
                    </m:sSub>
                  </m:oMath>
                </a14:m>
                <a:r>
                  <a:rPr lang="en-US" sz="1400" dirty="0">
                    <a:solidFill>
                      <a:schemeClr val="tx1"/>
                    </a:solidFill>
                    <a:latin typeface="Arial" panose="020B0604020202020204" pitchFamily="34" charset="0"/>
                    <a:cs typeface="Arial" panose="020B0604020202020204" pitchFamily="34" charset="0"/>
                  </a:rPr>
                  <a:t> varied across treatment groups. In the control and EVAC groups,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𝑒𝑠</m:t>
                        </m:r>
                      </m:sub>
                    </m:sSub>
                  </m:oMath>
                </a14:m>
                <a:r>
                  <a:rPr lang="en-US" sz="1400" dirty="0">
                    <a:solidFill>
                      <a:schemeClr val="tx1"/>
                    </a:solidFill>
                    <a:latin typeface="Arial" panose="020B0604020202020204" pitchFamily="34" charset="0"/>
                    <a:cs typeface="Arial" panose="020B0604020202020204" pitchFamily="34" charset="0"/>
                  </a:rPr>
                  <a:t>  was higher than observed in the baseline state, but lower than the average observed in the hemorrhage state, implying an decreasingly elevated contractility. In the REBOA group,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𝑒𝑠</m:t>
                        </m:r>
                      </m:sub>
                    </m:sSub>
                  </m:oMath>
                </a14:m>
                <a:r>
                  <a:rPr lang="en-US" sz="1400" dirty="0">
                    <a:solidFill>
                      <a:schemeClr val="tx1"/>
                    </a:solidFill>
                    <a:latin typeface="Arial" panose="020B0604020202020204" pitchFamily="34" charset="0"/>
                    <a:cs typeface="Arial" panose="020B0604020202020204" pitchFamily="34" charset="0"/>
                  </a:rPr>
                  <a:t> was on average higher than that observed in the baseline state and during hemorrhage, with an average increase of </a:t>
                </a:r>
                <a:r>
                  <a:rPr lang="en-US" sz="1400" dirty="0">
                    <a:latin typeface="Arial" panose="020B0604020202020204" pitchFamily="34" charset="0"/>
                    <a:cs typeface="Arial" panose="020B0604020202020204" pitchFamily="34" charset="0"/>
                  </a:rPr>
                  <a:t>1.4</a:t>
                </a:r>
                <a:r>
                  <a:rPr lang="en-US" sz="1400" dirty="0">
                    <a:solidFill>
                      <a:schemeClr val="tx1"/>
                    </a:solidFill>
                    <a:latin typeface="Arial" panose="020B0604020202020204" pitchFamily="34" charset="0"/>
                    <a:cs typeface="Arial" panose="020B0604020202020204" pitchFamily="34" charset="0"/>
                  </a:rPr>
                  <a:t> mmHg/mL (95%CI [0.25, 2.57 mmHg/mL], p=0.018).</a:t>
                </a:r>
                <a:r>
                  <a:rPr lang="en-US" sz="1400" dirty="0">
                    <a:latin typeface="Arial" panose="020B0604020202020204" pitchFamily="34" charset="0"/>
                    <a:cs typeface="Arial" panose="020B0604020202020204" pitchFamily="34" charset="0"/>
                  </a:rPr>
                  <a:t> A possible interpretation for these trends is that in all three groups, increases in afterload lead to the responses seen in the subjects at T74.</a:t>
                </a:r>
                <a:endParaRPr lang="en-US" sz="1400" dirty="0">
                  <a:solidFill>
                    <a:schemeClr val="tx1"/>
                  </a:solidFill>
                  <a:latin typeface="Arial" panose="020B060402020202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BA8A8D31-1B00-3F4C-B543-5C9C738958CA}"/>
                  </a:ext>
                </a:extLst>
              </p:cNvPr>
              <p:cNvSpPr txBox="1">
                <a:spLocks noRot="1" noChangeAspect="1" noMove="1" noResize="1" noEditPoints="1" noAdjustHandles="1" noChangeArrowheads="1" noChangeShapeType="1" noTextEdit="1"/>
              </p:cNvSpPr>
              <p:nvPr/>
            </p:nvSpPr>
            <p:spPr>
              <a:xfrm>
                <a:off x="467139" y="580237"/>
                <a:ext cx="6271391" cy="5491311"/>
              </a:xfrm>
              <a:prstGeom prst="rect">
                <a:avLst/>
              </a:prstGeom>
              <a:blipFill>
                <a:blip r:embed="rId4"/>
                <a:stretch>
                  <a:fillRect l="-973" t="-222" r="-778" b="-22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A359974-E3A8-2F72-0034-E98F76E396F2}"/>
              </a:ext>
            </a:extLst>
          </p:cNvPr>
          <p:cNvSpPr txBox="1"/>
          <p:nvPr/>
        </p:nvSpPr>
        <p:spPr>
          <a:xfrm>
            <a:off x="6738530" y="111314"/>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11" name="TextBox 10">
            <a:extLst>
              <a:ext uri="{FF2B5EF4-FFF2-40B4-BE49-F238E27FC236}">
                <a16:creationId xmlns:a16="http://schemas.microsoft.com/office/drawing/2014/main" id="{0C6527C3-C415-D503-F5D4-8AF7212EAC7C}"/>
              </a:ext>
            </a:extLst>
          </p:cNvPr>
          <p:cNvSpPr txBox="1"/>
          <p:nvPr/>
        </p:nvSpPr>
        <p:spPr>
          <a:xfrm>
            <a:off x="6738530" y="2349459"/>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sp>
        <p:nvSpPr>
          <p:cNvPr id="12" name="TextBox 11">
            <a:extLst>
              <a:ext uri="{FF2B5EF4-FFF2-40B4-BE49-F238E27FC236}">
                <a16:creationId xmlns:a16="http://schemas.microsoft.com/office/drawing/2014/main" id="{A94ECFC1-C867-4884-E81F-51CC9E013CE1}"/>
              </a:ext>
            </a:extLst>
          </p:cNvPr>
          <p:cNvSpPr txBox="1"/>
          <p:nvPr/>
        </p:nvSpPr>
        <p:spPr>
          <a:xfrm>
            <a:off x="6738530" y="4603729"/>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Tree>
    <p:extLst>
      <p:ext uri="{BB962C8B-B14F-4D97-AF65-F5344CB8AC3E}">
        <p14:creationId xmlns:p14="http://schemas.microsoft.com/office/powerpoint/2010/main" val="2443874943"/>
      </p:ext>
    </p:extLst>
  </p:cSld>
  <p:clrMapOvr>
    <a:masterClrMapping/>
  </p:clrMapOvr>
  <p:extLst>
    <p:ext uri="{6950BFC3-D8DA-4A85-94F7-54DA5524770B}">
      <p188:commentRel xmlns:p188="http://schemas.microsoft.com/office/powerpoint/2018/8/main" xmlns="" r:id="rId5"/>
    </p:ext>
  </p:extLst>
</p:sld>
</file>

<file path=ppt/theme/theme1.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6811</TotalTime>
  <Words>1705</Words>
  <Application>Microsoft Office PowerPoint</Application>
  <PresentationFormat>Widescreen</PresentationFormat>
  <Paragraphs>112</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Cambria Math</vt:lpstr>
      <vt:lpstr>Times New Roman</vt:lpstr>
      <vt:lpstr>Office Theme 2013 - 2022</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Elaheh Rahbar</dc:creator>
  <cp:lastModifiedBy>Fahim Mobin</cp:lastModifiedBy>
  <cp:revision>136</cp:revision>
  <dcterms:created xsi:type="dcterms:W3CDTF">2023-01-17T21:07:46Z</dcterms:created>
  <dcterms:modified xsi:type="dcterms:W3CDTF">2023-07-19T21:47:28Z</dcterms:modified>
</cp:coreProperties>
</file>